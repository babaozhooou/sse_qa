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75488"/>
            <a:ext cx="1170432" cy="5852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914400"/>
            <a:ext cx="10012680" cy="7315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3500" b="1">
                <a:solidFill>
                  <a:srgbClr val="000000"/>
                </a:solidFill>
                <a:latin typeface="Noto Sans CJK SC"/>
              </a:rPr>
              <a:t>后端架构重构与平台功能交付汇报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700784"/>
            <a:ext cx="9555480" cy="31089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450" b="0">
                <a:solidFill>
                  <a:srgbClr val="889AB2"/>
                </a:solidFill>
                <a:latin typeface="Aptos"/>
              </a:rPr>
              <a:t>Backend Architecture Refactoring &amp; Platform Delivery Report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395728"/>
            <a:ext cx="4297680" cy="2148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0" y="4187952"/>
            <a:ext cx="2103120" cy="31089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900" b="1">
                <a:solidFill>
                  <a:srgbClr val="889AB2"/>
                </a:solidFill>
                <a:latin typeface="Noto Sans CJK SC"/>
              </a:rPr>
              <a:t>报告人：xxx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2352" y="4187952"/>
            <a:ext cx="3657600" cy="31089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900" b="1">
                <a:solidFill>
                  <a:srgbClr val="889AB2"/>
                </a:solidFill>
                <a:latin typeface="Noto Sans CJK SC"/>
              </a:rPr>
              <a:t>时  间：2026年xx月xx日</a:t>
            </a:r>
          </a:p>
        </p:txBody>
      </p:sp>
      <p:pic>
        <p:nvPicPr>
          <p:cNvPr id="8" name="Picture 7" descr="wav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694944"/>
            <a:ext cx="2560320" cy="42062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800" b="1">
                <a:solidFill>
                  <a:srgbClr val="0055AA"/>
                </a:solidFill>
                <a:latin typeface="Aptos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731520"/>
            <a:ext cx="1097280" cy="32918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Noto Sans CJK SC"/>
              </a:rPr>
              <a:t>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627632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810512"/>
            <a:ext cx="658368" cy="34747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889AB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7672" y="1828800"/>
            <a:ext cx="228600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800" b="1">
                <a:solidFill>
                  <a:srgbClr val="0055AA"/>
                </a:solidFill>
                <a:latin typeface="Noto Sans CJK SC"/>
              </a:rPr>
              <a:t>工作范围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7672" y="2249424"/>
            <a:ext cx="315468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222222"/>
                </a:solidFill>
                <a:latin typeface="Noto Sans CJK SC"/>
              </a:rPr>
              <a:t>本次交付内容与功能清单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27632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810512"/>
            <a:ext cx="658368" cy="34747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889AB2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9752" y="1828800"/>
            <a:ext cx="228600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800" b="1">
                <a:solidFill>
                  <a:srgbClr val="0055AA"/>
                </a:solidFill>
                <a:latin typeface="Noto Sans CJK SC"/>
              </a:rPr>
              <a:t>后端架构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249424"/>
            <a:ext cx="315468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222222"/>
                </a:solidFill>
                <a:latin typeface="Noto Sans CJK SC"/>
              </a:rPr>
              <a:t>gateway、public-service、QA 服务协作结构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767328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950208"/>
            <a:ext cx="658368" cy="34747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889AB2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7672" y="3968496"/>
            <a:ext cx="228600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800" b="1">
                <a:solidFill>
                  <a:srgbClr val="0055AA"/>
                </a:solidFill>
                <a:latin typeface="Noto Sans CJK SC"/>
              </a:rPr>
              <a:t>核心链路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7672" y="4389120"/>
            <a:ext cx="315468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222222"/>
                </a:solidFill>
                <a:latin typeface="Noto Sans CJK SC"/>
              </a:rPr>
              <a:t>管理后台、任务链路、消息存储、MinIO 原文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67328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950208"/>
            <a:ext cx="658368" cy="34747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889AB2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3968496"/>
            <a:ext cx="228600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800" b="1">
                <a:solidFill>
                  <a:srgbClr val="0055AA"/>
                </a:solidFill>
                <a:latin typeface="Noto Sans CJK SC"/>
              </a:rPr>
              <a:t>交付与计划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4389120"/>
            <a:ext cx="315468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222222"/>
                </a:solidFill>
                <a:latin typeface="Noto Sans CJK SC"/>
              </a:rPr>
              <a:t>前端配套、部署、当前状态与后续完善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工作范围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本次工作范围与交付内容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围绕后端重构、管理后台、任务模型、消息存储和部署交付展开。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7818120" cy="4425696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591056"/>
            <a:ext cx="3328416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664208"/>
            <a:ext cx="3072384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后端服务架构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1938528"/>
            <a:ext cx="3035808" cy="91440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19">
                <a:solidFill>
                  <a:srgbClr val="222222"/>
                </a:solidFill>
                <a:latin typeface="Noto Sans CJK SC"/>
              </a:rPr>
              <a:t>gateway 承接统一入口与路由编排，</a:t>
            </a:r>
          </a:p>
          <a:p>
            <a:pPr algn="ctr">
              <a:spcAft>
                <a:spcPts val="100"/>
              </a:spcAft>
            </a:pPr>
            <a:r>
              <a:rPr sz="919">
                <a:solidFill>
                  <a:srgbClr val="222222"/>
                </a:solidFill>
                <a:latin typeface="Noto Sans CJK SC"/>
              </a:rPr>
              <a:t>public-service 承接公共接口和状态，</a:t>
            </a:r>
          </a:p>
          <a:p>
            <a:pPr algn="ctr">
              <a:spcAft>
                <a:spcPts val="100"/>
              </a:spcAft>
            </a:pPr>
            <a:r>
              <a:rPr sz="919">
                <a:solidFill>
                  <a:srgbClr val="222222"/>
                </a:solidFill>
                <a:latin typeface="Noto Sans CJK SC"/>
              </a:rPr>
              <a:t>fastQA / highThinkingQA / patent 保持独立执行边界。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1144" y="1591056"/>
            <a:ext cx="3328416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1664208"/>
            <a:ext cx="3072384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管理后台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1938528"/>
            <a:ext cx="3035808" cy="91440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19">
                <a:solidFill>
                  <a:srgbClr val="222222"/>
                </a:solidFill>
                <a:latin typeface="Noto Sans CJK SC"/>
              </a:rPr>
              <a:t>登录鉴权、安全问题、用户管理、</a:t>
            </a:r>
          </a:p>
          <a:p>
            <a:pPr algn="ctr">
              <a:spcAft>
                <a:spcPts val="100"/>
              </a:spcAft>
            </a:pPr>
            <a:r>
              <a:rPr sz="919">
                <a:solidFill>
                  <a:srgbClr val="222222"/>
                </a:solidFill>
                <a:latin typeface="Noto Sans CJK SC"/>
              </a:rPr>
              <a:t>部门字典、人员主档、账号人员绑定，</a:t>
            </a:r>
          </a:p>
          <a:p>
            <a:pPr algn="ctr">
              <a:spcAft>
                <a:spcPts val="100"/>
              </a:spcAft>
            </a:pPr>
            <a:r>
              <a:rPr sz="919">
                <a:solidFill>
                  <a:srgbClr val="222222"/>
                </a:solidFill>
                <a:latin typeface="Noto Sans CJK SC"/>
              </a:rPr>
              <a:t>管理员维护和用户侧补全形成闭环。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3264408"/>
            <a:ext cx="3328416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337560"/>
            <a:ext cx="3072384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任务执行模型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" y="3611880"/>
            <a:ext cx="3035808" cy="91440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19">
                <a:solidFill>
                  <a:srgbClr val="222222"/>
                </a:solidFill>
                <a:latin typeface="Noto Sans CJK SC"/>
              </a:rPr>
              <a:t>task_id 生命周期和任务状态维护，</a:t>
            </a:r>
          </a:p>
          <a:p>
            <a:pPr algn="ctr">
              <a:spcAft>
                <a:spcPts val="100"/>
              </a:spcAft>
            </a:pPr>
            <a:r>
              <a:rPr sz="919">
                <a:solidFill>
                  <a:srgbClr val="222222"/>
                </a:solidFill>
                <a:latin typeface="Noto Sans CJK SC"/>
              </a:rPr>
              <a:t>页面刷新后可重新附着真实任务，</a:t>
            </a:r>
          </a:p>
          <a:p>
            <a:pPr algn="ctr">
              <a:spcAft>
                <a:spcPts val="100"/>
              </a:spcAft>
            </a:pPr>
            <a:r>
              <a:rPr sz="919">
                <a:solidFill>
                  <a:srgbClr val="222222"/>
                </a:solidFill>
                <a:latin typeface="Noto Sans CJK SC"/>
              </a:rPr>
              <a:t>支持多任务并行、取消和事件回放。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81144" y="3264408"/>
            <a:ext cx="3328416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3337560"/>
            <a:ext cx="3072384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存储与交付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611880"/>
            <a:ext cx="3035808" cy="91440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19">
                <a:solidFill>
                  <a:srgbClr val="222222"/>
                </a:solidFill>
                <a:latin typeface="Noto Sans CJK SC"/>
              </a:rPr>
              <a:t>消息持久化与终态落库，</a:t>
            </a:r>
          </a:p>
          <a:p>
            <a:pPr algn="ctr">
              <a:spcAft>
                <a:spcPts val="100"/>
              </a:spcAft>
            </a:pPr>
            <a:r>
              <a:rPr sz="919">
                <a:solidFill>
                  <a:srgbClr val="222222"/>
                </a:solidFill>
                <a:latin typeface="Noto Sans CJK SC"/>
              </a:rPr>
              <a:t>MinIO 文件上传和原文对象读取，</a:t>
            </a:r>
          </a:p>
          <a:p>
            <a:pPr algn="ctr">
              <a:spcAft>
                <a:spcPts val="100"/>
              </a:spcAft>
            </a:pPr>
            <a:r>
              <a:rPr sz="919">
                <a:solidFill>
                  <a:srgbClr val="222222"/>
                </a:solidFill>
                <a:latin typeface="Noto Sans CJK SC"/>
              </a:rPr>
              <a:t>Redis 状态、队列和短期缓存协同。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74920"/>
            <a:ext cx="7223760" cy="31089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20" b="1">
                <a:solidFill>
                  <a:srgbClr val="1E2A3A"/>
                </a:solidFill>
                <a:latin typeface="Noto Sans CJK SC"/>
              </a:rPr>
              <a:t>统一入口、公共服务拆分、可恢复任务模型、消息落库、文件与原文对象读取。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服务架构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gateway 统一入口与路由，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public-service 公共接口和状态，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QA 服务按模式独立执行。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管理闭环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管理员、组织、人员、绑定、认证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有完整后端接口和前端页面配套，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管理数据可以集中维护。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任务与存储链路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任务、消息、文件和原文读取链路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贯通到 Redis / MySQL / MinIO，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刷新、取消、回放都有后端状态依据。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后端架构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后端服务架构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前端统一进入 gateway，公共服务和多模式 QA 服务按职责协作。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1664208"/>
            <a:ext cx="7150608" cy="566928"/>
          </a:xfrm>
          <a:prstGeom prst="rect">
            <a:avLst/>
          </a:prstGeom>
          <a:solidFill>
            <a:srgbClr val="F8FAFD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28800"/>
            <a:ext cx="91440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30" b="1">
                <a:solidFill>
                  <a:srgbClr val="889AB2"/>
                </a:solidFill>
                <a:latin typeface="Noto Sans CJK SC"/>
              </a:rPr>
              <a:t>前端入口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487168"/>
            <a:ext cx="7150608" cy="621792"/>
          </a:xfrm>
          <a:prstGeom prst="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79192"/>
            <a:ext cx="91440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30" b="1">
                <a:solidFill>
                  <a:srgbClr val="889AB2"/>
                </a:solidFill>
                <a:latin typeface="Noto Sans CJK SC"/>
              </a:rPr>
              <a:t>统一网关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383280"/>
            <a:ext cx="7150608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744468"/>
            <a:ext cx="91440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30" b="1">
                <a:solidFill>
                  <a:srgbClr val="889AB2"/>
                </a:solidFill>
                <a:latin typeface="Noto Sans CJK SC"/>
              </a:rPr>
              <a:t>后端服务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4681728"/>
            <a:ext cx="7150608" cy="658368"/>
          </a:xfrm>
          <a:prstGeom prst="rect">
            <a:avLst/>
          </a:prstGeom>
          <a:solidFill>
            <a:srgbClr val="F8FAFD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92040"/>
            <a:ext cx="91440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30" b="1">
                <a:solidFill>
                  <a:srgbClr val="889AB2"/>
                </a:solidFill>
                <a:latin typeface="Noto Sans CJK SC"/>
              </a:rPr>
              <a:t>基础设施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82112" y="1719072"/>
            <a:ext cx="2651760" cy="4206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6976" y="1792224"/>
            <a:ext cx="254203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00459A"/>
                </a:solidFill>
                <a:latin typeface="Aptos"/>
              </a:rPr>
              <a:t>frontend-vue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6352" y="2560320"/>
            <a:ext cx="3401568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633472"/>
            <a:ext cx="329184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00459A"/>
                </a:solidFill>
                <a:latin typeface="Aptos"/>
              </a:rPr>
              <a:t>gateway / BFF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07992" y="2066543"/>
            <a:ext cx="0" cy="530353"/>
          </a:xfrm>
          <a:prstGeom prst="line">
            <a:avLst/>
          </a:prstGeom>
          <a:ln w="1270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07992" y="2926080"/>
            <a:ext cx="0" cy="347472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011680" y="3273552"/>
            <a:ext cx="5376672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719072" y="3547872"/>
            <a:ext cx="14173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73936" y="3621024"/>
            <a:ext cx="130759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3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32304" y="3273552"/>
            <a:ext cx="0" cy="27432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346704" y="3547872"/>
            <a:ext cx="14173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3621024"/>
            <a:ext cx="130759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30" b="1">
                <a:solidFill>
                  <a:srgbClr val="00459A"/>
                </a:solidFill>
                <a:latin typeface="Aptos"/>
              </a:rPr>
              <a:t>fastQA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59936" y="3273552"/>
            <a:ext cx="0" cy="27432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974336" y="3547872"/>
            <a:ext cx="14173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3621024"/>
            <a:ext cx="130759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30" b="1">
                <a:solidFill>
                  <a:srgbClr val="00459A"/>
                </a:solidFill>
                <a:latin typeface="Aptos"/>
              </a:rPr>
              <a:t>highThinkingQA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87568" y="3273552"/>
            <a:ext cx="0" cy="27432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601968" y="3547872"/>
            <a:ext cx="14173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1" y="3621024"/>
            <a:ext cx="130759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30" b="1">
                <a:solidFill>
                  <a:srgbClr val="00459A"/>
                </a:solidFill>
                <a:latin typeface="Aptos"/>
              </a:rPr>
              <a:t>patent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15200" y="3273552"/>
            <a:ext cx="0" cy="27432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901952" y="4809744"/>
            <a:ext cx="105156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56816" y="4882896"/>
            <a:ext cx="94183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MySQL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73552" y="4809744"/>
            <a:ext cx="105156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28416" y="4882896"/>
            <a:ext cx="94183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Redis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45152" y="4809744"/>
            <a:ext cx="105156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0016" y="4882896"/>
            <a:ext cx="94183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MinIO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16752" y="4809744"/>
            <a:ext cx="105156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71616" y="4882896"/>
            <a:ext cx="94183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Neo4j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统一入口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gateway 承接前端请求，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负责鉴权透传、路由分发和 SSE 转发，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前端调用保持统一。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公共服务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public-service 承接认证、会话、文件、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组织管理和系统接口，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用户、会话、文件等状态统一收敛。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执行服务边界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fastQA、highThinkingQA、patent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按问答模式独立执行，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MySQL、Redis、MinIO 提供任务和对象落点。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后端架构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Gateway 统一入口与服务路由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前端请求统一进入 gateway，再按公共接口、任务 API 和 QA 模式分流。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2670048"/>
            <a:ext cx="2148840" cy="694944"/>
          </a:xfrm>
          <a:prstGeom prst="roundRect">
            <a:avLst/>
          </a:prstGeom>
          <a:solidFill>
            <a:srgbClr val="E9F3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0984" y="2743200"/>
            <a:ext cx="203911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3063240"/>
            <a:ext cx="2002536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统一入口 / 路由编排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697480"/>
            <a:ext cx="15087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2770632"/>
            <a:ext cx="139903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50" b="1">
                <a:solidFill>
                  <a:srgbClr val="00459A"/>
                </a:solidFill>
                <a:latin typeface="Aptos"/>
              </a:rPr>
              <a:t>frontend-vue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090672"/>
            <a:ext cx="1362456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前端请求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14600" y="2980944"/>
            <a:ext cx="731520" cy="36576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" y="3703320"/>
            <a:ext cx="15087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776472"/>
            <a:ext cx="139903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50" b="1">
                <a:solidFill>
                  <a:srgbClr val="00459A"/>
                </a:solidFill>
                <a:latin typeface="Aptos"/>
              </a:rPr>
              <a:t>SSE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096511"/>
            <a:ext cx="1362456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流式连接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514600" y="3017520"/>
            <a:ext cx="731520" cy="969263"/>
          </a:xfrm>
          <a:prstGeom prst="line">
            <a:avLst/>
          </a:prstGeom>
          <a:ln w="1270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2200" y="1719072"/>
            <a:ext cx="16916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1792224"/>
            <a:ext cx="158191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112264"/>
            <a:ext cx="1545336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auth / admin / conversation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5394960" y="1984248"/>
            <a:ext cx="777240" cy="1033272"/>
          </a:xfrm>
          <a:prstGeom prst="line">
            <a:avLst/>
          </a:prstGeom>
          <a:ln w="1270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2633472"/>
            <a:ext cx="16916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7064" y="2706624"/>
            <a:ext cx="158191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fastQA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3026664"/>
            <a:ext cx="1545336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fast route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5394960" y="2898648"/>
            <a:ext cx="777240" cy="118872"/>
          </a:xfrm>
          <a:prstGeom prst="line">
            <a:avLst/>
          </a:prstGeom>
          <a:ln w="1270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72200" y="3547872"/>
            <a:ext cx="16916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7064" y="3621024"/>
            <a:ext cx="158191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highThinkingQA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3941063"/>
            <a:ext cx="1545336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thinking route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94960" y="3017520"/>
            <a:ext cx="777240" cy="795528"/>
          </a:xfrm>
          <a:prstGeom prst="line">
            <a:avLst/>
          </a:prstGeom>
          <a:ln w="1270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72200" y="4462272"/>
            <a:ext cx="16916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7064" y="4535424"/>
            <a:ext cx="158191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patent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4855464"/>
            <a:ext cx="1545336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patent route / original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94960" y="3017520"/>
            <a:ext cx="777240" cy="1709928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816352" y="1700784"/>
            <a:ext cx="1078992" cy="256032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 b="1">
                <a:solidFill>
                  <a:srgbClr val="00459A"/>
                </a:solidFill>
                <a:latin typeface="Noto Sans CJK SC"/>
              </a:rPr>
              <a:t>鉴权透传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1700784"/>
            <a:ext cx="1078992" cy="256032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 b="1">
                <a:solidFill>
                  <a:srgbClr val="00459A"/>
                </a:solidFill>
                <a:latin typeface="Noto Sans CJK SC"/>
              </a:rPr>
              <a:t>任务 API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88920" y="3794760"/>
            <a:ext cx="1078992" cy="256032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 b="1">
                <a:solidFill>
                  <a:srgbClr val="00459A"/>
                </a:solidFill>
                <a:latin typeface="Noto Sans CJK SC"/>
              </a:rPr>
              <a:t>错误归一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3794760"/>
            <a:ext cx="1078992" cy="256032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 b="1">
                <a:solidFill>
                  <a:srgbClr val="00459A"/>
                </a:solidFill>
                <a:latin typeface="Noto Sans CJK SC"/>
              </a:rPr>
              <a:t>SSE 转发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8992" y="5321808"/>
            <a:ext cx="6812280" cy="347472"/>
          </a:xfrm>
          <a:prstGeom prst="roundRect">
            <a:avLst/>
          </a:prstGeom>
          <a:solidFill>
            <a:srgbClr val="E9F3FF"/>
          </a:solidFill>
          <a:ln w="1016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8719" y="5394960"/>
            <a:ext cx="6592824" cy="16459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69" b="1">
                <a:solidFill>
                  <a:srgbClr val="00459A"/>
                </a:solidFill>
                <a:latin typeface="Noto Sans CJK SC"/>
              </a:rPr>
              <a:t>路径路由  /  身份透传  /  任务编排  /  SSE 事件  /  统一返回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前端统一调用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前端请求统一进入 gateway，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页面侧不直接感知 public-service、QA 服务地址，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鉴权、会话、任务、原文接口按路径分发。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请求分流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公共接口代理到 public-service，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QA 请求按 fast / thinking / patent 模式进入执行服务，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任务 API 在入口侧形成统一调度面。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SSE 承接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SSE 事件由 gateway 统一转发，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事件序号与 task_id 一起用于刷新恢复，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页面刷新后仍可回到真实任务进度。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后端架构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Public-service 公共服务拆分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认证、会话、文档、组织和系统接口由 public-service 统一承接。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19072"/>
            <a:ext cx="2057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1792224"/>
            <a:ext cx="180136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066543"/>
            <a:ext cx="1764792" cy="54864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登录 / 注册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安全问题 / 用户状态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719072"/>
            <a:ext cx="2057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576" y="1792224"/>
            <a:ext cx="180136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066543"/>
            <a:ext cx="1764792" cy="54864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会话 / 消息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任务绑定 / 历史回放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719072"/>
            <a:ext cx="2057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3016" y="1792224"/>
            <a:ext cx="180136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uploads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1304" y="2066543"/>
            <a:ext cx="1764792" cy="54864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文件上传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file_id / storage_ref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136391"/>
            <a:ext cx="2057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3209544"/>
            <a:ext cx="180136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30C0B4"/>
                </a:solidFill>
                <a:latin typeface="Noto Sans CJK SC"/>
              </a:rPr>
              <a:t>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" y="3483863"/>
            <a:ext cx="1764792" cy="54864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原文读取 / 预览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文档接口 / 对象引用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136391"/>
            <a:ext cx="2057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5576" y="3209544"/>
            <a:ext cx="180136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3864" y="3483863"/>
            <a:ext cx="1764792" cy="54864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用户 / 部门 / 人员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绑定关系 / 批量导入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3136391"/>
            <a:ext cx="2057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3016" y="3209544"/>
            <a:ext cx="180136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quota &amp;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1304" y="3483863"/>
            <a:ext cx="1764792" cy="54864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配额接口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健康检查 / 系统接口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4754880"/>
            <a:ext cx="6903720" cy="530352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882896"/>
            <a:ext cx="644652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30" b="1">
                <a:solidFill>
                  <a:srgbClr val="00459A"/>
                </a:solidFill>
                <a:latin typeface="Noto Sans CJK SC"/>
              </a:rPr>
              <a:t>公共状态进入 public-service，入口编排进入 gateway，QA 服务聚焦执行链路。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认证与会话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登录、注册、安全问题与会话消息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统一由 public-service 承接，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用户消息、占位消息和终态消息有统一记录。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组织管理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用户、部门、人员和绑定关系集中维护，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管理员页面直接调用相关接口，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人员信息补全与账号绑定形成闭环。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系统接口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上传、文档、健康检查和配额接口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从 QA 服务中拆出统一承接，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部署检查和运行维护都有公共入口。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后端架构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QA 执行服务边界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不同问答模式保留独立执行链路，公共接口通过 gateway / public-service 协作。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926080"/>
            <a:ext cx="157276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999232"/>
            <a:ext cx="146304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20" b="1">
                <a:solidFill>
                  <a:srgbClr val="00459A"/>
                </a:solidFill>
                <a:latin typeface="Aptos"/>
              </a:rPr>
              <a:t>frontend-vue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319272"/>
            <a:ext cx="1426464" cy="29260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会话交互 / 文件上下文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834640"/>
            <a:ext cx="1664208" cy="896112"/>
          </a:xfrm>
          <a:prstGeom prst="roundRect">
            <a:avLst/>
          </a:prstGeom>
          <a:solidFill>
            <a:srgbClr val="E9F3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2907792"/>
            <a:ext cx="155448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2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227832"/>
            <a:ext cx="1517904" cy="47548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路由 / 任务 / 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874519"/>
            <a:ext cx="1627632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1947672"/>
            <a:ext cx="151790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00459A"/>
                </a:solidFill>
                <a:latin typeface="Aptos"/>
              </a:rPr>
              <a:t>fastQA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267712"/>
            <a:ext cx="1481328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fast / 文件执行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636008" y="2185415"/>
            <a:ext cx="621792" cy="1088137"/>
          </a:xfrm>
          <a:prstGeom prst="line">
            <a:avLst/>
          </a:prstGeom>
          <a:ln w="1270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57800" y="2926080"/>
            <a:ext cx="1627632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2664" y="2999232"/>
            <a:ext cx="151790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00459A"/>
                </a:solidFill>
                <a:latin typeface="Aptos"/>
              </a:rPr>
              <a:t>highThinkingQA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3319272"/>
            <a:ext cx="1481328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thinking 执行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636008" y="3236976"/>
            <a:ext cx="621792" cy="36576"/>
          </a:xfrm>
          <a:prstGeom prst="line">
            <a:avLst/>
          </a:prstGeom>
          <a:ln w="1270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257800" y="3977639"/>
            <a:ext cx="1627632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2664" y="4050791"/>
            <a:ext cx="151790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00459A"/>
                </a:solidFill>
                <a:latin typeface="Aptos"/>
              </a:rPr>
              <a:t>patent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952" y="4370831"/>
            <a:ext cx="1481328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patent / 原文读取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36008" y="3273552"/>
            <a:ext cx="621792" cy="1014984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70432" y="1783080"/>
            <a:ext cx="21031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25296" y="1856231"/>
            <a:ext cx="199339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2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2176272"/>
            <a:ext cx="1956815" cy="237743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认证 / 会话 / 文件 / 管理</a:t>
            </a:r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2240280" y="2441448"/>
            <a:ext cx="731520" cy="832104"/>
          </a:xfrm>
          <a:prstGeom prst="line">
            <a:avLst/>
          </a:prstGeom>
          <a:ln w="1270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532888" y="3273552"/>
            <a:ext cx="438912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0120" y="4919472"/>
            <a:ext cx="71780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992624"/>
            <a:ext cx="6903720" cy="16459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10" b="1">
                <a:solidFill>
                  <a:srgbClr val="1E2A3A"/>
                </a:solidFill>
                <a:latin typeface="Noto Sans CJK SC"/>
              </a:rPr>
              <a:t>公共接口统一协作，fastQA / highThinkingQA / patent 保留各自执行链路。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执行分离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fastQA、highThinkingQA、patent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保留各自执行链路与上下文处理，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gateway 只做入口编排、任务控制和转发。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状态协作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会话、文件、权限与任务状态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通过 gateway / public-service 协同，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执行服务按 file_id、task_id 等引用获取上下文。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原文读取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patent 原文查看接入 MinIO 对象链路，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答案中的原文引用可跳转到存储对象，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原文读取不混入其他 QA 模式执行链路。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核心链路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管理员后台与组织人员管理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账号、部门、人员、绑定关系覆盖后台维护和用户侧补全闭环。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664208"/>
            <a:ext cx="144475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1737360"/>
            <a:ext cx="118872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账号管理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011680"/>
            <a:ext cx="1152144" cy="149961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登录鉴权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用户停启用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密码重置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安全问题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用户状态控制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59152" y="2633472"/>
            <a:ext cx="310896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97480" y="1664208"/>
            <a:ext cx="144475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5496" y="1737360"/>
            <a:ext cx="118872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部门管理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3784" y="2011680"/>
            <a:ext cx="1152144" cy="149961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三级部门字典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部门停启用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批量导入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字典查询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组织结构维护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42232" y="2633472"/>
            <a:ext cx="310896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80560" y="1664208"/>
            <a:ext cx="144475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1737360"/>
            <a:ext cx="118872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人员主档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2011680"/>
            <a:ext cx="1152144" cy="149961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人员主档维护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工号姓名管理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校验码校验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绑定校验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信息补全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25312" y="2633472"/>
            <a:ext cx="310896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63640" y="1664208"/>
            <a:ext cx="144475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5" y="1737360"/>
            <a:ext cx="118872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绑定关系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011680"/>
            <a:ext cx="1152144" cy="149961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账号绑定人员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管理员修复绑定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用户自助绑定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个人中心补全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关系可追踪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206240"/>
            <a:ext cx="3246120" cy="585216"/>
          </a:xfrm>
          <a:prstGeom prst="round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251959"/>
            <a:ext cx="3099815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管理员侧：用户、部门、人员、绑定集中维护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90288" y="4206240"/>
            <a:ext cx="3246120" cy="585216"/>
          </a:xfrm>
          <a:prstGeom prst="roundRect">
            <a:avLst/>
          </a:prstGeom>
          <a:solidFill>
            <a:srgbClr val="F4FBF7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251959"/>
            <a:ext cx="3099815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用户侧：注册、个人中心、人员信息自助补全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后台维护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管理员页面覆盖用户、部门、人员、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绑定关系和批量导入，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组织基础数据在后台统一维护。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主档校验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三级部门字典和人员主档参与校验，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工号、姓名、校验码用于绑定确认，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注册和个人中心复用同一套数据。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绑定闭环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管理员可修复绑定关系，用户可自助绑定，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账号、人员、部门关系可追踪，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用户状态与人员信息保持一致。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核心链路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登录鉴权与用户状态链路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登录、鉴权、安全问题和用户状态校验统一进入 public-service。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572768"/>
            <a:ext cx="736092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24712" y="1773936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6" y="1847088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前端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73352" y="2176272"/>
            <a:ext cx="0" cy="3054096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62606" y="1773936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7470" y="1847088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11246" y="2176272"/>
            <a:ext cx="0" cy="3054096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00500" y="1773936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5363" y="1847088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49140" y="2176272"/>
            <a:ext cx="0" cy="3054096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38394" y="1773936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93257" y="1847088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MySQL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7033" y="2176272"/>
            <a:ext cx="0" cy="3054096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76288" y="1773936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1" y="1847088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业务接口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24927" y="2176272"/>
            <a:ext cx="0" cy="3054096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73352" y="2468880"/>
            <a:ext cx="1437894" cy="0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719072" y="2304288"/>
            <a:ext cx="134645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提交账号密码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11246" y="2907791"/>
            <a:ext cx="1437894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156966" y="2743199"/>
            <a:ext cx="1346453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代理 login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49140" y="3346704"/>
            <a:ext cx="1437893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94859" y="3182112"/>
            <a:ext cx="1346453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校验用户状态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673352" y="3785615"/>
            <a:ext cx="2875788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719072" y="3621023"/>
            <a:ext cx="278434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返回 token / 用户信息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673352" y="4224528"/>
            <a:ext cx="1437894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19072" y="4059936"/>
            <a:ext cx="134645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携带 Authorization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111246" y="4663440"/>
            <a:ext cx="4313681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156966" y="4498848"/>
            <a:ext cx="4222242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按身份访问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认证入口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登录请求经 gateway 代理到 public-service，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前端获取统一 token 与用户信息，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注册、安全问题、找回接口使用同一认证域。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状态校验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认证阶段读取用户状态和绑定信息，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停启用、角色等控制在入口生效，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管理员侧调整后影响后续访问。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身份透传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后续接口携带 Authorization，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由 gateway 透传到对应业务服务，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公共接口和 QA 接口保持同一身份上下文。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核心链路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可恢复的问答任务执行链路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创建、流式返回和刷新恢复统一围绕 task_id 推进。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499616"/>
            <a:ext cx="7498079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0704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前端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72768" y="2103120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53081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7945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65145" y="2103120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45459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0323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Redis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57523" y="2103120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37836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2700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49900" y="2103120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30214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5078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QA 服务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42278" y="2103120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22591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7455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SSE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34655" y="2103120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72768" y="2286000"/>
            <a:ext cx="1192377" cy="0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18488" y="212140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创建任务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65145" y="2615184"/>
            <a:ext cx="2384755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10865" y="2450591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写 user turn / placeholder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65145" y="2944368"/>
            <a:ext cx="1192378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10865" y="2779775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登记 task_id / queued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765145" y="3273552"/>
            <a:ext cx="3577133" cy="0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810865" y="3108960"/>
            <a:ext cx="3485692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按 mode 执行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2765145" y="3602735"/>
            <a:ext cx="3577133" cy="0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810865" y="3438143"/>
            <a:ext cx="3485692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流式内容与步骤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765145" y="3931920"/>
            <a:ext cx="1192378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810865" y="376732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写 seq / running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65145" y="4261104"/>
            <a:ext cx="4769510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10865" y="4096512"/>
            <a:ext cx="4678070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标准化事件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572768" y="4590288"/>
            <a:ext cx="1192377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618488" y="4425696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刷新后查询 active_task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0120" y="5248656"/>
            <a:ext cx="2240280" cy="310896"/>
          </a:xfrm>
          <a:prstGeom prst="round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2" y="5294376"/>
            <a:ext cx="209397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创建 task_id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01568" y="5248656"/>
            <a:ext cx="2240280" cy="310896"/>
          </a:xfrm>
          <a:prstGeom prst="roundRect">
            <a:avLst/>
          </a:prstGeom>
          <a:solidFill>
            <a:srgbClr val="FFF7E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5294376"/>
            <a:ext cx="209397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流式事件回放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43016" y="5248656"/>
            <a:ext cx="2240280" cy="310896"/>
          </a:xfrm>
          <a:prstGeom prst="roundRect">
            <a:avLst/>
          </a:prstGeom>
          <a:solidFill>
            <a:srgbClr val="F4FBF7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16168" y="5294376"/>
            <a:ext cx="209397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刷新重新附着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任务标识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创建任务时生成并登记 task_id，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queued、running、completed 等状态可追踪，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流式事件围绕同一任务标识持续推进。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刷新恢复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页面刷新后查询 active_task，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再根据事件序号重新附着到任务，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已产生的流式内容可以按序补齐。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并行任务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任务状态写入 Redis，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多个问答任务可独立推进，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不同会话任务互不覆盖，前端可分别恢复。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核心链路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任务取消、事件回放与消息终态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取消、事件回放和终态落库统一收敛到任务状态与会话消息。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517904"/>
            <a:ext cx="7360920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24712" y="1719072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6" y="1792224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前端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73352" y="2121408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62606" y="1719072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7470" y="1792224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11246" y="2121408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00500" y="1719072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5363" y="1792224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Redis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49140" y="2121408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38394" y="1719072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93257" y="1792224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QA 服务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7033" y="2121408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76288" y="1719072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1" y="1792224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24927" y="2121408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73352" y="2340864"/>
            <a:ext cx="1437894" cy="0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719072" y="2176272"/>
            <a:ext cx="134645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点击停止 task_id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11246" y="2743200"/>
            <a:ext cx="1437894" cy="0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156966" y="2578608"/>
            <a:ext cx="1346453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写 cancel flag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11246" y="3145536"/>
            <a:ext cx="2875787" cy="0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156966" y="2980944"/>
            <a:ext cx="278434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传播取消信号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111246" y="3547872"/>
            <a:ext cx="2875787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56966" y="3383279"/>
            <a:ext cx="278434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返回终态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111246" y="3950208"/>
            <a:ext cx="1437894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156966" y="3785616"/>
            <a:ext cx="1346453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更新 cancelled / last_seq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111246" y="4352544"/>
            <a:ext cx="4313681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156966" y="4187952"/>
            <a:ext cx="4222242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写入终态消息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73352" y="4754880"/>
            <a:ext cx="1437894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2" y="4590288"/>
            <a:ext cx="134645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刷新后查询终态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" y="5248656"/>
            <a:ext cx="2240280" cy="310896"/>
          </a:xfrm>
          <a:prstGeom prst="roundRect">
            <a:avLst/>
          </a:prstGeom>
          <a:solidFill>
            <a:srgbClr val="FFF7E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2" y="5294376"/>
            <a:ext cx="209397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取消真实任务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01568" y="5248656"/>
            <a:ext cx="2240280" cy="310896"/>
          </a:xfrm>
          <a:prstGeom prst="round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0" y="5294376"/>
            <a:ext cx="209397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状态可回放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43016" y="5248656"/>
            <a:ext cx="2240280" cy="310896"/>
          </a:xfrm>
          <a:prstGeom prst="roundRect">
            <a:avLst/>
          </a:prstGeom>
          <a:solidFill>
            <a:srgbClr val="F4FBF7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16168" y="5294376"/>
            <a:ext cx="209397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消息有终态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任务取消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停止请求写入 cancel flag，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并向执行服务传播取消信号，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任务停止与前端按钮状态保持一致。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事件回放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Redis 保存 last_seq 与任务状态，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刷新后可补齐遗漏事件，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前端可根据最新序号继续接收后续事件。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终态落库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完成、失败、取消统一写入 public-service，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会话历史保持明确终态，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刷新后展示结果与后端状态一致。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核心链路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消息落库与多存储协同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用户消息、占位消息、过程事件和终态消息形成可恢复的会话记录。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55648"/>
            <a:ext cx="1298448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1828800"/>
            <a:ext cx="1188719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60" b="1">
                <a:solidFill>
                  <a:srgbClr val="00459A"/>
                </a:solidFill>
                <a:latin typeface="Aptos"/>
              </a:rPr>
              <a:t>user 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148840"/>
            <a:ext cx="115214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用户消息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58568" y="2020824"/>
            <a:ext cx="420623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24912" y="1755648"/>
            <a:ext cx="1298448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1828800"/>
            <a:ext cx="1188719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60" b="1">
                <a:solidFill>
                  <a:srgbClr val="00459A"/>
                </a:solidFill>
                <a:latin typeface="Aptos"/>
              </a:rPr>
              <a:t>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2148840"/>
            <a:ext cx="115214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占位消息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3360" y="2020824"/>
            <a:ext cx="420623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89704" y="1755648"/>
            <a:ext cx="1298448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828800"/>
            <a:ext cx="1188719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60" b="1">
                <a:solidFill>
                  <a:srgbClr val="00459A"/>
                </a:solidFill>
                <a:latin typeface="Aptos"/>
              </a:rPr>
              <a:t>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148840"/>
            <a:ext cx="115214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进度增量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88152" y="2020824"/>
            <a:ext cx="420624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54496" y="1755648"/>
            <a:ext cx="1298448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1828800"/>
            <a:ext cx="1188719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60" b="1">
                <a:solidFill>
                  <a:srgbClr val="00459A"/>
                </a:solidFill>
                <a:latin typeface="Aptos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148840"/>
            <a:ext cx="115214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完成 / 失败 / 取消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48840" y="2880360"/>
            <a:ext cx="4434840" cy="566928"/>
          </a:xfrm>
          <a:prstGeom prst="roundRect">
            <a:avLst/>
          </a:prstGeom>
          <a:solidFill>
            <a:srgbClr val="E9F3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459A"/>
                </a:solidFill>
                <a:latin typeface="Noto Sans CJK SC"/>
              </a:rPr>
              <a:t>public-service 会话 authority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70832" y="3447288"/>
            <a:ext cx="0" cy="374903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72768" y="3822191"/>
            <a:ext cx="54864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2688" y="4096512"/>
            <a:ext cx="135331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4169664"/>
            <a:ext cx="124358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50" b="1">
                <a:solidFill>
                  <a:srgbClr val="00459A"/>
                </a:solidFill>
                <a:latin typeface="Aptos"/>
              </a:rPr>
              <a:t>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489704"/>
            <a:ext cx="1207008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用户 / 会话 / 元数据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609344" y="3822191"/>
            <a:ext cx="0" cy="274321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907792" y="4096512"/>
            <a:ext cx="135331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4169664"/>
            <a:ext cx="124358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50" b="1">
                <a:solidFill>
                  <a:srgbClr val="00459A"/>
                </a:solidFill>
                <a:latin typeface="Noto Sans CJK SC"/>
              </a:rPr>
              <a:t>JSON 文档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80944" y="4489704"/>
            <a:ext cx="1207008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历史回放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584448" y="3822191"/>
            <a:ext cx="0" cy="274321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882896" y="4096512"/>
            <a:ext cx="135331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59" y="4169664"/>
            <a:ext cx="124358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50" b="1">
                <a:solidFill>
                  <a:srgbClr val="00459A"/>
                </a:solidFill>
                <a:latin typeface="Aptos"/>
              </a:rPr>
              <a:t>MinIO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6048" y="4489704"/>
            <a:ext cx="1207008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文件对象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559552" y="3822191"/>
            <a:ext cx="0" cy="274321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92240" y="4096512"/>
            <a:ext cx="135331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47103" y="4169664"/>
            <a:ext cx="124358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50" b="1">
                <a:solidFill>
                  <a:srgbClr val="00459A"/>
                </a:solidFill>
                <a:latin typeface="Aptos"/>
              </a:rPr>
              <a:t>Redis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4489704"/>
            <a:ext cx="1207008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状态 / 队列 / 缓存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168896" y="3822191"/>
            <a:ext cx="0" cy="274321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会话状态权威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public-service 统一写入用户消息、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assistant 占位消息、进度增量和终态消息，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前端历史回放以公共服务记录为准。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存储落点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MySQL 保存用户、会话和元数据，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JSON 记录支撑历史回放，MinIO 保存文件与原文对象，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业务记录和对象引用可以相互对应。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运行状态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Redis 承接任务状态、队列和短期缓存，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用于刷新恢复、并行任务和事件回放，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任务排队、状态维护、消息终态统一协同。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核心链路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文件上传与 MinIO 持久化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文件对象写入 MinIO，业务侧保留 file_id 与 storage_ref 供后续链路复用。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499616"/>
            <a:ext cx="7498079" cy="3986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0704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前端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72768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53081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7945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65145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45459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0323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57523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37836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2700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MinIO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49900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30214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5078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MySQL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42278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22591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7455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QA 服务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34655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72768" y="2286000"/>
            <a:ext cx="1192377" cy="0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18488" y="212140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上传 PDF / Excel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65145" y="2651760"/>
            <a:ext cx="1192378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10865" y="248716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代理上传接口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57523" y="3017520"/>
            <a:ext cx="1192377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03243" y="2852927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put object / storage_ref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957523" y="3383280"/>
            <a:ext cx="2384755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003243" y="3218688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登记文件元数据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572768" y="3749039"/>
            <a:ext cx="2384755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618488" y="3584447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返回 file_id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572768" y="4114800"/>
            <a:ext cx="1192377" cy="0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618488" y="395020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带文件上下文问答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65145" y="4480559"/>
            <a:ext cx="4769510" cy="0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10865" y="4315968"/>
            <a:ext cx="4678070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传递文件引用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5149900" y="4846320"/>
            <a:ext cx="2384755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95620" y="4681728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按 storage_ref 读取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对象写入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上传文件写入 MinIO，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并在 MySQL 登记 file_id 与 storage_ref，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文件对象可在后续会话和任务中复用。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引用读取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问答链路传递文件引用，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执行服务按 storage_ref 读取对象，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文件上下文通过稳定引用进入执行链路。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元数据闭环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前端获得 file_id 后参与会话与问答，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文件对象与业务记录可以对应，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后续预览、追踪和清理有依据。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核心链路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点击查看原文与 MinIO 读取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答案中的原文引用可从 MinIO 读取专利原文对象，并支持打开与定位。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499616"/>
            <a:ext cx="7498079" cy="3986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0704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前端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72768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53081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7945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65145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45459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0323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patent 原文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57523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37836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2700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缓存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49900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30214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5078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MinIO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42278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22591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7455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PDF 预览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34655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72768" y="2286000"/>
            <a:ext cx="1192377" cy="0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18488" y="212140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点击查看原文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65145" y="2651760"/>
            <a:ext cx="1192378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10865" y="248716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请求 original/{id}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57523" y="3017520"/>
            <a:ext cx="1192377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03243" y="2852927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查原文视图缓存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957523" y="3383280"/>
            <a:ext cx="2384755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003243" y="3218688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读 manifest / original.pdf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3957523" y="3749039"/>
            <a:ext cx="2384755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03243" y="3584447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返回对象与元数据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957523" y="4114800"/>
            <a:ext cx="1192377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003243" y="395020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写短期缓存 / ETag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572768" y="4480559"/>
            <a:ext cx="2384755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618488" y="4315968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返回 PDF/HTML/JSON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572768" y="4846320"/>
            <a:ext cx="5961887" cy="0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618488" y="4681728"/>
            <a:ext cx="587044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打开并定位 anchor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原文对象读取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点击查看原文后，服务按 original id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读取 manifest 与原文 PDF，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原文对象来源统一落到 MinIO。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预览定位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返回 PDF / HTML / JSON 等信息，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前端打开预览并定位 anchor，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答案引用可以跳转到对应原文位置。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缓存协同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短期缓存与 ETag 支持连续查看，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MinIO 作为原文对象来源，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重复打开原文时减少链路重复读取。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交付与计划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前端配套页面与交互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围绕后端接口补齐页面入口，覆盖管理、任务恢复、文件上传和原文查看。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83080"/>
            <a:ext cx="318211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1856231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问题列表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130552"/>
            <a:ext cx="2889504" cy="52120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右侧问题列表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点击定位到对应回答区域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长会话回看更直接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783080"/>
            <a:ext cx="318211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856231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管理员页面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130552"/>
            <a:ext cx="2889504" cy="52120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用户 / 部门 / 人员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绑定关系管理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批量导入与状态维护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200400"/>
            <a:ext cx="318211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3273552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注册与个人中心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3547872"/>
            <a:ext cx="2889504" cy="52120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安全问题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人员绑定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个人信息补全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200400"/>
            <a:ext cx="318211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3273552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30C0B4"/>
                </a:solidFill>
                <a:latin typeface="Noto Sans CJK SC"/>
              </a:rPr>
              <a:t>文件与原文查看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3547872"/>
            <a:ext cx="2889504" cy="52120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文件上传与预览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答案引用查看原文</a:t>
            </a:r>
          </a:p>
          <a:p>
            <a:pPr algn="ctr">
              <a:spcAft>
                <a:spcPts val="100"/>
              </a:spcAft>
            </a:pPr>
            <a:r>
              <a:rPr sz="900">
                <a:solidFill>
                  <a:srgbClr val="222222"/>
                </a:solidFill>
                <a:latin typeface="Noto Sans CJK SC"/>
              </a:rPr>
              <a:t>MinIO 链路前端入口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828032"/>
            <a:ext cx="6720840" cy="411480"/>
          </a:xfrm>
          <a:prstGeom prst="round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873752"/>
            <a:ext cx="657453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前端页面与后端接口同步配套，管理、任务恢复、文件与原文查看形成完整链路。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问题定位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右侧问题列表点击后定位到对应回答区域，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便于回看长会话，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长任务刷新恢复后仍可快速定位上下文。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管理页面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管理员页面、注册页和个人中心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承接组织人员与账号绑定接口，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后台接口有对应的前端操作面。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文件原文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上传、预览和查看原文的操作入口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与后端 MinIO 链路保持一致，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用户从答案到原文查看形成闭环。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交付与计划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部署编排与运行检查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部署部分简要说明多服务编排、统一入口和基础设施协同。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37360"/>
            <a:ext cx="7086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1929384"/>
            <a:ext cx="96012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0055AA"/>
                </a:solidFill>
                <a:latin typeface="Noto Sans CJK SC"/>
              </a:rPr>
              <a:t>入口层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193852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frontend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193852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gateway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98848" y="2395728"/>
            <a:ext cx="0" cy="374904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2788920"/>
            <a:ext cx="7086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2980944"/>
            <a:ext cx="96012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4E82C7"/>
                </a:solidFill>
                <a:latin typeface="Noto Sans CJK SC"/>
              </a:rPr>
              <a:t>服务层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299008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public-service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299008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fastQA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99008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highThinkingQA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99008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patent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98848" y="3447287"/>
            <a:ext cx="0" cy="374904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0120" y="3840480"/>
            <a:ext cx="7086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4032504"/>
            <a:ext cx="96012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55AA66"/>
                </a:solidFill>
                <a:latin typeface="Noto Sans CJK SC"/>
              </a:rPr>
              <a:t>基础设施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872" y="404164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9896" y="404164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Redis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04164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MinIO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404164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Neo4j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Compose 编排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使用 Docker Compose 编排 gateway、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public-service、QA 服务和基础设施，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交付时可按服务层次启动与检查。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统一入口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前端 nginx 与 gateway 对外承接访问，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后端服务在内部按路由协作，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外部访问路径保持集中和稳定。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运行检查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保留多服务启动、状态检查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与基础设施连通性校验脚本，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部署后可快速确认核心服务可用。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交付与计划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交付内容汇总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核心服务链路、管理后台和任务模型已形成完整闭环。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55648"/>
            <a:ext cx="318211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1828800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服务结构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103120"/>
            <a:ext cx="2889504" cy="6766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gateway 统一入口与路由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public-service 公共接口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fast / thinking / patent 独立执行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基础设施协同落点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755648"/>
            <a:ext cx="318211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828800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管理后台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103120"/>
            <a:ext cx="2889504" cy="6766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用户 / 部门 / 人员维护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账号人员绑定与状态控制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管理员修复和批量导入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用户侧信息补全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172968"/>
            <a:ext cx="318211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3246120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任务模型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3520439"/>
            <a:ext cx="2889504" cy="6766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task_id 状态生命周期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刷新恢复与重新附着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多任务并行和真实取消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事件回放与终态落库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172968"/>
            <a:ext cx="318211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3246120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30C0B4"/>
                </a:solidFill>
                <a:latin typeface="Noto Sans CJK SC"/>
              </a:rPr>
              <a:t>存储链路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3520439"/>
            <a:ext cx="2889504" cy="6766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MySQL 会话和元数据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JSON 历史回放记录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MinIO 文件与原文对象</a:t>
            </a:r>
          </a:p>
          <a:p>
            <a:pPr algn="ctr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Redis 状态、队列、缓存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809744"/>
            <a:ext cx="6903720" cy="438912"/>
          </a:xfrm>
          <a:prstGeom prst="roundRect">
            <a:avLst/>
          </a:prstGeom>
          <a:solidFill>
            <a:srgbClr val="E9F3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919472"/>
            <a:ext cx="6629400" cy="16459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30" b="1">
                <a:solidFill>
                  <a:srgbClr val="00459A"/>
                </a:solidFill>
                <a:latin typeface="Noto Sans CJK SC"/>
              </a:rPr>
              <a:t>当前形成从统一入口、公共服务、任务模型到文件与原文存储的核心链路。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架构闭环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frontend-vue、gateway、public-service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与 QA 服务边界形成闭环，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入口、公共服务、执行服务职责清晰。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业务闭环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管理员、组织人员、任务模型、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消息持久化与文件原文链路贯通，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核心流程围绕真实会话连续运行。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交付闭环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部署编排、健康检查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与基础设施协同纳入交付资料，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后续继续补充测试和运维观测。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交付与计划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后续完善计划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围绕测试、观测、存储一致性和部署文档继续完善工程化交付。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" y="1645920"/>
            <a:ext cx="696772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874519"/>
            <a:ext cx="13716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0055AA"/>
                </a:solidFill>
                <a:latin typeface="Noto Sans CJK SC"/>
              </a:rPr>
              <a:t>测试覆盖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755648"/>
            <a:ext cx="4846320" cy="438912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补齐登录鉴权、任务恢复、取消、终态消息、</a:t>
            </a:r>
          </a:p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MinIO 原文读取等关键链路测试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2523744"/>
            <a:ext cx="696772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52344"/>
            <a:ext cx="13716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4E82C7"/>
                </a:solidFill>
                <a:latin typeface="Noto Sans CJK SC"/>
              </a:rPr>
              <a:t>可观测性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633472"/>
            <a:ext cx="4846320" cy="438912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完善任务状态、消息落库、对象读取、服务健康</a:t>
            </a:r>
          </a:p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等日志与指标观测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3401568"/>
            <a:ext cx="696772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630168"/>
            <a:ext cx="13716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55AA66"/>
                </a:solidFill>
                <a:latin typeface="Noto Sans CJK SC"/>
              </a:rPr>
              <a:t>存储一致性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511296"/>
            <a:ext cx="4846320" cy="438912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加强 MinIO 对象与 MySQL 元数据之间的</a:t>
            </a:r>
          </a:p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一致性校验和异常处理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4279392"/>
            <a:ext cx="696772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507992"/>
            <a:ext cx="13716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EE822F"/>
                </a:solidFill>
                <a:latin typeface="Noto Sans CJK SC"/>
              </a:rPr>
              <a:t>部署 runbook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389120"/>
            <a:ext cx="4846320" cy="438912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整理启动、回滚、配置、排障和健康检查说明，</a:t>
            </a:r>
          </a:p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形成可复用交付文档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自动化测试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围绕登录鉴权、任务状态、消息终态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和 MinIO 链路补齐测试。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覆盖刷新恢复、取消和原文读取等关键路径。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运维可观测性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补充任务、消息、存储和服务健康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的日志与指标观测。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便于定位长任务执行和对象读取状态。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部署文档整理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整理启动、回滚、排障和配置说明，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形成交付 runbook。</a:t>
            </a:r>
          </a:p>
          <a:p>
            <a:pPr algn="ctr">
              <a:spcAft>
                <a:spcPts val="100"/>
              </a:spcAft>
            </a:pPr>
            <a:r>
              <a:rPr sz="940">
                <a:solidFill>
                  <a:srgbClr val="222222"/>
                </a:solidFill>
                <a:latin typeface="Noto Sans CJK SC"/>
              </a:rPr>
              <a:t>让多服务部署过程可复用、可检查。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