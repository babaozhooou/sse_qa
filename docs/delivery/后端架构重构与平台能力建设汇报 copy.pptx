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75488"/>
            <a:ext cx="1170432" cy="5852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987552"/>
            <a:ext cx="978408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Noto Sans CJK SC"/>
              </a:rPr>
              <a:t>后端架构重构与平台能力建设汇报</a:t>
            </a:r>
            <a:endParaRPr sz="3600" b="1">
              <a:solidFill>
                <a:srgbClr val="000000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1773936"/>
            <a:ext cx="969264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00" b="0">
                <a:solidFill>
                  <a:srgbClr val="889AB2"/>
                </a:solidFill>
                <a:latin typeface="Aptos"/>
              </a:rPr>
              <a:t>Backend Architecture Refactoring &amp; Platform Capability Report</a:t>
            </a:r>
            <a:endParaRPr sz="1500" b="0">
              <a:solidFill>
                <a:srgbClr val="889AB2"/>
              </a:solidFill>
              <a:latin typeface="Aptos"/>
            </a:endParaRPr>
          </a:p>
        </p:txBody>
      </p:sp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1" y="2487168"/>
            <a:ext cx="4343400" cy="21716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4600" y="4187952"/>
            <a:ext cx="210312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报告人：xxx</a:t>
            </a:r>
            <a:endParaRPr sz="200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4920" y="4187952"/>
            <a:ext cx="365760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000" b="1">
                <a:solidFill>
                  <a:srgbClr val="889AB2"/>
                </a:solidFill>
                <a:latin typeface="Noto Sans CJK SC"/>
              </a:rPr>
              <a:t>时  间：2026年xx月xx日</a:t>
            </a:r>
            <a:endParaRPr sz="2000" b="1">
              <a:solidFill>
                <a:srgbClr val="889AB2"/>
              </a:solidFill>
              <a:latin typeface="Noto Sans CJK SC"/>
            </a:endParaRPr>
          </a:p>
        </p:txBody>
      </p:sp>
      <p:pic>
        <p:nvPicPr>
          <p:cNvPr id="8" name="Picture 7" descr="wa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713232"/>
            <a:ext cx="5175504" cy="694944"/>
          </a:xfrm>
          <a:prstGeom prst="roundRect">
            <a:avLst/>
          </a:prstGeom>
          <a:solidFill>
            <a:srgbClr val="EF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713232"/>
            <a:ext cx="713232" cy="713232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49808"/>
            <a:ext cx="19202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900" b="1">
                <a:solidFill>
                  <a:srgbClr val="0055AA"/>
                </a:solidFill>
                <a:latin typeface="Aptos"/>
              </a:rPr>
              <a:t>CONTENTS</a:t>
            </a:r>
            <a:endParaRPr sz="2900" b="1">
              <a:solidFill>
                <a:srgbClr val="0055A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26280" y="786384"/>
            <a:ext cx="1005840" cy="4572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2200" b="1">
                <a:solidFill>
                  <a:srgbClr val="222222"/>
                </a:solidFill>
                <a:latin typeface="Noto Sans CJK SC"/>
              </a:rPr>
              <a:t>目录</a:t>
            </a:r>
            <a:endParaRPr sz="2200" b="1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084831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01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80360" y="2139696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27248" y="2194560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12280" y="2084831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02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2139696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0728" y="2194560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3703320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03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20824" y="3758183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67712" y="3813048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06440" y="3703320"/>
            <a:ext cx="8686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3500" b="0">
                <a:solidFill>
                  <a:srgbClr val="889AB2"/>
                </a:solidFill>
                <a:latin typeface="Aptos"/>
              </a:rPr>
              <a:t>04</a:t>
            </a:r>
            <a:endParaRPr sz="350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3758183"/>
            <a:ext cx="91440" cy="38404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500" b="0">
                <a:solidFill>
                  <a:srgbClr val="889AB2"/>
                </a:solidFill>
                <a:latin typeface="Noto Sans CJK SC"/>
              </a:rPr>
              <a:t>|</a:t>
            </a:r>
            <a:endParaRPr sz="25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04888" y="3813048"/>
            <a:ext cx="3108960" cy="32918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1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1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19" name="Picture 18" descr="wave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01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2148967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395855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2917063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2917063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服务分工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30111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30111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公共能力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685159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685159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任务连续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406920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406920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工程支撑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01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建设背景与目标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09344"/>
            <a:ext cx="1074420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22222"/>
                </a:solidFill>
                <a:latin typeface="Noto Sans CJK SC"/>
              </a:rPr>
              <a:t>围绕多模式问答、管理员能力、长任务执行和部署交付，后端架构逐步形成更清晰的服务分工和统一支撑能力。</a:t>
            </a:r>
            <a:endParaRPr sz="1800" b="1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2331720" cy="173736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服务分工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统一前端入口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gateway 承接接入与路由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QA 服务聚焦执行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11880" y="2697480"/>
            <a:ext cx="2331720" cy="1737360"/>
          </a:xfrm>
          <a:prstGeom prst="roundRect">
            <a:avLst/>
          </a:prstGeom>
          <a:solidFill>
            <a:srgbClr val="F2F7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公共能力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647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认证、会话、上传、文档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管理员、部门、人员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配额与系统接口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2331720" cy="1737360"/>
          </a:xfrm>
          <a:prstGeom prst="roundRect">
            <a:avLst/>
          </a:prstGeom>
          <a:solidFill>
            <a:srgbClr val="F4FBF8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任务连续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6539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任务身份 task_id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刷新恢复与事件回放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多任务并行与取消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89720" y="2697480"/>
            <a:ext cx="2331720" cy="1737360"/>
          </a:xfrm>
          <a:prstGeom prst="roundRect">
            <a:avLst/>
          </a:prstGeom>
          <a:solidFill>
            <a:srgbClr val="FFF7E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80720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工程支撑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54312" y="3200400"/>
            <a:ext cx="2002536" cy="111556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统一资源目录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部署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18211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7103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59952" y="3547872"/>
            <a:ext cx="33832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681728"/>
            <a:ext cx="10332720" cy="5669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550">
                <a:solidFill>
                  <a:srgbClr val="1E2A3A"/>
                </a:solidFill>
                <a:latin typeface="Noto Sans CJK SC"/>
              </a:rPr>
              <a:t>汇报重点：后端架构设计、公共能力沉淀、任务模型、消息持久化、存储缓存支撑、前端局部能力与部署支撑。</a:t>
            </a:r>
            <a:endParaRPr sz="15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02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190195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148840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2670048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2670048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总体拓扑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05409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05409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Gateway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438144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438144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Public-service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382219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382219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QA 边界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系统总体架构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98448" y="1426464"/>
            <a:ext cx="9646920" cy="53035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1581912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前端入口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98448" y="2249424"/>
            <a:ext cx="9646920" cy="621792"/>
          </a:xfrm>
          <a:prstGeom prst="rect">
            <a:avLst/>
          </a:prstGeom>
          <a:solidFill>
            <a:srgbClr val="E9F3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2450591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统一网关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98448" y="3218688"/>
            <a:ext cx="964692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3621024"/>
            <a:ext cx="10789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后端服务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98448" y="4681728"/>
            <a:ext cx="9646920" cy="804672"/>
          </a:xfrm>
          <a:prstGeom prst="rect">
            <a:avLst/>
          </a:prstGeom>
          <a:solidFill>
            <a:srgbClr val="F8FAFD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5217" y="4893882"/>
            <a:ext cx="344170" cy="379095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基础</a:t>
            </a:r>
            <a:endParaRPr sz="1150" b="1">
              <a:solidFill>
                <a:srgbClr val="889AB2"/>
              </a:solidFill>
              <a:latin typeface="Noto Sans CJK SC"/>
            </a:endParaRPr>
          </a:p>
          <a:p>
            <a:pPr algn="ctr"/>
            <a:r>
              <a:rPr sz="1150" b="1">
                <a:solidFill>
                  <a:srgbClr val="889AB2"/>
                </a:solidFill>
                <a:latin typeface="Noto Sans CJK SC"/>
              </a:rPr>
              <a:t>设施</a:t>
            </a:r>
            <a:endParaRPr sz="1150" b="1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617720" y="1508760"/>
            <a:ext cx="2971800" cy="3657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frontend-vue  统一前端入口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33087" y="2331720"/>
            <a:ext cx="3950208" cy="38404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gateway / BFF  接入、路由、任务 API、SSE 转发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108192" y="1883664"/>
            <a:ext cx="0" cy="438912"/>
          </a:xfrm>
          <a:prstGeom prst="line">
            <a:avLst/>
          </a:prstGeom>
          <a:ln w="1397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682496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public-service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82496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公共能力中心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908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fastQA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69080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fast / 文件执行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highThinkingQA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thinking 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87968" y="3456432"/>
            <a:ext cx="1874519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80" b="1">
                <a:solidFill>
                  <a:srgbClr val="00459A"/>
                </a:solidFill>
                <a:latin typeface="Aptos"/>
              </a:rPr>
              <a:t>patent</a:t>
            </a:r>
            <a:endParaRPr sz="128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87968" y="3931920"/>
            <a:ext cx="1874519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50" b="0">
                <a:solidFill>
                  <a:srgbClr val="222222"/>
                </a:solidFill>
                <a:latin typeface="Noto Sans CJK SC"/>
              </a:rPr>
              <a:t>patent 执行</a:t>
            </a:r>
            <a:endParaRPr sz="9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08192" y="2724912"/>
            <a:ext cx="0" cy="402336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15184" y="3127248"/>
            <a:ext cx="721461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24328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1091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88352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3127248"/>
            <a:ext cx="0" cy="329184"/>
          </a:xfrm>
          <a:prstGeom prst="line">
            <a:avLst/>
          </a:prstGeom>
          <a:ln w="12065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1984375" y="4828667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MySQL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6530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用户 / 会话 / 元数据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Can 34"/>
          <p:cNvSpPr/>
          <p:nvPr/>
        </p:nvSpPr>
        <p:spPr>
          <a:xfrm>
            <a:off x="4251960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Redis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3225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任务状态 / 队列 / 缓存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7" name="Can 36"/>
          <p:cNvSpPr/>
          <p:nvPr/>
        </p:nvSpPr>
        <p:spPr>
          <a:xfrm>
            <a:off x="6664325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MinIO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77940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文件与对象存储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9" name="Can 38"/>
          <p:cNvSpPr/>
          <p:nvPr/>
        </p:nvSpPr>
        <p:spPr>
          <a:xfrm>
            <a:off x="9034144" y="4828032"/>
            <a:ext cx="1572768" cy="420624"/>
          </a:xfrm>
          <a:prstGeom prst="can">
            <a:avLst/>
          </a:prstGeom>
          <a:solidFill>
            <a:srgbClr val="FFFFFF"/>
          </a:solidFill>
          <a:ln w="1270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20" b="1">
                <a:solidFill>
                  <a:srgbClr val="00459A"/>
                </a:solidFill>
                <a:latin typeface="Aptos"/>
              </a:rPr>
              <a:t>Neo4j</a:t>
            </a:r>
            <a:endParaRPr sz="112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23959" y="5285232"/>
            <a:ext cx="2011680" cy="16459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880" b="0">
                <a:solidFill>
                  <a:srgbClr val="222222"/>
                </a:solidFill>
                <a:latin typeface="Noto Sans CJK SC"/>
              </a:rPr>
              <a:t>图数据支撑</a:t>
            </a:r>
            <a:endParaRPr sz="88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Gateway 统一入口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43000" y="1261872"/>
            <a:ext cx="992124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20" b="1">
                <a:solidFill>
                  <a:srgbClr val="00459A"/>
                </a:solidFill>
                <a:latin typeface="Noto Sans CJK SC"/>
              </a:rPr>
              <a:t>统一管理前端到后端的入口协议，让公共能力与 QA 执行服务通过稳定边界协作。</a:t>
            </a:r>
            <a:endParaRPr sz="152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1" y="2258568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前端接入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24328" y="2258568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统一承接 frontend-vue 请求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2139696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258568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鉴权透传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82128" y="2258568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保留用户身份与 trace 信息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15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1" y="3200400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公共接口代理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24328" y="3134614"/>
            <a:ext cx="2374265" cy="3327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auth / conversation / admin 等转发到 </a:t>
            </a:r>
            <a:endParaRPr sz="1000" b="0">
              <a:solidFill>
                <a:srgbClr val="222222"/>
              </a:solidFill>
              <a:latin typeface="Noto Sans CJK SC"/>
            </a:endParaRPr>
          </a:p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public-service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09360" y="3081528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QA 路由决策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2128" y="3200400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按 mode、文件上下文和 route 选择执行服务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16151" y="4142232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SSE 流式转发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24328" y="4142232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保持问答流式输出体验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09360" y="4023360"/>
            <a:ext cx="4572000" cy="6400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42232"/>
            <a:ext cx="13258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任务 API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82128" y="4142232"/>
            <a:ext cx="278892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CJK SC"/>
              </a:rPr>
              <a:t>创建、恢复、取消、事件回放</a:t>
            </a:r>
            <a:endParaRPr sz="100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80160" y="5084064"/>
            <a:ext cx="9646920" cy="41148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0">
                <a:solidFill>
                  <a:srgbClr val="1E2A3A"/>
                </a:solidFill>
                <a:latin typeface="Noto Sans CJK SC"/>
              </a:rPr>
              <a:t>网关不是业务算法层，重点承担入口、协议、路由、任务和流式传输编排。</a:t>
            </a:r>
            <a:endParaRPr sz="1350" b="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Public-service 公共能力中心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auth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登录、注册、鉴权、安全问题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conversation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54880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会话、消息、任务状态绑定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19" y="157276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uploads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8199" y="198424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PDF / Excel 上传与文件登记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39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documents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原文查看、翻译、总结支撑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0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quota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54880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配额模型与用量管理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75319" y="276148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85292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admin_users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58199" y="317296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用户管理、状态、类型、导入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868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departments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三级部门字典与停启用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572000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personnel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80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人员主档、绑定、校验码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75319" y="3950208"/>
            <a:ext cx="3154680" cy="9326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041648"/>
            <a:ext cx="288036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550" b="1">
                <a:solidFill>
                  <a:srgbClr val="00459A"/>
                </a:solidFill>
                <a:latin typeface="Aptos"/>
              </a:rPr>
              <a:t>system</a:t>
            </a:r>
            <a:endParaRPr sz="1550" b="1">
              <a:solidFill>
                <a:srgbClr val="00459A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8199" y="4361688"/>
            <a:ext cx="2788920" cy="31089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160" b="0">
                <a:solidFill>
                  <a:srgbClr val="222222"/>
                </a:solidFill>
                <a:latin typeface="Noto Sans CJK SC"/>
              </a:rPr>
              <a:t>健康、运行状态、系统接口</a:t>
            </a:r>
            <a:endParaRPr sz="116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34440" y="5303520"/>
            <a:ext cx="9646920" cy="51206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459A"/>
                </a:solidFill>
                <a:latin typeface="Noto Sans CJK SC"/>
              </a:rPr>
              <a:t>公共能力集中后，gateway 负责代理与编排，QA 服务专注执行链路。</a:t>
            </a:r>
            <a:endParaRPr sz="16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02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整体后端架构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QA 执行服务边界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450592"/>
            <a:ext cx="210312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60320"/>
            <a:ext cx="18836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frontend-vue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1773936" cy="52120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会话交互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文件上下文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93008" y="2377440"/>
            <a:ext cx="2331720" cy="132588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487168"/>
            <a:ext cx="211226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gateway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0" y="2880360"/>
            <a:ext cx="2002536" cy="7040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统一路由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转发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 API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1554480"/>
            <a:ext cx="2148840" cy="868680"/>
          </a:xfrm>
          <a:prstGeom prst="roundRect">
            <a:avLst/>
          </a:prstGeom>
          <a:solidFill>
            <a:srgbClr val="F5FDFC"/>
          </a:solidFill>
          <a:ln w="16510">
            <a:solidFill>
              <a:srgbClr val="30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664207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fastQA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56831" y="205740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fast / 文件执行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92240" y="2743200"/>
            <a:ext cx="2148840" cy="868680"/>
          </a:xfrm>
          <a:prstGeom prst="roundRect">
            <a:avLst/>
          </a:prstGeom>
          <a:solidFill>
            <a:srgbClr val="FFF8E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52928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highThinkingQA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56831" y="324612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thinking 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3931920"/>
            <a:ext cx="2148840" cy="868680"/>
          </a:xfrm>
          <a:prstGeom prst="roundRect">
            <a:avLst/>
          </a:prstGeom>
          <a:solidFill>
            <a:srgbClr val="F4FBF5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041648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patent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56831" y="4434840"/>
            <a:ext cx="1819656" cy="246887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patent 执行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400032" y="2542032"/>
            <a:ext cx="2148840" cy="120700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651760"/>
            <a:ext cx="192938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64624" y="3044952"/>
            <a:ext cx="1819656" cy="58521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认证与会话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文件与消息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管理员能力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852928" y="3017520"/>
            <a:ext cx="64008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24728" y="1783080"/>
            <a:ext cx="667512" cy="1234440"/>
          </a:xfrm>
          <a:prstGeom prst="line">
            <a:avLst/>
          </a:prstGeom>
          <a:ln w="19050">
            <a:solidFill>
              <a:srgbClr val="30C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24728" y="3017520"/>
            <a:ext cx="667512" cy="91440"/>
          </a:xfrm>
          <a:prstGeom prst="line">
            <a:avLst/>
          </a:prstGeom>
          <a:ln w="19050">
            <a:solidFill>
              <a:srgbClr val="EE82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24728" y="3017520"/>
            <a:ext cx="667512" cy="1417320"/>
          </a:xfrm>
          <a:prstGeom prst="line">
            <a:avLst/>
          </a:prstGeom>
          <a:ln w="19050">
            <a:solidFill>
              <a:srgbClr val="55A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41080" y="3136392"/>
            <a:ext cx="758952" cy="0"/>
          </a:xfrm>
          <a:prstGeom prst="line">
            <a:avLst/>
          </a:prstGeom>
          <a:ln w="19050">
            <a:solidFill>
              <a:srgbClr val="005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97280" y="5047488"/>
            <a:ext cx="10058400" cy="50292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边界表达：公共能力由 public-service 沉淀，执行服务保留各自模式能力，gateway 负责入口、路由与任务编排。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475488"/>
            <a:ext cx="1152144" cy="576072"/>
          </a:xfrm>
          <a:prstGeom prst="rect">
            <a:avLst/>
          </a:prstGeom>
        </p:spPr>
      </p:pic>
      <p:pic>
        <p:nvPicPr>
          <p:cNvPr id="3" name="Picture 2" descr="tech_hand_f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389888"/>
            <a:ext cx="6949440" cy="449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58368"/>
            <a:ext cx="1325880" cy="7315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4000" b="0">
                <a:solidFill>
                  <a:srgbClr val="889AB2"/>
                </a:solidFill>
                <a:latin typeface="Noto Sans CJK SC"/>
              </a:rPr>
              <a:t>03</a:t>
            </a:r>
            <a:endParaRPr sz="40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74519" y="713232"/>
            <a:ext cx="18288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800" b="0">
                <a:solidFill>
                  <a:srgbClr val="889AB2"/>
                </a:solidFill>
                <a:latin typeface="Noto Sans CJK SC"/>
              </a:rPr>
              <a:t>|</a:t>
            </a:r>
            <a:endParaRPr sz="3800" b="0">
              <a:solidFill>
                <a:srgbClr val="889AB2"/>
              </a:solidFill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4560" y="658368"/>
            <a:ext cx="8046720" cy="7498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3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32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48072" y="2313432"/>
            <a:ext cx="3977639" cy="2423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8968" y="2560320"/>
            <a:ext cx="3337560" cy="32004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900" b="1">
                <a:solidFill>
                  <a:srgbClr val="00459A"/>
                </a:solidFill>
                <a:latin typeface="Noto Sans CJK SC"/>
              </a:rPr>
              <a:t>本节内容</a:t>
            </a:r>
            <a:endParaRPr sz="19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3560" y="3081528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01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471" y="3081528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管理员能力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23560" y="3465576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02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62471" y="3465576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任务模型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3560" y="3849624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03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62471" y="3849624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消息存储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3560" y="4233671"/>
            <a:ext cx="32918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50" b="1">
                <a:solidFill>
                  <a:srgbClr val="889AB2"/>
                </a:solidFill>
                <a:latin typeface="Aptos"/>
              </a:rPr>
              <a:t>04</a:t>
            </a:r>
            <a:endParaRPr sz="1050" b="1">
              <a:solidFill>
                <a:srgbClr val="889AB2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2471" y="4233671"/>
            <a:ext cx="25146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pic>
        <p:nvPicPr>
          <p:cNvPr id="17" name="Picture 16" descr="wave_co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456"/>
            <a:ext cx="12191999" cy="1389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管理员与组织能力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登录鉴权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JWT / 登录状态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39696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9463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安全问题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42615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首次设置 / 找回密码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995927" y="2395728"/>
            <a:ext cx="402337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25696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用户管理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98848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新增 / 启停 / 导入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81928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部门字典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55080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一级 / 二级 / 三级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08392" y="2395728"/>
            <a:ext cx="402336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59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人员主档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11311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工号 / 姓名 / 状态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564624" y="2395728"/>
            <a:ext cx="402335" cy="0"/>
          </a:xfrm>
          <a:prstGeom prst="line">
            <a:avLst/>
          </a:prstGeom>
          <a:ln w="1270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94391" y="1920240"/>
            <a:ext cx="141732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49255" y="2029968"/>
            <a:ext cx="1307592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人员绑定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67543" y="2359152"/>
            <a:ext cx="1271016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920" b="0">
                <a:solidFill>
                  <a:srgbClr val="222222"/>
                </a:solidFill>
                <a:latin typeface="Noto Sans CJK SC"/>
              </a:rPr>
              <a:t>账号与人员校验绑定</a:t>
            </a:r>
            <a:endParaRPr sz="9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24128" y="3703320"/>
            <a:ext cx="4800600" cy="1234440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0459A"/>
                </a:solidFill>
                <a:latin typeface="Noto Sans CJK SC"/>
              </a:rPr>
              <a:t>管理员侧
用户、部门、人员、批量导入等集中管理</a:t>
            </a:r>
            <a:endParaRPr sz="18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19088" y="3703320"/>
            <a:ext cx="4800600" cy="1234440"/>
          </a:xfrm>
          <a:prstGeom prst="roundRect">
            <a:avLst/>
          </a:prstGeom>
          <a:solidFill>
            <a:srgbClr val="F5FBF7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D7F4F"/>
                </a:solidFill>
                <a:latin typeface="Noto Sans CJK SC"/>
              </a:rPr>
              <a:t>用户侧
注册、个人中心、人员绑定与信息补全</a:t>
            </a:r>
            <a:endParaRPr sz="1800" b="1">
              <a:solidFill>
                <a:srgbClr val="2D7F4F"/>
              </a:solidFill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刷新可恢复任务模型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1325880" cy="329184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/>
            <a:r>
              <a:rPr sz="1500" b="1">
                <a:solidFill>
                  <a:srgbClr val="00459A"/>
                </a:solidFill>
                <a:latin typeface="Noto Sans CJK SC"/>
              </a:rPr>
              <a:t>task_id</a:t>
            </a:r>
            <a:endParaRPr sz="15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4028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55AA"/>
                </a:solidFill>
                <a:latin typeface="Aptos"/>
              </a:rPr>
              <a:t>queued</a:t>
            </a:r>
            <a:endParaRPr sz="1250" b="1">
              <a:solidFill>
                <a:srgbClr val="0055A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1343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排队中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4E82C7"/>
                </a:solidFill>
                <a:latin typeface="Aptos"/>
              </a:rPr>
              <a:t>admitted</a:t>
            </a:r>
            <a:endParaRPr sz="1250" b="1">
              <a:solidFill>
                <a:srgbClr val="4E82C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6227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即将开始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EE822F"/>
                </a:solidFill>
                <a:latin typeface="Aptos"/>
              </a:rPr>
              <a:t>running</a:t>
            </a:r>
            <a:endParaRPr sz="1250" b="1">
              <a:solidFill>
                <a:srgbClr val="EE822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1111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生成中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1719072"/>
            <a:ext cx="502920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1325880"/>
            <a:ext cx="1572768" cy="80467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9952" y="1426464"/>
            <a:ext cx="1426464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55AA66"/>
                </a:solidFill>
                <a:latin typeface="Aptos"/>
              </a:rPr>
              <a:t>completed</a:t>
            </a:r>
            <a:endParaRPr sz="1250" b="1">
              <a:solidFill>
                <a:srgbClr val="55AA6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59952" y="1700784"/>
            <a:ext cx="1426464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50" b="0">
                <a:solidFill>
                  <a:srgbClr val="222222"/>
                </a:solidFill>
                <a:latin typeface="Noto Sans CJK SC"/>
              </a:rPr>
              <a:t>已完成</a:t>
            </a:r>
            <a:endParaRPr sz="105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0584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刷新恢复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043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页面刷新后通过任务摘要发现任务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按 last_seq 继续回放事件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70332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多任务并行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67911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不同会话任务可同时存在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用户侧保留可恢复状态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40080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取消控制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刷新后停止仍取消真实任务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队列与运行态统一处理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098280" y="3017520"/>
            <a:ext cx="2267712" cy="1417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7" y="3127248"/>
            <a:ext cx="2048256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事件回放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262872" y="3520439"/>
            <a:ext cx="1938528" cy="79552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SSE 事件带 seq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错过内容可补齐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0120" y="5010912"/>
            <a:ext cx="10241280" cy="438912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核心价值：把问答从浏览器请求生命周期中解耦，形成可恢复、可观察、可取消的任务执行模型。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消息持久化与存储支撑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用户消息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user turn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7157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占位消息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assistant placeholder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2303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978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执行流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710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QA stream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2011680"/>
            <a:ext cx="603504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0" y="1627632"/>
            <a:ext cx="182880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737360"/>
            <a:ext cx="1682496" cy="219456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450" b="1">
                <a:solidFill>
                  <a:srgbClr val="00459A"/>
                </a:solidFill>
                <a:latin typeface="Noto Sans CJK SC"/>
              </a:rPr>
              <a:t>终态消息</a:t>
            </a:r>
            <a:endParaRPr sz="14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85632" y="2011680"/>
            <a:ext cx="1682496" cy="18288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020" b="0">
                <a:solidFill>
                  <a:srgbClr val="889AB2"/>
                </a:solidFill>
                <a:latin typeface="Aptos"/>
              </a:rPr>
              <a:t>assistant terminal</a:t>
            </a:r>
            <a:endParaRPr sz="1020" b="0">
              <a:solidFill>
                <a:srgbClr val="889AB2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3182112"/>
            <a:ext cx="2880360" cy="1170432"/>
          </a:xfrm>
          <a:prstGeom prst="round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3291840"/>
            <a:ext cx="2660904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public-service authority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" y="3685032"/>
            <a:ext cx="2551176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会话、消息、文件元数据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task_id 与 active_task 绑定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262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MySQL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90872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用户、会话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业务元数据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50608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5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MinIO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0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上传文件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原文与对象存储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84080" y="3182112"/>
            <a:ext cx="2121408" cy="11704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E82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7" y="3291840"/>
            <a:ext cx="1901952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Redis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48672" y="3685032"/>
            <a:ext cx="1792224" cy="54864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任务状态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队列与缓存支撑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0120" y="4892040"/>
            <a:ext cx="10607040" cy="47548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表达边界：Redis 在本页只作为任务状态、队列和缓存支撑，不展开检索相关内容。</a:t>
            </a:r>
            <a:endParaRPr sz="13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03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平台能力建设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前端与部署支撑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737360"/>
            <a:ext cx="467258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前端配套能力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2130552"/>
            <a:ext cx="4562855" cy="23225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右侧问题列表：点击定位到对应用户问题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管理员页面：用户、部门、人员与绑定管理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注册 / 个人中心：安全问题、人员绑定、信息补全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任务恢复 UI：展示排队中、即将开始、生成中等状态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46520" y="1627632"/>
            <a:ext cx="4892040" cy="2944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4E8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37360"/>
            <a:ext cx="4672583" cy="29260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70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1112" y="2130552"/>
            <a:ext cx="4562855" cy="2322576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Docker Compose 编排 frontend、gateway 与后端服务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MySQL / Redis / MinIO 作为基础设施服务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数据包与 seed job 支撑交付环境初始化</a:t>
            </a:r>
            <a:endParaRPr sz="1150">
              <a:solidFill>
                <a:srgbClr val="222222"/>
              </a:solidFill>
              <a:latin typeface="Noto Sans CJK SC"/>
            </a:endParaRPr>
          </a:p>
          <a:p>
            <a:pPr algn="l">
              <a:spcAft>
                <a:spcPts val="100"/>
              </a:spcAft>
            </a:pPr>
            <a:r>
              <a:rPr sz="1150">
                <a:solidFill>
                  <a:srgbClr val="222222"/>
                </a:solidFill>
                <a:latin typeface="Noto Sans CJK SC"/>
              </a:rPr>
              <a:t>服务脚本支持本地启动、停止与状态检查</a:t>
            </a:r>
            <a:endParaRPr sz="1150">
              <a:solidFill>
                <a:srgbClr val="222222"/>
              </a:solidFill>
              <a:latin typeface="Noto Sans CJK SC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017520"/>
            <a:ext cx="521208" cy="0"/>
          </a:xfrm>
          <a:prstGeom prst="line">
            <a:avLst/>
          </a:prstGeom>
          <a:ln w="19050">
            <a:solidFill>
              <a:srgbClr val="4E82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5138928"/>
            <a:ext cx="9966960" cy="384048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E2A3A"/>
                </a:solidFill>
                <a:latin typeface="Noto Sans CJK SC"/>
              </a:rPr>
              <a:t>部署部分保持简述，重点体现多服务运行和基础设施协同。</a:t>
            </a:r>
            <a:endParaRPr sz="13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73152"/>
            <a:ext cx="50292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55AA"/>
                </a:solidFill>
                <a:latin typeface="Noto Sans CJK SC"/>
              </a:rPr>
              <a:t>04</a:t>
            </a:r>
            <a:endParaRPr sz="17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36576"/>
            <a:ext cx="5669280" cy="36576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2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200" b="1">
              <a:solidFill>
                <a:srgbClr val="0055AA"/>
              </a:solidFill>
              <a:latin typeface="Noto Sans CJK SC"/>
            </a:endParaRP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0"/>
            <a:ext cx="2240280" cy="457200"/>
          </a:xfrm>
          <a:prstGeom prst="rect">
            <a:avLst/>
          </a:prstGeom>
        </p:spPr>
      </p:pic>
      <p:pic>
        <p:nvPicPr>
          <p:cNvPr id="6" name="Picture 5" descr="logo_fu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91440"/>
            <a:ext cx="1298448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94944"/>
            <a:ext cx="7863840" cy="530352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2600" b="1">
                <a:solidFill>
                  <a:srgbClr val="0055AA"/>
                </a:solidFill>
                <a:latin typeface="Noto Sans CJK SC"/>
              </a:rPr>
              <a:t>当前状态与后续计划</a:t>
            </a:r>
            <a:endParaRPr sz="2600" b="1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672" y="1325880"/>
            <a:ext cx="10607040" cy="475488"/>
          </a:xfrm>
          <a:prstGeom prst="rect">
            <a:avLst/>
          </a:prstGeom>
          <a:solidFill>
            <a:srgbClr val="E9F3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2011680" cy="23774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维度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6391" y="1417320"/>
            <a:ext cx="8138160" cy="237744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350" b="1">
                <a:solidFill>
                  <a:srgbClr val="00459A"/>
                </a:solidFill>
                <a:latin typeface="Noto Sans CJK SC"/>
              </a:rPr>
              <a:t>说明</a:t>
            </a:r>
            <a:endParaRPr sz="13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" y="1801368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920240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当前状态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27832" y="1920240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gateway、public-service、fastQA、highThinkingQA、patent 健康检查 ok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" y="2331720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450591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架构链路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27832" y="2450591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frontend-vue 经 gateway 统一接入，公共能力与 QA 执行服务分层协作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4672" y="2862072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980944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平台能力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27832" y="2980944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管理员、部门、人员、任务模型、消息持久化与存储支撑已形成主线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4672" y="3392424"/>
            <a:ext cx="106070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511296"/>
            <a:ext cx="2011680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ctr"/>
            <a:r>
              <a:rPr sz="1250" b="1">
                <a:solidFill>
                  <a:srgbClr val="00459A"/>
                </a:solidFill>
                <a:latin typeface="Noto Sans CJK SC"/>
              </a:rPr>
              <a:t>部署支撑</a:t>
            </a:r>
            <a:endParaRPr sz="125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27832" y="3511296"/>
            <a:ext cx="7955279" cy="22860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220" b="0">
                <a:solidFill>
                  <a:srgbClr val="222222"/>
                </a:solidFill>
                <a:latin typeface="Noto Sans CJK SC"/>
              </a:rPr>
              <a:t>Docker Compose、多服务镜像、MySQL / Redis / MinIO 等交付要素已整理</a:t>
            </a:r>
            <a:endParaRPr sz="1220" b="0">
              <a:solidFill>
                <a:srgbClr val="222222"/>
              </a:solidFill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41248" y="4078224"/>
            <a:ext cx="10561320" cy="1234440"/>
          </a:xfrm>
          <a:prstGeom prst="roundRect">
            <a:avLst/>
          </a:prstGeom>
          <a:solidFill>
            <a:srgbClr val="F8FBFF"/>
          </a:solidFill>
          <a:ln w="16510">
            <a:solidFill>
              <a:srgbClr val="00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206240"/>
            <a:ext cx="2011680" cy="274320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700" b="1">
                <a:solidFill>
                  <a:srgbClr val="00459A"/>
                </a:solidFill>
                <a:latin typeface="Noto Sans CJK SC"/>
              </a:rPr>
              <a:t>后续计划</a:t>
            </a:r>
            <a:endParaRPr sz="1700" b="1">
              <a:solidFill>
                <a:srgbClr val="00459A"/>
              </a:solidFill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0432" y="4526280"/>
            <a:ext cx="9784080" cy="594360"/>
          </a:xfrm>
          <a:prstGeom prst="rect">
            <a:avLst/>
          </a:prstGeom>
          <a:noFill/>
        </p:spPr>
        <p:txBody>
          <a:bodyPr wrap="square" lIns="76200" tIns="50800" rIns="76200" bIns="50800">
            <a:spAutoFit/>
          </a:bodyPr>
          <a:lstStyle/>
          <a:p>
            <a:pPr algn="l">
              <a:spcAft>
                <a:spcPts val="0"/>
              </a:spcAft>
            </a:pPr>
            <a:r>
              <a:rPr sz="1450">
                <a:solidFill>
                  <a:srgbClr val="1E2A3A"/>
                </a:solidFill>
                <a:latin typeface="Noto Sans CJK SC"/>
              </a:rPr>
              <a:t>测试与 smoke 校验、监控与日志观测、MinIO 一致性收口、部署 runbook 与运维可观测性。</a:t>
            </a:r>
            <a:endParaRPr sz="1450">
              <a:solidFill>
                <a:srgbClr val="1E2A3A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54680" y="6236208"/>
            <a:ext cx="109728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r"/>
            <a:r>
              <a:rPr sz="1000" b="0">
                <a:solidFill>
                  <a:srgbClr val="0055AA"/>
                </a:solidFill>
                <a:latin typeface="Noto Sans CJK SC"/>
              </a:rPr>
              <a:t>创新成就卓越</a:t>
            </a:r>
            <a:endParaRPr sz="1000" b="0">
              <a:solidFill>
                <a:srgbClr val="0055AA"/>
              </a:solidFill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6236208"/>
            <a:ext cx="2743200" cy="201168"/>
          </a:xfrm>
          <a:prstGeom prst="rect">
            <a:avLst/>
          </a:prstGeom>
          <a:noFill/>
        </p:spPr>
        <p:txBody>
          <a:bodyPr wrap="none" lIns="25400" tIns="12700" rIns="25400" bIns="12700" anchor="ctr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SC"/>
              </a:rPr>
              <a:t>INNOVATION CREATES EXCELLENCE</a:t>
            </a:r>
            <a:endParaRPr sz="1000" b="0">
              <a:solidFill>
                <a:srgbClr val="666666"/>
              </a:solidFill>
              <a:latin typeface="Noto Sans CJK S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55480" y="6629400"/>
            <a:ext cx="2651760" cy="36576"/>
          </a:xfrm>
          <a:prstGeom prst="rect">
            <a:avLst/>
          </a:prstGeom>
          <a:solidFill>
            <a:srgbClr val="B6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702552"/>
            <a:ext cx="12191999" cy="36576"/>
          </a:xfrm>
          <a:prstGeom prst="rect">
            <a:avLst/>
          </a:prstGeom>
          <a:solidFill>
            <a:srgbClr val="EE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WPS 演示</Application>
  <PresentationFormat>On-screen Show (4:3)</PresentationFormat>
  <Paragraphs>546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CJK SC</vt:lpstr>
      <vt:lpstr>Thonburi</vt:lpstr>
      <vt:lpstr>Aptos</vt:lpstr>
      <vt:lpstr>Helvetica Neue</vt:lpstr>
      <vt:lpstr>Calibri</vt:lpstr>
      <vt:lpstr>宋体</vt:lpstr>
      <vt:lpstr>汉仪书宋二KW</vt:lpstr>
      <vt:lpstr>微软雅黑</vt:lpstr>
      <vt:lpstr>汉仪旗黑</vt:lpstr>
      <vt:lpstr>Arial Unicode MS</vt:lpstr>
      <vt:lpstr>Aptos</vt:lpstr>
      <vt:lpstr>Noto Sans CJK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S202588296</cp:lastModifiedBy>
  <cp:revision>2</cp:revision>
  <dcterms:created xsi:type="dcterms:W3CDTF">2026-05-19T08:00:24Z</dcterms:created>
  <dcterms:modified xsi:type="dcterms:W3CDTF">2026-05-19T08:00:24Z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E2B2EAF507C5FFE398180C6AA64375FB_42</vt:lpwstr>
  </property>
  <property fmtid="{D5CDD505-2E9C-101B-9397-08002B2CF9AE}" pid="3" name="KSOProductBuildVer">
    <vt:lpwstr>2052-12.1.23540.23540</vt:lpwstr>
  </property>
</Properties>
</file>