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1" r:id="rId21"/>
    <p:sldId id="263" r:id="rId10"/>
    <p:sldId id="264" r:id="rId11"/>
    <p:sldId id="265" r:id="rId12"/>
    <p:sldId id="266" r:id="rId13"/>
    <p:sldId id="272" r:id="rId22"/>
    <p:sldId id="267" r:id="rId14"/>
    <p:sldId id="273" r:id="rId23"/>
    <p:sldId id="268" r:id="rId15"/>
    <p:sldId id="274" r:id="rId24"/>
    <p:sldId id="269" r:id="rId16"/>
    <p:sldId id="275" r:id="rId25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6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475488"/>
            <a:ext cx="1170432" cy="5852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987552"/>
            <a:ext cx="9784080" cy="7498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Noto Sans CJK SC"/>
              </a:rPr>
              <a:t>后端架构重构与平台能力建设汇报</a:t>
            </a:r>
            <a:endParaRPr sz="3600" b="1">
              <a:solidFill>
                <a:srgbClr val="000000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4440" y="1773936"/>
            <a:ext cx="969264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00" b="0">
                <a:solidFill>
                  <a:srgbClr val="889AB2"/>
                </a:solidFill>
                <a:latin typeface="Aptos"/>
              </a:rPr>
              <a:t>Backend Architecture Refactoring &amp; Platform Capability Report</a:t>
            </a:r>
            <a:endParaRPr sz="1500" b="0">
              <a:solidFill>
                <a:srgbClr val="889AB2"/>
              </a:solidFill>
              <a:latin typeface="Aptos"/>
            </a:endParaRP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0791" y="2487168"/>
            <a:ext cx="4343400" cy="21716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4600" y="4187952"/>
            <a:ext cx="210312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889AB2"/>
                </a:solidFill>
                <a:latin typeface="Noto Sans CJK SC"/>
              </a:rPr>
              <a:t>报告人：xxx</a:t>
            </a:r>
            <a:endParaRPr sz="200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4920" y="4187952"/>
            <a:ext cx="365760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889AB2"/>
                </a:solidFill>
                <a:latin typeface="Noto Sans CJK SC"/>
              </a:rPr>
              <a:t>时  间：2026年xx月xx日</a:t>
            </a:r>
            <a:endParaRPr sz="2000" b="1">
              <a:solidFill>
                <a:srgbClr val="889AB2"/>
              </a:solidFill>
              <a:latin typeface="Noto Sans CJK SC"/>
            </a:endParaRPr>
          </a:p>
        </p:txBody>
      </p:sp>
      <p:pic>
        <p:nvPicPr>
          <p:cNvPr id="8" name="Picture 7" descr="wave_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713232"/>
            <a:ext cx="5175504" cy="694944"/>
          </a:xfrm>
          <a:prstGeom prst="roundRect">
            <a:avLst/>
          </a:prstGeom>
          <a:solidFill>
            <a:srgbClr val="E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713232"/>
            <a:ext cx="713232" cy="713232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49808"/>
            <a:ext cx="19202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900" b="1">
                <a:solidFill>
                  <a:srgbClr val="0055AA"/>
                </a:solidFill>
                <a:latin typeface="Aptos"/>
              </a:rPr>
              <a:t>CONTENTS</a:t>
            </a:r>
            <a:endParaRPr sz="2900" b="1">
              <a:solidFill>
                <a:srgbClr val="0055A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26280" y="786384"/>
            <a:ext cx="1005840" cy="4572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Noto Sans CJK SC"/>
              </a:rPr>
              <a:t>目录</a:t>
            </a:r>
            <a:endParaRPr sz="2200" b="1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2084831"/>
            <a:ext cx="8686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01</a:t>
            </a:r>
            <a:endParaRPr sz="350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80360" y="2139696"/>
            <a:ext cx="91440" cy="38404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  <a:endParaRPr sz="25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27248" y="2194560"/>
            <a:ext cx="310896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建设背景与目标</a:t>
            </a:r>
            <a:endParaRPr sz="21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12280" y="2084831"/>
            <a:ext cx="8686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02</a:t>
            </a:r>
            <a:endParaRPr sz="350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0" y="2139696"/>
            <a:ext cx="91440" cy="38404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  <a:endParaRPr sz="25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10728" y="2194560"/>
            <a:ext cx="310896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1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3703320"/>
            <a:ext cx="8686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03</a:t>
            </a:r>
            <a:endParaRPr sz="350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20824" y="3758183"/>
            <a:ext cx="91440" cy="38404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  <a:endParaRPr sz="25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67712" y="3813048"/>
            <a:ext cx="310896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1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06440" y="3703320"/>
            <a:ext cx="8686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04</a:t>
            </a:r>
            <a:endParaRPr sz="350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758183"/>
            <a:ext cx="91440" cy="38404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  <a:endParaRPr sz="25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04888" y="3813048"/>
            <a:ext cx="310896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当前状态与后续计划</a:t>
            </a:r>
            <a:endParaRPr sz="21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19" name="Picture 18" descr="wave_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pic>
        <p:nvPicPr>
          <p:cNvPr id="3" name="Picture 2" descr="tech_hand_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389888"/>
            <a:ext cx="6949440" cy="449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8368"/>
            <a:ext cx="1325880" cy="7315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4000" b="0">
                <a:solidFill>
                  <a:srgbClr val="889AB2"/>
                </a:solidFill>
                <a:latin typeface="Noto Sans CJK SC"/>
              </a:rPr>
              <a:t>01</a:t>
            </a:r>
            <a:endParaRPr sz="40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713232"/>
            <a:ext cx="1828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800" b="0">
                <a:solidFill>
                  <a:srgbClr val="889AB2"/>
                </a:solidFill>
                <a:latin typeface="Noto Sans CJK SC"/>
              </a:rPr>
              <a:t>|</a:t>
            </a:r>
            <a:endParaRPr sz="38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4560" y="658368"/>
            <a:ext cx="8046720" cy="7498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200" b="1">
                <a:solidFill>
                  <a:srgbClr val="0055AA"/>
                </a:solidFill>
                <a:latin typeface="Noto Sans CJK SC"/>
              </a:rPr>
              <a:t>建设背景与目标</a:t>
            </a:r>
            <a:endParaRPr sz="32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48072" y="2148967"/>
            <a:ext cx="3977639" cy="2423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8968" y="2395855"/>
            <a:ext cx="3337560" cy="32004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900" b="1">
                <a:solidFill>
                  <a:srgbClr val="00459A"/>
                </a:solidFill>
                <a:latin typeface="Noto Sans CJK SC"/>
              </a:rPr>
              <a:t>本节内容</a:t>
            </a:r>
            <a:endParaRPr sz="19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3560" y="2917063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01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2471" y="2917063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服务分工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23560" y="3301111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02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1" y="3301111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公共能力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23560" y="3685159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03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62471" y="3685159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任务连续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23560" y="4069206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04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62471" y="4069206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工程支撑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pic>
        <p:nvPicPr>
          <p:cNvPr id="17" name="Picture 16" descr="wav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01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建设背景与目标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建设背景与目标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1074420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Noto Sans CJK SC"/>
              </a:rPr>
              <a:t>围绕多模式问答、管理员能力、长任务执行和部署交付，后端架构逐步形成更清晰的服务分工和统一支撑能力。</a:t>
            </a:r>
            <a:endParaRPr sz="1800" b="1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2331720" cy="173736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0720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服务分工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7552" y="3200400"/>
            <a:ext cx="2002536" cy="111556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统一前端入口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gateway 承接接入与路由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QA 服务聚焦执行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11880" y="2697480"/>
            <a:ext cx="2331720" cy="1737360"/>
          </a:xfrm>
          <a:prstGeom prst="roundRect">
            <a:avLst/>
          </a:prstGeom>
          <a:solidFill>
            <a:srgbClr val="F2F7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280720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公共能力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76472" y="3200400"/>
            <a:ext cx="2002536" cy="111556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认证、会话、上传、文档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管理员、部门、人员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配额与系统接口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0" y="2697480"/>
            <a:ext cx="2331720" cy="1737360"/>
          </a:xfrm>
          <a:prstGeom prst="roundRect">
            <a:avLst/>
          </a:prstGeom>
          <a:solidFill>
            <a:srgbClr val="F4FBF8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80720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任务连续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65392" y="3200400"/>
            <a:ext cx="2002536" cy="111556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任务身份 task_id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刷新恢复与事件回放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多任务并行与取消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89720" y="2697480"/>
            <a:ext cx="2331720" cy="1737360"/>
          </a:xfrm>
          <a:prstGeom prst="roundRect">
            <a:avLst/>
          </a:prstGeom>
          <a:solidFill>
            <a:srgbClr val="FFF7E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280720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工程支撑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54312" y="3200400"/>
            <a:ext cx="2002536" cy="111556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MySQL / Redis / MinIO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统一资源目录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Docker Compose 部署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3182112" y="3547872"/>
            <a:ext cx="33832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71032" y="3547872"/>
            <a:ext cx="33832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59952" y="3547872"/>
            <a:ext cx="33832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4681728"/>
            <a:ext cx="1033272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550">
                <a:solidFill>
                  <a:srgbClr val="1E2A3A"/>
                </a:solidFill>
                <a:latin typeface="Noto Sans CJK SC"/>
              </a:rPr>
              <a:t>汇报重点：后端架构设计、公共能力沉淀、任务模型、消息持久化、存储缓存支撑、前端局部能力与部署支撑。</a:t>
            </a:r>
            <a:endParaRPr sz="15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pic>
        <p:nvPicPr>
          <p:cNvPr id="3" name="Picture 2" descr="tech_hand_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389888"/>
            <a:ext cx="6949440" cy="449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8368"/>
            <a:ext cx="1325880" cy="7315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4000" b="0">
                <a:solidFill>
                  <a:srgbClr val="889AB2"/>
                </a:solidFill>
                <a:latin typeface="Noto Sans CJK SC"/>
              </a:rPr>
              <a:t>02</a:t>
            </a:r>
            <a:endParaRPr sz="40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713232"/>
            <a:ext cx="1828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800" b="0">
                <a:solidFill>
                  <a:srgbClr val="889AB2"/>
                </a:solidFill>
                <a:latin typeface="Noto Sans CJK SC"/>
              </a:rPr>
              <a:t>|</a:t>
            </a:r>
            <a:endParaRPr sz="38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4560" y="658368"/>
            <a:ext cx="8046720" cy="7498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32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48072" y="1901952"/>
            <a:ext cx="3977639" cy="2423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8968" y="2148840"/>
            <a:ext cx="3337560" cy="32004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900" b="1">
                <a:solidFill>
                  <a:srgbClr val="00459A"/>
                </a:solidFill>
                <a:latin typeface="Noto Sans CJK SC"/>
              </a:rPr>
              <a:t>本节内容</a:t>
            </a:r>
            <a:endParaRPr sz="19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3560" y="2670048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01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2471" y="2670048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总体拓扑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23560" y="3054096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02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1" y="3054096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Gateway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23560" y="3438144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03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62471" y="3438144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Public-service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23560" y="3822191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04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62471" y="3822191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QA 边界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pic>
        <p:nvPicPr>
          <p:cNvPr id="17" name="Picture 16" descr="wav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系统总体架构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98448" y="1426464"/>
            <a:ext cx="9646920" cy="530352"/>
          </a:xfrm>
          <a:prstGeom prst="rect">
            <a:avLst/>
          </a:prstGeom>
          <a:solidFill>
            <a:srgbClr val="F8FAFD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1581912"/>
            <a:ext cx="10789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前端入口</a:t>
            </a:r>
            <a:endParaRPr sz="115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98448" y="2249424"/>
            <a:ext cx="9646920" cy="621792"/>
          </a:xfrm>
          <a:prstGeom prst="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2450591"/>
            <a:ext cx="10789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统一网关</a:t>
            </a:r>
            <a:endParaRPr sz="115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98448" y="3218688"/>
            <a:ext cx="96469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8176" y="3621024"/>
            <a:ext cx="10789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后端服务</a:t>
            </a:r>
            <a:endParaRPr sz="115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298448" y="4681728"/>
            <a:ext cx="9646920" cy="804672"/>
          </a:xfrm>
          <a:prstGeom prst="rect">
            <a:avLst/>
          </a:prstGeom>
          <a:solidFill>
            <a:srgbClr val="F8FAFD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5217" y="4893882"/>
            <a:ext cx="344170" cy="379095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基础</a:t>
            </a:r>
            <a:endParaRPr sz="1150" b="1">
              <a:solidFill>
                <a:srgbClr val="889AB2"/>
              </a:solidFill>
              <a:latin typeface="Noto Sans CJK SC"/>
            </a:endParaRPr>
          </a:p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设施</a:t>
            </a:r>
            <a:endParaRPr sz="115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617720" y="1508760"/>
            <a:ext cx="2971800" cy="3657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frontend-vue  统一前端入口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33087" y="2331720"/>
            <a:ext cx="3950208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gateway / BFF  接入、路由、任务 API、SSE 转发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6108192" y="1883664"/>
            <a:ext cx="0" cy="438912"/>
          </a:xfrm>
          <a:prstGeom prst="line">
            <a:avLst/>
          </a:prstGeom>
          <a:ln w="1397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682496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public-service</a:t>
            </a:r>
            <a:endParaRPr sz="128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82496" y="3931920"/>
            <a:ext cx="1874519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公共能力中心</a:t>
            </a:r>
            <a:endParaRPr sz="95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69080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fastQA</a:t>
            </a:r>
            <a:endParaRPr sz="128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69080" y="3931920"/>
            <a:ext cx="1874519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fast / 文件执行</a:t>
            </a:r>
            <a:endParaRPr sz="95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46520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highThinkingQA</a:t>
            </a:r>
            <a:endParaRPr sz="128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46520" y="3931920"/>
            <a:ext cx="1874519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thinking 执行</a:t>
            </a:r>
            <a:endParaRPr sz="95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87968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patent</a:t>
            </a:r>
            <a:endParaRPr sz="128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87968" y="3931920"/>
            <a:ext cx="1874519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patent 执行</a:t>
            </a:r>
            <a:endParaRPr sz="95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108192" y="2724912"/>
            <a:ext cx="0" cy="402336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15184" y="3127248"/>
            <a:ext cx="721461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24328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10912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88352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29800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n 32"/>
          <p:cNvSpPr/>
          <p:nvPr/>
        </p:nvSpPr>
        <p:spPr>
          <a:xfrm>
            <a:off x="1984375" y="4828667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MySQL</a:t>
            </a:r>
            <a:endParaRPr sz="112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765300" y="5285232"/>
            <a:ext cx="2011680" cy="16459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用户 / 会话 / 元数据</a:t>
            </a:r>
            <a:endParaRPr sz="88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5" name="Can 34"/>
          <p:cNvSpPr/>
          <p:nvPr/>
        </p:nvSpPr>
        <p:spPr>
          <a:xfrm>
            <a:off x="4251960" y="4828032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Redis</a:t>
            </a:r>
            <a:endParaRPr sz="112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32250" y="5285232"/>
            <a:ext cx="2011680" cy="16459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任务状态 / 队列 / 缓存</a:t>
            </a:r>
            <a:endParaRPr sz="88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7" name="Can 36"/>
          <p:cNvSpPr/>
          <p:nvPr/>
        </p:nvSpPr>
        <p:spPr>
          <a:xfrm>
            <a:off x="6664325" y="4828032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MinIO</a:t>
            </a:r>
            <a:endParaRPr sz="112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77940" y="5285232"/>
            <a:ext cx="2011680" cy="16459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文件与对象存储</a:t>
            </a:r>
            <a:endParaRPr sz="88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9" name="Can 38"/>
          <p:cNvSpPr/>
          <p:nvPr/>
        </p:nvSpPr>
        <p:spPr>
          <a:xfrm>
            <a:off x="9034144" y="4828032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Neo4j</a:t>
            </a:r>
            <a:endParaRPr sz="112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823959" y="5285232"/>
            <a:ext cx="2011680" cy="16459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图数据支撑</a:t>
            </a:r>
            <a:endParaRPr sz="88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Gateway 统一入口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43000" y="1261872"/>
            <a:ext cx="9921240" cy="512064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20" b="1">
                <a:solidFill>
                  <a:srgbClr val="00459A"/>
                </a:solidFill>
                <a:latin typeface="Noto Sans CJK SC"/>
              </a:rPr>
              <a:t>统一管理前端到后端的入口协议，让公共能力与 QA 执行服务通过稳定边界协作。</a:t>
            </a:r>
            <a:endParaRPr sz="152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1560" y="2139696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1" y="2258568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前端接入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24328" y="2258568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统一承接 frontend-vue 请求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2139696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258568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鉴权透传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82128" y="2258568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保留用户身份与 trace 信息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560" y="3081528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1" y="3200400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公共接口代理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24328" y="3134614"/>
            <a:ext cx="2374265" cy="33274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auth / conversation / admin 等转发到 </a:t>
            </a:r>
            <a:endParaRPr sz="1000" b="0">
              <a:solidFill>
                <a:srgbClr val="222222"/>
              </a:solidFill>
              <a:latin typeface="Noto Sans CJK SC"/>
            </a:endParaRPr>
          </a:p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public-service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09360" y="3081528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200400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QA 路由决策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82128" y="3200400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按 mode、文件上下文和 route 选择执行服务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51560" y="4023360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6151" y="4142232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SSE 流式转发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24328" y="4142232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保持问答流式输出体验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09360" y="4023360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142232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任务 API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82128" y="4142232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创建、恢复、取消、事件回放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280160" y="5084064"/>
            <a:ext cx="9646920" cy="411480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0">
                <a:solidFill>
                  <a:srgbClr val="1E2A3A"/>
                </a:solidFill>
                <a:latin typeface="Noto Sans CJK SC"/>
              </a:rPr>
              <a:t>网关不是业务算法层，重点承担入口、协议、路由、任务和流式传输编排。</a:t>
            </a:r>
            <a:endParaRPr sz="1350" b="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Public-service 公共能力中心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57276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166420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auth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198424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登录、注册、鉴权、安全问题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57276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6420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conversation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54880" y="198424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会话、消息、任务状态绑定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75319" y="157276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6420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uploads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58199" y="198424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PDF / Excel 上传与文件登记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276148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39" y="285292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documents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" y="317296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原文查看、翻译、总结支撑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0" y="276148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85292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quota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54880" y="317296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配额模型与用量管理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75319" y="276148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85292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admin_users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58199" y="317296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用户管理、状态、类型、导入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8680" y="395020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39" y="404164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departments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51560" y="436168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三级部门字典与停启用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572000" y="395020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404164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personnel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54880" y="436168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人员主档、绑定、校验码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275319" y="395020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04164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system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58199" y="436168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健康、运行状态、系统接口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234440" y="5303520"/>
            <a:ext cx="9646920" cy="512064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459A"/>
                </a:solidFill>
                <a:latin typeface="Noto Sans CJK SC"/>
              </a:rPr>
              <a:t>公共能力集中后，gateway 负责代理与编排，QA 服务专注执行链路。</a:t>
            </a:r>
            <a:endParaRPr sz="16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QA 执行服务边界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2450592"/>
            <a:ext cx="2103120" cy="1143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560320"/>
            <a:ext cx="18836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frontend-vue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953512"/>
            <a:ext cx="1773936" cy="52120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会话交互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文件上下文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任务恢复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93008" y="2377440"/>
            <a:ext cx="2331720" cy="132588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248716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gateway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2880360"/>
            <a:ext cx="2002536" cy="70408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统一路由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SSE 转发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 API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92240" y="1554480"/>
            <a:ext cx="2148840" cy="868680"/>
          </a:xfrm>
          <a:prstGeom prst="roundRect">
            <a:avLst/>
          </a:prstGeom>
          <a:solidFill>
            <a:srgbClr val="F5FDFC"/>
          </a:solidFill>
          <a:ln w="1651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664207"/>
            <a:ext cx="192938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fastQA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56831" y="2057400"/>
            <a:ext cx="1819656" cy="24688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fast / 文件执行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92240" y="2743200"/>
            <a:ext cx="2148840" cy="868680"/>
          </a:xfrm>
          <a:prstGeom prst="roundRect">
            <a:avLst/>
          </a:prstGeom>
          <a:solidFill>
            <a:srgbClr val="FFF8E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852928"/>
            <a:ext cx="192938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highThinkingQA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56831" y="3246120"/>
            <a:ext cx="1819656" cy="24688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thinking 执行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92240" y="3931920"/>
            <a:ext cx="2148840" cy="868680"/>
          </a:xfrm>
          <a:prstGeom prst="roundRect">
            <a:avLst/>
          </a:prstGeom>
          <a:solidFill>
            <a:srgbClr val="F4FBF5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4041648"/>
            <a:ext cx="192938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patent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56831" y="4434840"/>
            <a:ext cx="1819656" cy="24688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patent 执行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400032" y="2542032"/>
            <a:ext cx="2148840" cy="120700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651760"/>
            <a:ext cx="192938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public-service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64624" y="3044952"/>
            <a:ext cx="1819656" cy="585216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认证与会话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文件与消息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管理员能力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2852928" y="3017520"/>
            <a:ext cx="64008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24728" y="1783080"/>
            <a:ext cx="667512" cy="1234440"/>
          </a:xfrm>
          <a:prstGeom prst="line">
            <a:avLst/>
          </a:prstGeom>
          <a:ln w="1905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24728" y="3017520"/>
            <a:ext cx="667512" cy="91440"/>
          </a:xfrm>
          <a:prstGeom prst="line">
            <a:avLst/>
          </a:prstGeom>
          <a:ln w="1905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24728" y="3017520"/>
            <a:ext cx="667512" cy="1417320"/>
          </a:xfrm>
          <a:prstGeom prst="line">
            <a:avLst/>
          </a:prstGeom>
          <a:ln w="1905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41080" y="3136392"/>
            <a:ext cx="758952" cy="0"/>
          </a:xfrm>
          <a:prstGeom prst="line">
            <a:avLst/>
          </a:prstGeom>
          <a:ln w="1905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97280" y="5047488"/>
            <a:ext cx="1005840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450">
                <a:solidFill>
                  <a:srgbClr val="1E2A3A"/>
                </a:solidFill>
                <a:latin typeface="Noto Sans CJK SC"/>
              </a:rPr>
              <a:t>边界表达：公共能力由 public-service 沉淀，执行服务保留各自模式能力，gateway 负责入口、路由与任务编排。</a:t>
            </a:r>
            <a:endParaRPr sz="14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pic>
        <p:nvPicPr>
          <p:cNvPr id="3" name="Picture 2" descr="tech_hand_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389888"/>
            <a:ext cx="6949440" cy="449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8368"/>
            <a:ext cx="1325880" cy="7315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4000" b="0">
                <a:solidFill>
                  <a:srgbClr val="889AB2"/>
                </a:solidFill>
                <a:latin typeface="Noto Sans CJK SC"/>
              </a:rPr>
              <a:t>03</a:t>
            </a:r>
            <a:endParaRPr sz="40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713232"/>
            <a:ext cx="1828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800" b="0">
                <a:solidFill>
                  <a:srgbClr val="889AB2"/>
                </a:solidFill>
                <a:latin typeface="Noto Sans CJK SC"/>
              </a:rPr>
              <a:t>|</a:t>
            </a:r>
            <a:endParaRPr sz="38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4560" y="658368"/>
            <a:ext cx="8046720" cy="7498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32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48072" y="2313432"/>
            <a:ext cx="3977639" cy="2423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8968" y="2560320"/>
            <a:ext cx="3337560" cy="32004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900" b="1">
                <a:solidFill>
                  <a:srgbClr val="00459A"/>
                </a:solidFill>
                <a:latin typeface="Noto Sans CJK SC"/>
              </a:rPr>
              <a:t>本节内容</a:t>
            </a:r>
            <a:endParaRPr sz="19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3560" y="3081528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01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2471" y="3081528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管理员能力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23560" y="3465576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02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1" y="3465576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任务模型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23560" y="3849624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03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62471" y="3849624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消息存储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23560" y="4233671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04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62471" y="4233671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部署支撑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pic>
        <p:nvPicPr>
          <p:cNvPr id="17" name="Picture 16" descr="wav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管理员与组织能力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登录鉴权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JWT / 登录状态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139696" y="2395728"/>
            <a:ext cx="40233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69463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7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安全问题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42615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首次设置 / 找回密码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995927" y="2395728"/>
            <a:ext cx="402337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25696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用户管理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98848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新增 / 启停 / 导入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5852160" y="2395728"/>
            <a:ext cx="40233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81928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部门字典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55080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一级 / 二级 / 三级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708392" y="2395728"/>
            <a:ext cx="40233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9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3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人员主档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11311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工号 / 姓名 / 状态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9564624" y="2395728"/>
            <a:ext cx="402335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94391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9255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人员绑定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67543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账号与人员校验绑定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024128" y="3703320"/>
            <a:ext cx="4800600" cy="123444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459A"/>
                </a:solidFill>
                <a:latin typeface="Noto Sans CJK SC"/>
              </a:rPr>
              <a:t>管理员侧
用户、部门、人员、批量导入等集中管理</a:t>
            </a:r>
            <a:endParaRPr sz="18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19088" y="3703320"/>
            <a:ext cx="4800600" cy="1234440"/>
          </a:xfrm>
          <a:prstGeom prst="roundRect">
            <a:avLst/>
          </a:prstGeom>
          <a:solidFill>
            <a:srgbClr val="F5FBF7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D7F4F"/>
                </a:solidFill>
                <a:latin typeface="Noto Sans CJK SC"/>
              </a:rPr>
              <a:t>用户侧
注册、个人中心、人员绑定与信息补全</a:t>
            </a:r>
            <a:endParaRPr sz="1800" b="1">
              <a:solidFill>
                <a:srgbClr val="2D7F4F"/>
              </a:solidFill>
              <a:latin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刷新可恢复任务模型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1325880" cy="329184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/>
            <a:r>
              <a:rPr sz="1500" b="1">
                <a:solidFill>
                  <a:srgbClr val="00459A"/>
                </a:solidFill>
                <a:latin typeface="Noto Sans CJK SC"/>
              </a:rPr>
              <a:t>task_id</a:t>
            </a:r>
            <a:endParaRPr sz="15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4028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1426464"/>
            <a:ext cx="142646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55AA"/>
                </a:solidFill>
                <a:latin typeface="Aptos"/>
              </a:rPr>
              <a:t>queued</a:t>
            </a:r>
            <a:endParaRPr sz="1250" b="1">
              <a:solidFill>
                <a:srgbClr val="0055A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13432" y="1700784"/>
            <a:ext cx="1426464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排队中</a:t>
            </a:r>
            <a:endParaRPr sz="105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1719072"/>
            <a:ext cx="50292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26464"/>
            <a:ext cx="142646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4E82C7"/>
                </a:solidFill>
                <a:latin typeface="Aptos"/>
              </a:rPr>
              <a:t>admitted</a:t>
            </a:r>
            <a:endParaRPr sz="1250" b="1">
              <a:solidFill>
                <a:srgbClr val="4E82C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62272" y="1700784"/>
            <a:ext cx="1426464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即将开始</a:t>
            </a:r>
            <a:endParaRPr sz="105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1719072"/>
            <a:ext cx="50292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3796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426464"/>
            <a:ext cx="142646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EE822F"/>
                </a:solidFill>
                <a:latin typeface="Aptos"/>
              </a:rPr>
              <a:t>running</a:t>
            </a:r>
            <a:endParaRPr sz="1250" b="1">
              <a:solidFill>
                <a:srgbClr val="EE822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11112" y="1700784"/>
            <a:ext cx="1426464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生成中</a:t>
            </a:r>
            <a:endParaRPr sz="105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138160" y="1719072"/>
            <a:ext cx="50292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80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9952" y="1426464"/>
            <a:ext cx="142646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55AA66"/>
                </a:solidFill>
                <a:latin typeface="Aptos"/>
              </a:rPr>
              <a:t>completed</a:t>
            </a:r>
            <a:endParaRPr sz="1250" b="1">
              <a:solidFill>
                <a:srgbClr val="55AA66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59952" y="1700784"/>
            <a:ext cx="1426464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已完成</a:t>
            </a:r>
            <a:endParaRPr sz="105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0584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127248"/>
            <a:ext cx="2048256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刷新恢复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70432" y="3520439"/>
            <a:ext cx="1938528" cy="7955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页面刷新后通过任务摘要发现任务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按 last_seq 继续回放事件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70332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127248"/>
            <a:ext cx="2048256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多任务并行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67911" y="3520439"/>
            <a:ext cx="1938528" cy="7955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不同会话任务可同时存在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用户侧保留可恢复状态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127248"/>
            <a:ext cx="2048256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取消控制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65392" y="3520439"/>
            <a:ext cx="1938528" cy="7955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刷新后停止仍取消真实任务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队列与运行态统一处理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09828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8007" y="3127248"/>
            <a:ext cx="2048256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事件回放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262872" y="3520439"/>
            <a:ext cx="1938528" cy="7955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SSE 事件带 seq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错过内容可补齐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60120" y="5010912"/>
            <a:ext cx="10241280" cy="43891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450">
                <a:solidFill>
                  <a:srgbClr val="1E2A3A"/>
                </a:solidFill>
                <a:latin typeface="Noto Sans CJK SC"/>
              </a:rPr>
              <a:t>核心价值：把问答从浏览器请求生命周期中解耦，形成可恢复、可观察、可取消的任务执行模型。</a:t>
            </a:r>
            <a:endParaRPr sz="14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消息持久化与存储支撑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37360"/>
            <a:ext cx="1682496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用户消息</a:t>
            </a:r>
            <a:endParaRPr sz="14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1832" y="2011680"/>
            <a:ext cx="1682496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20" b="0">
                <a:solidFill>
                  <a:srgbClr val="889AB2"/>
                </a:solidFill>
                <a:latin typeface="Aptos"/>
              </a:rPr>
              <a:t>user turn</a:t>
            </a:r>
            <a:endParaRPr sz="1020" b="0">
              <a:solidFill>
                <a:srgbClr val="889AB2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715768" y="2011680"/>
            <a:ext cx="603504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737360"/>
            <a:ext cx="1682496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占位消息</a:t>
            </a:r>
            <a:endParaRPr sz="14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56432" y="2011680"/>
            <a:ext cx="1682496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20" b="0">
                <a:solidFill>
                  <a:srgbClr val="889AB2"/>
                </a:solidFill>
                <a:latin typeface="Aptos"/>
              </a:rPr>
              <a:t>assistant placeholder</a:t>
            </a:r>
            <a:endParaRPr sz="1020" b="0">
              <a:solidFill>
                <a:srgbClr val="889AB2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230368" y="2011680"/>
            <a:ext cx="603504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978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1032" y="1737360"/>
            <a:ext cx="1682496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执行流</a:t>
            </a:r>
            <a:endParaRPr sz="14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71032" y="2011680"/>
            <a:ext cx="1682496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20" b="0">
                <a:solidFill>
                  <a:srgbClr val="889AB2"/>
                </a:solidFill>
                <a:latin typeface="Aptos"/>
              </a:rPr>
              <a:t>QA stream</a:t>
            </a:r>
            <a:endParaRPr sz="1020" b="0">
              <a:solidFill>
                <a:srgbClr val="889AB2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744968" y="2011680"/>
            <a:ext cx="603504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124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1737360"/>
            <a:ext cx="1682496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终态消息</a:t>
            </a:r>
            <a:endParaRPr sz="14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85632" y="2011680"/>
            <a:ext cx="1682496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20" b="0">
                <a:solidFill>
                  <a:srgbClr val="889AB2"/>
                </a:solidFill>
                <a:latin typeface="Aptos"/>
              </a:rPr>
              <a:t>assistant terminal</a:t>
            </a:r>
            <a:endParaRPr sz="102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0120" y="3182112"/>
            <a:ext cx="2880360" cy="1170432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3291840"/>
            <a:ext cx="266090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public-service authority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4712" y="3685032"/>
            <a:ext cx="2551176" cy="5486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会话、消息、文件元数据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task_id 与 active_task 绑定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26280" y="3182112"/>
            <a:ext cx="2121408" cy="11704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3291840"/>
            <a:ext cx="1901952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MySQL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90872" y="3685032"/>
            <a:ext cx="1792224" cy="5486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用户、会话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业务元数据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150608" y="3182112"/>
            <a:ext cx="2121408" cy="11704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3291840"/>
            <a:ext cx="1901952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MinIO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0" y="3685032"/>
            <a:ext cx="1792224" cy="5486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上传文件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原文与对象存储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784080" y="3182112"/>
            <a:ext cx="2121408" cy="11704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3807" y="3291840"/>
            <a:ext cx="1901952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Redis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948672" y="3685032"/>
            <a:ext cx="1792224" cy="5486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任务状态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队列与缓存支撑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60120" y="4892040"/>
            <a:ext cx="10607040" cy="47548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350">
                <a:solidFill>
                  <a:srgbClr val="1E2A3A"/>
                </a:solidFill>
                <a:latin typeface="Noto Sans CJK SC"/>
              </a:rPr>
              <a:t>表达边界：Redis 在本页只作为任务状态、队列和缓存支撑，不展开检索相关内容。</a:t>
            </a:r>
            <a:endParaRPr sz="13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前端与部署支撑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627632"/>
            <a:ext cx="4892040" cy="2944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737360"/>
            <a:ext cx="467258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前端配套能力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1" y="2130552"/>
            <a:ext cx="4562855" cy="2322576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右侧问题列表：点击定位到对应用户问题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管理员页面：用户、部门、人员与绑定管理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注册 / 个人中心：安全问题、人员绑定、信息补全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任务恢复 UI：展示排队中、即将开始、生成中等状态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46520" y="1627632"/>
            <a:ext cx="4892040" cy="2944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737360"/>
            <a:ext cx="467258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部署支撑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11112" y="2130552"/>
            <a:ext cx="4562855" cy="2322576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Docker Compose 编排 frontend、gateway 与后端服务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MySQL / Redis / MinIO 作为基础设施服务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数据包与 seed job 支撑交付环境初始化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服务脚本支持本地启动、停止与状态检查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833872" y="3017520"/>
            <a:ext cx="52120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3000" y="5138928"/>
            <a:ext cx="9966960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350">
                <a:solidFill>
                  <a:srgbClr val="1E2A3A"/>
                </a:solidFill>
                <a:latin typeface="Noto Sans CJK SC"/>
              </a:rPr>
              <a:t>部署部分保持简述，重点体现多服务运行和基础设施协同。</a:t>
            </a:r>
            <a:endParaRPr sz="13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当前状态与后续计划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当前状态与后续计划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672" y="1325880"/>
            <a:ext cx="10607040" cy="475488"/>
          </a:xfrm>
          <a:prstGeom prst="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17320"/>
            <a:ext cx="2011680" cy="23774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维度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36391" y="1417320"/>
            <a:ext cx="8138160" cy="23774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说明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4672" y="1801368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920240"/>
            <a:ext cx="201168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当前状态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27832" y="1920240"/>
            <a:ext cx="7955279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gateway、public-service、fastQA、highThinkingQA、patent 健康检查 ok</a:t>
            </a:r>
            <a:endParaRPr sz="12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4672" y="2331720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450591"/>
            <a:ext cx="201168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架构链路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27832" y="2450591"/>
            <a:ext cx="7955279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frontend-vue 经 gateway 统一接入，公共能力与 QA 执行服务分层协作</a:t>
            </a:r>
            <a:endParaRPr sz="12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4672" y="2862072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980944"/>
            <a:ext cx="201168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平台能力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27832" y="2980944"/>
            <a:ext cx="7955279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管理员、部门、人员、任务模型、消息持久化与存储支撑已形成主线</a:t>
            </a:r>
            <a:endParaRPr sz="12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4672" y="3392424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511296"/>
            <a:ext cx="201168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部署支撑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832" y="3511296"/>
            <a:ext cx="7955279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Docker Compose、多服务镜像、MySQL / Redis / MinIO 等交付要素已整理</a:t>
            </a:r>
            <a:endParaRPr sz="12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41248" y="4078224"/>
            <a:ext cx="10561320" cy="1234440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206240"/>
            <a:ext cx="201168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459A"/>
                </a:solidFill>
                <a:latin typeface="Noto Sans CJK SC"/>
              </a:rPr>
              <a:t>后续计划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70432" y="4526280"/>
            <a:ext cx="9784080" cy="594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450">
                <a:solidFill>
                  <a:srgbClr val="1E2A3A"/>
                </a:solidFill>
                <a:latin typeface="Noto Sans CJK SC"/>
              </a:rPr>
              <a:t>测试与 smoke 校验、监控与日志观测、MinIO 一致性收口、部署 runbook 与运维可观测性。</a:t>
            </a:r>
            <a:endParaRPr sz="14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Gateway 请求流转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188720"/>
            <a:ext cx="9875520" cy="31089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450" b="0">
                <a:solidFill>
                  <a:srgbClr val="1E2A3A"/>
                </a:solidFill>
                <a:latin typeface="Noto Sans CJK SC"/>
              </a:rPr>
              <a:t>从前端统一进入网关后，按公共能力、问答任务和文件上下文进行分流与编排。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1755648" cy="142646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11680"/>
            <a:ext cx="1536192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前端请求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04872"/>
            <a:ext cx="1426464" cy="80467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问题 / 会话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文件上下文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用户身份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41448" y="2615184"/>
            <a:ext cx="338328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01952"/>
            <a:ext cx="1755648" cy="142646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2011680"/>
            <a:ext cx="1536192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Gateway 接入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04872"/>
            <a:ext cx="1426464" cy="80467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鉴权透传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请求归一化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trace 记录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615184"/>
            <a:ext cx="338328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47488" y="1901952"/>
            <a:ext cx="1755648" cy="142646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2011680"/>
            <a:ext cx="1536192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路由判定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2404872"/>
            <a:ext cx="1426464" cy="80467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公共接口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QA route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 API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30568" y="2615184"/>
            <a:ext cx="338328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42048" y="1901952"/>
            <a:ext cx="1755648" cy="142646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51775" y="2011680"/>
            <a:ext cx="1536192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执行/代理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404872"/>
            <a:ext cx="1426464" cy="80467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public-service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QA 后端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SSE 转发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25128" y="2615184"/>
            <a:ext cx="338328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36608" y="1901952"/>
            <a:ext cx="1755648" cy="142646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2011680"/>
            <a:ext cx="1536192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返回前端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404872"/>
            <a:ext cx="1426464" cy="80467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流式事件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状态同步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错误归一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069080"/>
            <a:ext cx="10378440" cy="960120"/>
          </a:xfrm>
          <a:prstGeom prst="roundRect">
            <a:avLst/>
          </a:prstGeom>
          <a:solidFill>
            <a:srgbClr val="F7FA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187952"/>
            <a:ext cx="1828800" cy="23774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00459A"/>
                </a:solidFill>
                <a:latin typeface="Noto Sans CJK SC"/>
              </a:rPr>
              <a:t>关键边界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187952"/>
            <a:ext cx="8001000" cy="4572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320">
                <a:solidFill>
                  <a:srgbClr val="1E2A3A"/>
                </a:solidFill>
                <a:latin typeface="Noto Sans CJK SC"/>
              </a:rPr>
              <a:t>网关负责入口、协议、路由、任务和流式传输编排；公共业务写入与会话权威仍由 public-service 承接。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管理员能力展开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26464"/>
            <a:ext cx="2240280" cy="2880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6192"/>
            <a:ext cx="2020824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账号体系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1911096" cy="22585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登录 / 鉴权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安全问题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用户启停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密码重置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2862072"/>
            <a:ext cx="493776" cy="0"/>
          </a:xfrm>
          <a:prstGeom prst="line">
            <a:avLst/>
          </a:prstGeom>
          <a:ln w="1143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84448" y="1426464"/>
            <a:ext cx="2240280" cy="2880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1536192"/>
            <a:ext cx="2020824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组织体系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929384"/>
            <a:ext cx="1911096" cy="22585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三级部门字典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部门停启用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部门导入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部门关联人员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60" y="2862072"/>
            <a:ext cx="493776" cy="0"/>
          </a:xfrm>
          <a:prstGeom prst="line">
            <a:avLst/>
          </a:prstGeom>
          <a:ln w="1143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19088" y="1426464"/>
            <a:ext cx="2240280" cy="2880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536192"/>
            <a:ext cx="2020824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人员体系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29384"/>
            <a:ext cx="1911096" cy="22585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人员主档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工号 / 姓名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校验码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人员停启用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2862072"/>
            <a:ext cx="493776" cy="0"/>
          </a:xfrm>
          <a:prstGeom prst="line">
            <a:avLst/>
          </a:prstGeom>
          <a:ln w="1143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53728" y="1426464"/>
            <a:ext cx="2240280" cy="2880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1536192"/>
            <a:ext cx="2020824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绑定关系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929384"/>
            <a:ext cx="1911096" cy="22585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账号绑定人员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管理员修复绑定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用户自助绑定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批量导入辅助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4892040"/>
            <a:ext cx="10149840" cy="64008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建设结果：管理员侧统一维护账号、部门、人员和绑定关系；用户侧通过注册与个人中心完成必要信息补全。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任务恢复时序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261872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459A"/>
                </a:solidFill>
                <a:latin typeface="Noto Sans CJK SC"/>
              </a:rPr>
              <a:t>frontend-vue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73352" y="1664208"/>
            <a:ext cx="0" cy="3639312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6120" y="1261872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459A"/>
                </a:solidFill>
                <a:latin typeface="Noto Sans CJK SC"/>
              </a:rPr>
              <a:t>gateway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59352" y="1664208"/>
            <a:ext cx="0" cy="3639312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32120" y="1261872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459A"/>
                </a:solidFill>
                <a:latin typeface="Noto Sans CJK SC"/>
              </a:rPr>
              <a:t>Redis 状态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45352" y="1664208"/>
            <a:ext cx="0" cy="3639312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20" y="1261872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459A"/>
                </a:solidFill>
                <a:latin typeface="Noto Sans CJK SC"/>
              </a:rPr>
              <a:t>public-service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31352" y="1664208"/>
            <a:ext cx="0" cy="3639312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04120" y="1261872"/>
            <a:ext cx="1417320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459A"/>
                </a:solidFill>
                <a:latin typeface="Noto Sans CJK SC"/>
              </a:rPr>
              <a:t>QA 后端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17352" y="1664208"/>
            <a:ext cx="0" cy="3639312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73352" y="1965960"/>
            <a:ext cx="2286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64792" y="1746504"/>
            <a:ext cx="2103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创建 task_id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59352" y="2395728"/>
            <a:ext cx="4572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50791" y="2176272"/>
            <a:ext cx="4389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写入 user turn / placeholder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59352" y="2834640"/>
            <a:ext cx="2286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50791" y="2615184"/>
            <a:ext cx="2103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记录 queued / running / seq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59352" y="3273552"/>
            <a:ext cx="6858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50791" y="3054096"/>
            <a:ext cx="6675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发起执行并接收 SSE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73352" y="3712463"/>
            <a:ext cx="2286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764792" y="3493007"/>
            <a:ext cx="2103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页面刷新后查询 active_task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59352" y="4151376"/>
            <a:ext cx="2286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050791" y="3931920"/>
            <a:ext cx="2103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按 last_seq 回放事件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59352" y="4590288"/>
            <a:ext cx="45720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050791" y="4370831"/>
            <a:ext cx="4389120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Noto Sans CJK SC"/>
              </a:rPr>
              <a:t>同步进度与终态消息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5532120"/>
            <a:ext cx="10104120" cy="384048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0">
                <a:solidFill>
                  <a:srgbClr val="1E2A3A"/>
                </a:solidFill>
                <a:latin typeface="Noto Sans CJK SC"/>
              </a:rPr>
              <a:t>刷新后不是重新发起问答，而是重新附着到真实任务并补齐错过的事件。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消息持久化链路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192024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08760"/>
            <a:ext cx="177393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00459A"/>
                </a:solidFill>
                <a:latin typeface="Aptos"/>
              </a:rPr>
              <a:t>user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773936"/>
            <a:ext cx="1773936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用户问题先写入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52928" y="1755648"/>
            <a:ext cx="731520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0" y="1417320"/>
            <a:ext cx="192024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508760"/>
            <a:ext cx="177393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00459A"/>
                </a:solidFill>
                <a:latin typeface="Aptos"/>
              </a:rPr>
              <a:t>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1773936"/>
            <a:ext cx="1773936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任务占位消息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96128" y="1755648"/>
            <a:ext cx="731520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0" y="1417320"/>
            <a:ext cx="192024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508760"/>
            <a:ext cx="177393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00459A"/>
                </a:solidFill>
                <a:latin typeface="Aptos"/>
              </a:rPr>
              <a:t>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773936"/>
            <a:ext cx="1773936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内容与步骤进度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39328" y="1755648"/>
            <a:ext cx="731520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0" y="1417320"/>
            <a:ext cx="192024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1508760"/>
            <a:ext cx="177393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00459A"/>
                </a:solidFill>
                <a:latin typeface="Aptos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1773936"/>
            <a:ext cx="1773936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19" b="0">
                <a:solidFill>
                  <a:srgbClr val="222222"/>
                </a:solidFill>
                <a:latin typeface="Noto Sans CJK SC"/>
              </a:rPr>
              <a:t>完成 / 失败 / 取消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47872" y="2788920"/>
            <a:ext cx="5102352" cy="73152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public-service 会话 authority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08192" y="2084831"/>
            <a:ext cx="0" cy="704089"/>
          </a:xfrm>
          <a:prstGeom prst="line">
            <a:avLst/>
          </a:prstGeom>
          <a:ln w="1524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08192" y="3520440"/>
            <a:ext cx="0" cy="393192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76272" y="3913632"/>
            <a:ext cx="7808976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234440" y="4224528"/>
            <a:ext cx="1874519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44168" y="4334256"/>
            <a:ext cx="16550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MySQL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727448"/>
            <a:ext cx="1545336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用户、会话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业务元数据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167128" y="3913632"/>
            <a:ext cx="0" cy="310896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840480" y="4224528"/>
            <a:ext cx="1874519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50208" y="4334256"/>
            <a:ext cx="16550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JSON 文档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5072" y="4727448"/>
            <a:ext cx="1545336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会话主文档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历史回放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773168" y="3913632"/>
            <a:ext cx="0" cy="310896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46520" y="4224528"/>
            <a:ext cx="1874519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4334256"/>
            <a:ext cx="16550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MinIO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4727448"/>
            <a:ext cx="1545336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文件对象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远端副本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79208" y="3913632"/>
            <a:ext cx="0" cy="310896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052560" y="4224528"/>
            <a:ext cx="1874519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334256"/>
            <a:ext cx="1655063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Redis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4727448"/>
            <a:ext cx="1545336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状态缓存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队列支撑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985248" y="3913632"/>
            <a:ext cx="0" cy="310896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当前状态与后续计划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部署交付支撑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417320"/>
            <a:ext cx="992124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618488"/>
            <a:ext cx="128016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入口层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18488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frontend nginx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18488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514600"/>
            <a:ext cx="992124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715768"/>
            <a:ext cx="128016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服务层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715768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public-service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15768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fastQA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715768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highThinkingQA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2715768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patent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703320"/>
            <a:ext cx="992124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3904487"/>
            <a:ext cx="128016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基础设施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904487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904487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904487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MinIO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3904487"/>
            <a:ext cx="15544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080" b="0">
                <a:solidFill>
                  <a:srgbClr val="1E2A3A"/>
                </a:solidFill>
                <a:latin typeface="Aptos"/>
              </a:rPr>
              <a:t>Neo4j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08192" y="2130552"/>
            <a:ext cx="0" cy="384048"/>
          </a:xfrm>
          <a:prstGeom prst="line">
            <a:avLst/>
          </a:prstGeom>
          <a:ln w="1524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08192" y="3227832"/>
            <a:ext cx="0" cy="475488"/>
          </a:xfrm>
          <a:prstGeom prst="line">
            <a:avLst/>
          </a:prstGeom>
          <a:ln w="1524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34440" y="4892040"/>
            <a:ext cx="9738360" cy="594360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0">
                <a:solidFill>
                  <a:srgbClr val="1E2A3A"/>
                </a:solidFill>
                <a:latin typeface="Noto Sans CJK SC"/>
              </a:rPr>
              <a:t>部署部分保持简述：强调多服务编排、基础设施协同、数据包与 seed job 支撑交付环境初始化。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3138</Words>
  <Application>WPS 演示</Application>
  <PresentationFormat>On-screen Show (4:3)</PresentationFormat>
  <Paragraphs>546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Arial</vt:lpstr>
      <vt:lpstr>Noto Sans CJK SC</vt:lpstr>
      <vt:lpstr>Thonburi</vt:lpstr>
      <vt:lpstr>Aptos</vt:lpstr>
      <vt:lpstr>Helvetica Neue</vt:lpstr>
      <vt:lpstr>Calibri</vt:lpstr>
      <vt:lpstr>宋体</vt:lpstr>
      <vt:lpstr>汉仪书宋二KW</vt:lpstr>
      <vt:lpstr>微软雅黑</vt:lpstr>
      <vt:lpstr>汉仪旗黑</vt:lpstr>
      <vt:lpstr>Arial Unicode MS</vt:lpstr>
      <vt:lpstr>Aptos</vt:lpstr>
      <vt:lpstr>Noto Sans CJK SC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S202588296</cp:lastModifiedBy>
  <cp:revision>2</cp:revision>
  <dcterms:created xsi:type="dcterms:W3CDTF">2026-05-19T08:00:24Z</dcterms:created>
  <dcterms:modified xsi:type="dcterms:W3CDTF">2026-05-19T08:00:24Z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E2B2EAF507C5FFE398180C6AA64375FB_42</vt:lpwstr>
  </property>
  <property fmtid="{D5CDD505-2E9C-101B-9397-08002B2CF9AE}" pid="3" name="KSOProductBuildVer">
    <vt:lpwstr>2052-12.1.23540.23540</vt:lpwstr>
  </property>
</Properties>
</file>