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21"/>
    <p:sldId id="263" r:id="rId10"/>
    <p:sldId id="264" r:id="rId11"/>
    <p:sldId id="265" r:id="rId12"/>
    <p:sldId id="266" r:id="rId13"/>
    <p:sldId id="272" r:id="rId22"/>
    <p:sldId id="276" r:id="rId26"/>
    <p:sldId id="267" r:id="rId14"/>
    <p:sldId id="277" r:id="rId27"/>
    <p:sldId id="273" r:id="rId23"/>
    <p:sldId id="278" r:id="rId28"/>
    <p:sldId id="268" r:id="rId15"/>
    <p:sldId id="274" r:id="rId24"/>
    <p:sldId id="279" r:id="rId29"/>
    <p:sldId id="280" r:id="rId30"/>
    <p:sldId id="269" r:id="rId16"/>
    <p:sldId id="275" r:id="rId25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20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8.xml"/><Relationship Id="rId22" Type="http://schemas.openxmlformats.org/officeDocument/2006/relationships/slide" Target="slides/slide13.xml"/><Relationship Id="rId23" Type="http://schemas.openxmlformats.org/officeDocument/2006/relationships/slide" Target="slides/slide15.xml"/><Relationship Id="rId24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75488"/>
            <a:ext cx="117043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987552"/>
            <a:ext cx="978408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Noto Sans CJK SC"/>
              </a:rPr>
              <a:t>后端架构重构与平台能力建设汇报</a:t>
            </a:r>
            <a:endParaRPr sz="3600" b="1">
              <a:solidFill>
                <a:srgbClr val="000000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1773936"/>
            <a:ext cx="969264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00" b="0">
                <a:solidFill>
                  <a:srgbClr val="889AB2"/>
                </a:solidFill>
                <a:latin typeface="Aptos"/>
              </a:rPr>
              <a:t>Backend Architecture Refactoring &amp; Platform Capability Report</a:t>
            </a:r>
            <a:endParaRPr sz="1500" b="0">
              <a:solidFill>
                <a:srgbClr val="889AB2"/>
              </a:solidFill>
              <a:latin typeface="Aptos"/>
            </a:endParaRP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1" y="2487168"/>
            <a:ext cx="4343400" cy="2171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600" y="4187952"/>
            <a:ext cx="210312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报告人：xxx</a:t>
            </a:r>
            <a:endParaRPr sz="200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4920" y="4187952"/>
            <a:ext cx="365760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时  间：2026年xx月xx日</a:t>
            </a:r>
            <a:endParaRPr sz="2000" b="1">
              <a:solidFill>
                <a:srgbClr val="889AB2"/>
              </a:solidFill>
              <a:latin typeface="Noto Sans CJK SC"/>
            </a:endParaRPr>
          </a:p>
        </p:txBody>
      </p:sp>
      <p:pic>
        <p:nvPicPr>
          <p:cNvPr id="8" name="Picture 7" descr="wa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5175504" cy="694944"/>
          </a:xfrm>
          <a:prstGeom prst="roundRect">
            <a:avLst/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713232"/>
            <a:ext cx="713232" cy="713232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49808"/>
            <a:ext cx="19202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900" b="1">
                <a:solidFill>
                  <a:srgbClr val="0055AA"/>
                </a:solidFill>
                <a:latin typeface="Aptos"/>
              </a:rPr>
              <a:t>CONTENTS</a:t>
            </a:r>
            <a:endParaRPr sz="2900" b="1">
              <a:solidFill>
                <a:srgbClr val="0055A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26280" y="786384"/>
            <a:ext cx="1005840" cy="4572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Noto Sans CJK SC"/>
              </a:rPr>
              <a:t>目录</a:t>
            </a:r>
            <a:endParaRPr sz="2200" b="1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084831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01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80360" y="2139696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27248" y="2194560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12280" y="2084831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02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2139696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0728" y="2194560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3703320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03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0824" y="3758183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67712" y="3813048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06440" y="3703320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04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758183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04888" y="3813048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19" name="Picture 18" descr="wa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01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2148967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395855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2917063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2917063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服务分工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30111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30111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公共能力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685159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685159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任务连续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406920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406920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工程支撑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01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1074420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Noto Sans CJK SC"/>
              </a:rPr>
              <a:t>围绕多模式问答、管理员能力、长任务执行和部署交付，后端架构逐步形成更清晰的服务分工和统一支撑能力。</a:t>
            </a:r>
            <a:endParaRPr sz="1800" b="1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2331720" cy="173736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服务分工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统一前端入口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gateway 承接接入与路由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服务聚焦执行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11880" y="2697480"/>
            <a:ext cx="2331720" cy="1737360"/>
          </a:xfrm>
          <a:prstGeom prst="roundRect">
            <a:avLst/>
          </a:prstGeom>
          <a:solidFill>
            <a:srgbClr val="F2F7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公共能力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647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认证、会话、上传、文档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管理员、部门、人员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配额与系统接口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2331720" cy="1737360"/>
          </a:xfrm>
          <a:prstGeom prst="roundRect">
            <a:avLst/>
          </a:prstGeom>
          <a:solidFill>
            <a:srgbClr val="F4FBF8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任务连续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539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任务身份 task_id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刷新恢复与事件回放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多任务并行与取消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2697480"/>
            <a:ext cx="2331720" cy="1737360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工程支撑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5431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统一资源目录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部署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7103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5995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681728"/>
            <a:ext cx="1033272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550">
                <a:solidFill>
                  <a:srgbClr val="1E2A3A"/>
                </a:solidFill>
                <a:latin typeface="Noto Sans CJK SC"/>
              </a:rPr>
              <a:t>汇报重点：后端架构设计、公共能力沉淀、任务模型、消息持久化、存储缓存支撑、前端局部能力与部署支撑。</a:t>
            </a:r>
            <a:endParaRPr sz="15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02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190195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148840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2670048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2670048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总体拓扑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05409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05409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Gateway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438144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438144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Public-service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382219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382219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QA 边界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系统总体架构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8448" y="1426464"/>
            <a:ext cx="964692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581912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前端入口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98448" y="2249424"/>
            <a:ext cx="9646920" cy="621792"/>
          </a:xfrm>
          <a:prstGeom prst="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450591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统一网关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8448" y="3218688"/>
            <a:ext cx="96469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3621024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后端服务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98448" y="4681728"/>
            <a:ext cx="9646920" cy="80467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5217" y="4893882"/>
            <a:ext cx="344170" cy="379095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基础</a:t>
            </a:r>
            <a:endParaRPr sz="1150" b="1">
              <a:solidFill>
                <a:srgbClr val="889AB2"/>
              </a:solidFill>
              <a:latin typeface="Noto Sans CJK SC"/>
            </a:endParaRPr>
          </a:p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设施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617720" y="1508760"/>
            <a:ext cx="2971800" cy="365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frontend-vue  统一前端入口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33087" y="2331720"/>
            <a:ext cx="3950208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gateway / BFF  接入、路由、任务 API、SSE 转发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108192" y="1883664"/>
            <a:ext cx="0" cy="438912"/>
          </a:xfrm>
          <a:prstGeom prst="line">
            <a:avLst/>
          </a:prstGeom>
          <a:ln w="1397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682496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public-service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82496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公共能力中心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908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fastQA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69080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fast / 文件执行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highThinkingQA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thinking 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87968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patent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87968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patent 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08192" y="2724912"/>
            <a:ext cx="0" cy="402336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15184" y="3127248"/>
            <a:ext cx="721461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24328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1091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8835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1984375" y="4828667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MySQL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6530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用户 / 会话 / 元数据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Can 34"/>
          <p:cNvSpPr/>
          <p:nvPr/>
        </p:nvSpPr>
        <p:spPr>
          <a:xfrm>
            <a:off x="4251960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Redis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3225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任务状态 / 队列 / 缓存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7" name="Can 36"/>
          <p:cNvSpPr/>
          <p:nvPr/>
        </p:nvSpPr>
        <p:spPr>
          <a:xfrm>
            <a:off x="6664325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MinIO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7794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文件与对象存储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9" name="Can 38"/>
          <p:cNvSpPr/>
          <p:nvPr/>
        </p:nvSpPr>
        <p:spPr>
          <a:xfrm>
            <a:off x="9034144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Neo4j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23959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图数据支撑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Gateway 统一入口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43000" y="1261872"/>
            <a:ext cx="992124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20" b="1">
                <a:solidFill>
                  <a:srgbClr val="00459A"/>
                </a:solidFill>
                <a:latin typeface="Noto Sans CJK SC"/>
              </a:rPr>
              <a:t>统一管理前端到后端的入口协议，让公共能力与 QA 执行服务通过稳定边界协作。</a:t>
            </a:r>
            <a:endParaRPr sz="152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2258568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前端接入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24328" y="2258568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统一承接 frontend-vue 请求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58568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鉴权透传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82128" y="2258568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保留用户身份与 trace 信息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5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3200400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公共接口代理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24328" y="3134614"/>
            <a:ext cx="2374265" cy="3327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auth / conversation / admin 等转发到 </a:t>
            </a:r>
            <a:endParaRPr sz="1000" b="0">
              <a:solidFill>
                <a:srgbClr val="222222"/>
              </a:solidFill>
              <a:latin typeface="Noto Sans CJK SC"/>
            </a:endParaRPr>
          </a:p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public-service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QA 路由决策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2128" y="3200400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按 mode、文件上下文和 route 选择执行服务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4142232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SSE 流式转发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24328" y="4142232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保持问答流式输出体验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42232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任务 API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2128" y="4142232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创建、恢复、取消、事件回放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80160" y="5084064"/>
            <a:ext cx="9646920" cy="41148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0">
                <a:solidFill>
                  <a:srgbClr val="1E2A3A"/>
                </a:solidFill>
                <a:latin typeface="Noto Sans CJK SC"/>
              </a:rPr>
              <a:t>网关不是业务算法层，重点承担入口、协议、路由、任务和流式传输编排。</a:t>
            </a:r>
            <a:endParaRPr sz="1350" b="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Gateway 请求流转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88720"/>
            <a:ext cx="98755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450" b="0">
                <a:solidFill>
                  <a:srgbClr val="1E2A3A"/>
                </a:solidFill>
                <a:latin typeface="Noto Sans CJK SC"/>
              </a:rPr>
              <a:t>从前端统一进入网关后，按公共能力、问答任务和文件上下文进行分流与编排。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前端请求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问题 / 会话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文件上下文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用户身份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Gateway 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鉴权透传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请求归一化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trace 记录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4748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路由判定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公共接口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route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3056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4204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5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执行/代理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public-service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后端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转发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2512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3660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返回前端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流式事件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状态同步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错误归一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069080"/>
            <a:ext cx="10378440" cy="960120"/>
          </a:xfrm>
          <a:prstGeom prst="roundRect">
            <a:avLst/>
          </a:prstGeom>
          <a:solidFill>
            <a:srgbClr val="F7FA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187952"/>
            <a:ext cx="1828800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关键边界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187952"/>
            <a:ext cx="8001000" cy="457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20">
                <a:solidFill>
                  <a:srgbClr val="1E2A3A"/>
                </a:solidFill>
                <a:latin typeface="Noto Sans CJK SC"/>
              </a:rPr>
              <a:t>网关负责入口、协议、路由、任务和流式传输编排；公共业务写入与会话权威仍由 public-service 承接。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Public-service 公共能力中心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auth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登录、注册、鉴权、安全问题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conversation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0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会话、消息、任务状态绑定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19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uploads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199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PDF / Excel 上传与文件登记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39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documents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原文查看、翻译、总结支撑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quota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配额模型与用量管理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75319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admin_users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199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用户管理、状态、类型、导入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868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departments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三级部门字典与停启用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personnel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80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人员主档、绑定、校验码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75319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system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8199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健康、运行状态、系统接口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34440" y="5303520"/>
            <a:ext cx="964692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459A"/>
                </a:solidFill>
                <a:latin typeface="Noto Sans CJK SC"/>
              </a:rPr>
              <a:t>公共能力集中后，gateway 负责代理与编排，QA 服务专注执行链路。</a:t>
            </a:r>
            <a:endParaRPr sz="16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QA 执行服务边界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450592"/>
            <a:ext cx="210312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18836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frontend-vue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773936" cy="52120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会话交互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文件上下文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93008" y="2377440"/>
            <a:ext cx="2331720" cy="132588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48716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gateway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880360"/>
            <a:ext cx="2002536" cy="7040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统一路由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转发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 API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1554480"/>
            <a:ext cx="2148840" cy="868680"/>
          </a:xfrm>
          <a:prstGeom prst="roundRect">
            <a:avLst/>
          </a:prstGeom>
          <a:solidFill>
            <a:srgbClr val="F5FDFC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664207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fastQA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56831" y="205740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fast / 文件执行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92240" y="2743200"/>
            <a:ext cx="2148840" cy="868680"/>
          </a:xfrm>
          <a:prstGeom prst="roundRect">
            <a:avLst/>
          </a:prstGeom>
          <a:solidFill>
            <a:srgbClr val="FFF8E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52928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highThinkingQA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1" y="324612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thinking 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3931920"/>
            <a:ext cx="2148840" cy="868680"/>
          </a:xfrm>
          <a:prstGeom prst="roundRect">
            <a:avLst/>
          </a:prstGeom>
          <a:solidFill>
            <a:srgbClr val="F4FBF5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041648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patent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56831" y="443484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patent 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400032" y="2542032"/>
            <a:ext cx="2148840" cy="12070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651760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64624" y="3044952"/>
            <a:ext cx="1819656" cy="58521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认证与会话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文件与消息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管理员能力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852928" y="3017520"/>
            <a:ext cx="64008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24728" y="1783080"/>
            <a:ext cx="667512" cy="1234440"/>
          </a:xfrm>
          <a:prstGeom prst="line">
            <a:avLst/>
          </a:prstGeom>
          <a:ln w="1905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24728" y="3017520"/>
            <a:ext cx="667512" cy="91440"/>
          </a:xfrm>
          <a:prstGeom prst="line">
            <a:avLst/>
          </a:prstGeom>
          <a:ln w="1905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24728" y="3017520"/>
            <a:ext cx="667512" cy="1417320"/>
          </a:xfrm>
          <a:prstGeom prst="line">
            <a:avLst/>
          </a:prstGeom>
          <a:ln w="1905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41080" y="3136392"/>
            <a:ext cx="758952" cy="0"/>
          </a:xfrm>
          <a:prstGeom prst="line">
            <a:avLst/>
          </a:prstGeom>
          <a:ln w="1905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5047488"/>
            <a:ext cx="1005840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边界表达：公共能力由 public-service 沉淀，执行服务保留各自模式能力，gateway 负责入口、路由与任务编排。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03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231343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560320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3081528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3081528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管理员能力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46557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46557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任务模型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849624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849624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消息存储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423367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423367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管理员与组织能力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登录鉴权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JWT / 登录状态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9463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安全问题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2615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首次设置 / 找回密码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995927" y="2395728"/>
            <a:ext cx="402337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25696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用户管理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98848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新增 / 启停 / 导入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1928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部门字典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一级 / 二级 / 三级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08392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9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人员主档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1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工号 / 姓名 / 状态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564624" y="2395728"/>
            <a:ext cx="402335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94391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9255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人员绑定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67543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账号与人员校验绑定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24128" y="3703320"/>
            <a:ext cx="4800600" cy="123444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459A"/>
                </a:solidFill>
                <a:latin typeface="Noto Sans CJK SC"/>
              </a:rPr>
              <a:t>管理员侧
用户、部门、人员、批量导入等集中管理</a:t>
            </a:r>
            <a:endParaRPr sz="18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19088" y="3703320"/>
            <a:ext cx="4800600" cy="1234440"/>
          </a:xfrm>
          <a:prstGeom prst="roundRect">
            <a:avLst/>
          </a:prstGeom>
          <a:solidFill>
            <a:srgbClr val="F5FBF7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D7F4F"/>
                </a:solidFill>
                <a:latin typeface="Noto Sans CJK SC"/>
              </a:rPr>
              <a:t>用户侧
注册、个人中心、人员绑定与信息补全</a:t>
            </a:r>
            <a:endParaRPr sz="1800" b="1">
              <a:solidFill>
                <a:srgbClr val="2D7F4F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管理员能力展开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账号体系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登录 / 鉴权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安全问题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用户启停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密码重置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862072"/>
            <a:ext cx="493776" cy="0"/>
          </a:xfrm>
          <a:prstGeom prst="line">
            <a:avLst/>
          </a:prstGeom>
          <a:ln w="1143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8444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组织体系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三级部门字典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部门停启用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部门导入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部门关联人员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862072"/>
            <a:ext cx="493776" cy="0"/>
          </a:xfrm>
          <a:prstGeom prst="line">
            <a:avLst/>
          </a:prstGeom>
          <a:ln w="1143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1908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人员体系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人员主档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工号 / 姓名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校验码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人员停启用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862072"/>
            <a:ext cx="493776" cy="0"/>
          </a:xfrm>
          <a:prstGeom prst="line">
            <a:avLst/>
          </a:prstGeom>
          <a:ln w="1143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5372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绑定关系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账号绑定人员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管理员修复绑定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用户自助绑定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批量导入辅助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4892040"/>
            <a:ext cx="10149840" cy="64008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建设结果：管理员侧统一维护账号、部门、人员和绑定关系；用户侧通过注册与个人中心完成必要信息补全。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刷新可恢复任务模型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325880" cy="32918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task_id</a:t>
            </a:r>
            <a:endParaRPr sz="15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55AA"/>
                </a:solidFill>
                <a:latin typeface="Aptos"/>
              </a:rPr>
              <a:t>queued</a:t>
            </a:r>
            <a:endParaRPr sz="1250" b="1">
              <a:solidFill>
                <a:srgbClr val="0055A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1343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排队中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4E82C7"/>
                </a:solidFill>
                <a:latin typeface="Aptos"/>
              </a:rPr>
              <a:t>admitted</a:t>
            </a:r>
            <a:endParaRPr sz="1250" b="1">
              <a:solidFill>
                <a:srgbClr val="4E82C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227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即将开始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EE822F"/>
                </a:solidFill>
                <a:latin typeface="Aptos"/>
              </a:rPr>
              <a:t>running</a:t>
            </a:r>
            <a:endParaRPr sz="1250" b="1">
              <a:solidFill>
                <a:srgbClr val="EE822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1111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生成中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55AA66"/>
                </a:solidFill>
                <a:latin typeface="Aptos"/>
              </a:rPr>
              <a:t>completed</a:t>
            </a:r>
            <a:endParaRPr sz="1250" b="1">
              <a:solidFill>
                <a:srgbClr val="55AA6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5995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已完成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0584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刷新恢复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043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页面刷新后通过任务摘要发现任务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按 last_seq 继续回放事件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0332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多任务并行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67911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不同会话任务可同时存在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用户侧保留可恢复状态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取消控制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刷新后停止仍取消真实任务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队列与运行态统一处理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9828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7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事件回放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6287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事件带 seq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错过内容可补齐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0120" y="5010912"/>
            <a:ext cx="10241280" cy="43891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核心价值：把问答从浏览器请求生命周期中解耦，形成可恢复、可观察、可取消的任务执行模型。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任务恢复时序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73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59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32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Redis 状态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45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public-service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31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QA 后端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17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73352" y="1965960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64792" y="1746504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创建 task_id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59352" y="2395728"/>
            <a:ext cx="4572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50791" y="2176272"/>
            <a:ext cx="4389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写入 user turn / placeholder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59352" y="2834640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50791" y="2615184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记录 queued / running / seq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59352" y="3273552"/>
            <a:ext cx="6858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50791" y="3054096"/>
            <a:ext cx="6675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发起执行并接收 SSE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73352" y="3712463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64792" y="3493007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页面刷新后查询 active_task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59352" y="4151376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50791" y="3931920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按 last_seq 回放事件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9352" y="4590288"/>
            <a:ext cx="4572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50791" y="4370831"/>
            <a:ext cx="4389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同步进度与终态消息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532120"/>
            <a:ext cx="10104120" cy="384048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刷新后不是重新发起问答，而是重新附着到真实任务并补齐错过的事件。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消息持久化与存储支撑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用户消息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user turn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占位消息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assistant placeholder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执行流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710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QA stream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终态消息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assistant terminal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3182112"/>
            <a:ext cx="2880360" cy="1170432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3291840"/>
            <a:ext cx="266090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 authority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" y="3685032"/>
            <a:ext cx="2551176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会话、消息、文件元数据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task_id 与 active_task 绑定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262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MySQL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90872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用户、会话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业务元数据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50608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MinIO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0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上传文件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原文与对象存储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840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Redis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48672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任务状态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队列与缓存支撑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0120" y="4892040"/>
            <a:ext cx="10607040" cy="47548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表达边界：Redis 在本页只作为任务状态、队列和缓存支撑，不展开检索相关内容。</a:t>
            </a:r>
            <a:endParaRPr sz="13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消息持久化链路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user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用户问题先写入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1755648"/>
            <a:ext cx="73152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任务占位消息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96128" y="1755648"/>
            <a:ext cx="73152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内容与步骤进度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9328" y="1755648"/>
            <a:ext cx="73152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完成 / 失败 / 取消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7872" y="2788920"/>
            <a:ext cx="5102352" cy="73152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 会话 authority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084831"/>
            <a:ext cx="0" cy="704089"/>
          </a:xfrm>
          <a:prstGeom prst="line">
            <a:avLst/>
          </a:prstGeom>
          <a:ln w="1524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08192" y="3520440"/>
            <a:ext cx="0" cy="393192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76272" y="3913632"/>
            <a:ext cx="7808976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23444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416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用户、会话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业务元数据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67128" y="3913632"/>
            <a:ext cx="0" cy="310896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84048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020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JSON 文档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会话主文档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历史回放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73168" y="3913632"/>
            <a:ext cx="0" cy="310896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4652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文件对象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远端副本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79208" y="3913632"/>
            <a:ext cx="0" cy="310896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05256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Redis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状态缓存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队列支撑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85248" y="3913632"/>
            <a:ext cx="0" cy="310896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前端与部署支撑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737360"/>
            <a:ext cx="467258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前端配套能力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2130552"/>
            <a:ext cx="4562855" cy="23225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右侧问题列表：点击定位到对应用户问题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管理员页面：用户、部门、人员与绑定管理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注册 / 个人中心：安全问题、人员绑定、信息补全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 UI：展示排队中、即将开始、生成中等状态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4652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37360"/>
            <a:ext cx="467258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1112" y="2130552"/>
            <a:ext cx="4562855" cy="23225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编排 frontend、gateway 与后端服务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 作为基础设施服务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数据包与 seed job 支撑交付环境初始化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服务脚本支持本地启动、停止与状态检查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017520"/>
            <a:ext cx="52120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5138928"/>
            <a:ext cx="996696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部署部分保持简述，重点体现多服务运行和基础设施协同。</a:t>
            </a:r>
            <a:endParaRPr sz="13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当前状态与后续计划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部署交付支撑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417320"/>
            <a:ext cx="9921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18488"/>
            <a:ext cx="128016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入口层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1848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frontend 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1848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514600"/>
            <a:ext cx="9921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715768"/>
            <a:ext cx="128016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public-service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fastQA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highThinkingQA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patent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703320"/>
            <a:ext cx="9921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904487"/>
            <a:ext cx="128016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Neo4j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130552"/>
            <a:ext cx="0" cy="384048"/>
          </a:xfrm>
          <a:prstGeom prst="line">
            <a:avLst/>
          </a:prstGeom>
          <a:ln w="1524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08192" y="3227832"/>
            <a:ext cx="0" cy="475488"/>
          </a:xfrm>
          <a:prstGeom prst="line">
            <a:avLst/>
          </a:prstGeom>
          <a:ln w="1524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34440" y="4892040"/>
            <a:ext cx="9738360" cy="59436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0">
                <a:solidFill>
                  <a:srgbClr val="1E2A3A"/>
                </a:solidFill>
                <a:latin typeface="Noto Sans CJK SC"/>
              </a:rPr>
              <a:t>部署部分保持简述：强调多服务编排、基础设施协同、数据包与 seed job 支撑交付环境初始化。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325880"/>
            <a:ext cx="10607040" cy="475488"/>
          </a:xfrm>
          <a:prstGeom prst="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2011680" cy="23774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维度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6391" y="1417320"/>
            <a:ext cx="8138160" cy="23774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说明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" y="1801368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20240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当前状态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7832" y="1920240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gateway、public-service、fastQA、highThinkingQA、patent 健康检查 ok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" y="2331720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450591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架构链路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27832" y="2450591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frontend-vue 经 gateway 统一接入，公共能力与 QA 执行服务分层协作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4672" y="2862072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980944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平台能力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7832" y="2980944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管理员、部门、人员、任务模型、消息持久化与存储支撑已形成主线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4672" y="3392424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511296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832" y="3511296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Docker Compose、多服务镜像、MySQL / Redis / MinIO 等交付要素已整理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41248" y="4078224"/>
            <a:ext cx="10561320" cy="123444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206240"/>
            <a:ext cx="201168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459A"/>
                </a:solidFill>
                <a:latin typeface="Noto Sans CJK SC"/>
              </a:rPr>
              <a:t>后续计划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0432" y="4526280"/>
            <a:ext cx="978408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测试与 smoke 校验、监控与日志观测、MinIO 一致性收口、部署 runbook 与运维可观测性。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登录鉴权时序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134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72384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81044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3036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3902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79792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8452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业务接口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0130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41348" y="1901952"/>
            <a:ext cx="2139696" cy="0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32788" y="1682496"/>
            <a:ext cx="1956815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提交账号 / 密码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81044" y="2340864"/>
            <a:ext cx="2157984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72483" y="2121408"/>
            <a:ext cx="197510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代理 /api/auth/login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39028" y="2779776"/>
            <a:ext cx="2249424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0468" y="2560320"/>
            <a:ext cx="2066543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校验用户、状态、安全信息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81044" y="3218688"/>
            <a:ext cx="2157984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72483" y="2999232"/>
            <a:ext cx="197510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返回 token 与用户信息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641348" y="3657600"/>
            <a:ext cx="2139696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32788" y="3438144"/>
            <a:ext cx="1956815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写入前端登录态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41348" y="4096512"/>
            <a:ext cx="213969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32788" y="3877056"/>
            <a:ext cx="1956815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后续请求携带 Authorization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81044" y="4535424"/>
            <a:ext cx="2157984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72483" y="4315968"/>
            <a:ext cx="197510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鉴权透传 / 用户态校验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81044" y="4974336"/>
            <a:ext cx="6620256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2483" y="4754880"/>
            <a:ext cx="643737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按身份访问管理与问答接口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5532120"/>
            <a:ext cx="10287000" cy="402336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建设结果：登录、鉴权、用户状态校验统一由 public-service 承接，gateway 负责入口代理与身份透传。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问答任务创建与流式返回时序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13332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97579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Redis 状态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6354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48272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6931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1540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2406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6132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SSE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26998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13332" y="1828800"/>
            <a:ext cx="1984247" cy="0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4772" y="1609344"/>
            <a:ext cx="18013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创建问答任务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97579" y="2212848"/>
            <a:ext cx="3959352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89020" y="1993391"/>
            <a:ext cx="3776472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写入 user turn / assistant placeholder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97579" y="2596896"/>
            <a:ext cx="1965961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89020" y="2377439"/>
            <a:ext cx="178308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登记 task_id / queued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97579" y="2980944"/>
            <a:ext cx="6126481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89020" y="2761487"/>
            <a:ext cx="594360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按 mode 路由执行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497579" y="3364992"/>
            <a:ext cx="6126481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89020" y="3145536"/>
            <a:ext cx="594360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流式内容与步骤事件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97579" y="3749039"/>
            <a:ext cx="1965961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89020" y="3529583"/>
            <a:ext cx="178308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写入 seq / running / progress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97579" y="4133087"/>
            <a:ext cx="7772401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89020" y="3913631"/>
            <a:ext cx="75895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标准化事件转发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513332" y="4517136"/>
            <a:ext cx="9756648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04772" y="4297680"/>
            <a:ext cx="95737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前端增量展示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97579" y="4901184"/>
            <a:ext cx="3959352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89020" y="4681728"/>
            <a:ext cx="3776472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终态消息落库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5532120"/>
            <a:ext cx="10287000" cy="402336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链路价值：任务身份、流式输出、进度状态和最终消息在同一条链路中闭环。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任务取消时序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134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72384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81044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48656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Redis 状态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6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6102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5558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41348" y="1901952"/>
            <a:ext cx="2139696" cy="0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32788" y="1682496"/>
            <a:ext cx="1956815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点击停止 task_id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81044" y="2359152"/>
            <a:ext cx="2176272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72483" y="2139696"/>
            <a:ext cx="1993392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写入 cancel flag / terminal intent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81044" y="2816352"/>
            <a:ext cx="4379976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72483" y="2596896"/>
            <a:ext cx="419709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传播取消信号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81044" y="3273552"/>
            <a:ext cx="437997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72483" y="3054096"/>
            <a:ext cx="419709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停止生成并返回终态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81044" y="3730752"/>
            <a:ext cx="2176272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72483" y="3511296"/>
            <a:ext cx="1993392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更新 cancelled / last_seq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81044" y="4187952"/>
            <a:ext cx="6574536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72483" y="3968496"/>
            <a:ext cx="639165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写入取消终态消息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641348" y="4645152"/>
            <a:ext cx="2139696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32788" y="4425696"/>
            <a:ext cx="1956815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SSE 回传取消完成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41348" y="5065776"/>
            <a:ext cx="213969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32788" y="4846320"/>
            <a:ext cx="1956815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刷新后仍按 task_id 查询终态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5532120"/>
            <a:ext cx="10287000" cy="402336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链路价值：停止操作作用到真实后端任务，而不是只停止前端渲染；刷新后也能看到一致终态。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文件上传与 MinIO 持久化时序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7734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5292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158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6460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326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77456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86116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7084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7950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6132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26998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77340" y="1847088"/>
            <a:ext cx="1984248" cy="0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68780" y="1627632"/>
            <a:ext cx="18013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上传 PDF / Excel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1588" y="2249424"/>
            <a:ext cx="201168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3028" y="2029967"/>
            <a:ext cx="182880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代理上传接口与用户身份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73268" y="2651760"/>
            <a:ext cx="2212848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4708" y="2432304"/>
            <a:ext cx="2029967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put object / 生成 storage_ref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73268" y="3054096"/>
            <a:ext cx="4206240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4708" y="2834639"/>
            <a:ext cx="4023359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登记文件元数据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561588" y="3456432"/>
            <a:ext cx="201168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53028" y="3236976"/>
            <a:ext cx="182880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返回 file_id / storage_ref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577340" y="3858768"/>
            <a:ext cx="1984248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668780" y="3639311"/>
            <a:ext cx="18013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前端展示文件上下文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77340" y="4261104"/>
            <a:ext cx="1984248" cy="0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68780" y="4041648"/>
            <a:ext cx="18013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发起带文件上下文问答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61588" y="4663440"/>
            <a:ext cx="7708392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3028" y="4443983"/>
            <a:ext cx="7525512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传递文件引用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786116" y="5065776"/>
            <a:ext cx="3483864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77556" y="4846320"/>
            <a:ext cx="3300984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按 storage_ref 读取对象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5532120"/>
            <a:ext cx="10287000" cy="402336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建设结果：文件由对象存储持久化，业务侧保留 file_id 与 storage_ref，问答执行服务按引用读取。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点击查看原文与 MinIO 读取时序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5044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7004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7870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9028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patent 原文服务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9894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93408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缓存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2068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49056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57716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49840" y="1243584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12700" bIns="12700"/>
          <a:lstStyle/>
          <a:p>
            <a:pPr algn="ctr"/>
            <a:r>
              <a:rPr sz="1080" b="1">
                <a:solidFill>
                  <a:srgbClr val="00459A"/>
                </a:solidFill>
                <a:latin typeface="Noto Sans CJK SC"/>
              </a:rPr>
              <a:t>PDF 预览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58500" y="1645920"/>
            <a:ext cx="0" cy="361188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95044" y="1847088"/>
            <a:ext cx="1883664" cy="0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86484" y="1627632"/>
            <a:ext cx="1700783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点击查看原文链接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78708" y="2249424"/>
            <a:ext cx="192024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70148" y="2029967"/>
            <a:ext cx="173736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请求 /api/patent/original/{id}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98948" y="2651760"/>
            <a:ext cx="2103120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0388" y="2432304"/>
            <a:ext cx="192024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查询原文视图缓存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98948" y="3054096"/>
            <a:ext cx="3858768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0388" y="2834639"/>
            <a:ext cx="367588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读取 manifest / original.pdf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298948" y="3456432"/>
            <a:ext cx="3858768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90388" y="3236976"/>
            <a:ext cx="367588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返回对象内容 / 元数据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98948" y="3858768"/>
            <a:ext cx="2103120" cy="0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90388" y="3639311"/>
            <a:ext cx="192024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写入短期缓存与 ETag 信息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378708" y="4261104"/>
            <a:ext cx="192024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70148" y="4041648"/>
            <a:ext cx="173736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返回 PDF/HTML/JSON 响应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495044" y="4663440"/>
            <a:ext cx="1883664" cy="0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586484" y="4443983"/>
            <a:ext cx="1700783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透传响应与鉴权结果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95044" y="5065776"/>
            <a:ext cx="9363456" cy="0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86484" y="4846320"/>
            <a:ext cx="918057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30" b="0">
                <a:solidFill>
                  <a:srgbClr val="1E2A3A"/>
                </a:solidFill>
                <a:latin typeface="Noto Sans CJK SC"/>
              </a:rPr>
              <a:t>打开原文并定位 section/anchor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5532120"/>
            <a:ext cx="10287000" cy="402336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补充工作：原文查看链路从 MinIO 读取专利原文对象，支持点击链接后打开并定位到对应原文位置。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WPS 演示</Application>
  <PresentationFormat>On-screen Show (4:3)</PresentationFormat>
  <Paragraphs>546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CJK SC</vt:lpstr>
      <vt:lpstr>Thonburi</vt:lpstr>
      <vt:lpstr>Aptos</vt:lpstr>
      <vt:lpstr>Helvetica Neue</vt:lpstr>
      <vt:lpstr>Calibri</vt:lpstr>
      <vt:lpstr>宋体</vt:lpstr>
      <vt:lpstr>汉仪书宋二KW</vt:lpstr>
      <vt:lpstr>微软雅黑</vt:lpstr>
      <vt:lpstr>汉仪旗黑</vt:lpstr>
      <vt:lpstr>Arial Unicode MS</vt:lpstr>
      <vt:lpstr>Aptos</vt:lpstr>
      <vt:lpstr>Noto Sans CJK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S202588296</cp:lastModifiedBy>
  <cp:revision>2</cp:revision>
  <dcterms:created xsi:type="dcterms:W3CDTF">2026-05-19T08:00:24Z</dcterms:created>
  <dcterms:modified xsi:type="dcterms:W3CDTF">2026-05-19T08:00:24Z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E2B2EAF507C5FFE398180C6AA64375FB_42</vt:lpwstr>
  </property>
  <property fmtid="{D5CDD505-2E9C-101B-9397-08002B2CF9AE}" pid="3" name="KSOProductBuildVer">
    <vt:lpwstr>2052-12.1.23540.23540</vt:lpwstr>
  </property>
</Properties>
</file>