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98480" y="475488"/>
            <a:ext cx="1170432" cy="585216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97280" y="914400"/>
            <a:ext cx="10012680" cy="731520"/>
          </a:xfrm>
          <a:prstGeom prst="rect">
            <a:avLst/>
          </a:prstGeom>
          <a:noFill/>
        </p:spPr>
        <p:txBody>
          <a:bodyPr wrap="none" lIns="38100" rIns="38100" tIns="12700" bIns="12700" anchor="ctr">
            <a:spAutoFit/>
          </a:bodyPr>
          <a:lstStyle/>
          <a:p>
            <a:pPr algn="ctr"/>
            <a:r>
              <a:rPr sz="3500" b="1">
                <a:solidFill>
                  <a:srgbClr val="000000"/>
                </a:solidFill>
                <a:latin typeface="Noto Sans CJK SC"/>
              </a:rPr>
              <a:t>后端架构重构与平台实现汇报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25880" y="1700784"/>
            <a:ext cx="9555480" cy="310896"/>
          </a:xfrm>
          <a:prstGeom prst="rect">
            <a:avLst/>
          </a:prstGeom>
          <a:noFill/>
        </p:spPr>
        <p:txBody>
          <a:bodyPr wrap="none" lIns="38100" rIns="38100" tIns="12700" bIns="12700" anchor="ctr">
            <a:spAutoFit/>
          </a:bodyPr>
          <a:lstStyle/>
          <a:p>
            <a:pPr algn="ctr"/>
            <a:r>
              <a:rPr sz="1450" b="0">
                <a:solidFill>
                  <a:srgbClr val="889AB2"/>
                </a:solidFill>
                <a:latin typeface="Aptos"/>
              </a:rPr>
              <a:t>Backend Architecture Refactoring &amp; Platform Implementation Report</a:t>
            </a:r>
          </a:p>
        </p:txBody>
      </p:sp>
      <p:pic>
        <p:nvPicPr>
          <p:cNvPr id="5" name="Picture 4" descr="image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69080" y="2395728"/>
            <a:ext cx="4297680" cy="2148839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560320" y="4187952"/>
            <a:ext cx="2103120" cy="310896"/>
          </a:xfrm>
          <a:prstGeom prst="rect">
            <a:avLst/>
          </a:prstGeom>
          <a:noFill/>
        </p:spPr>
        <p:txBody>
          <a:bodyPr wrap="none" lIns="38100" rIns="38100" tIns="12700" bIns="12700" anchor="ctr">
            <a:spAutoFit/>
          </a:bodyPr>
          <a:lstStyle/>
          <a:p>
            <a:pPr algn="l"/>
            <a:r>
              <a:rPr sz="1900" b="1">
                <a:solidFill>
                  <a:srgbClr val="889AB2"/>
                </a:solidFill>
                <a:latin typeface="Noto Sans CJK SC"/>
              </a:rPr>
              <a:t>报告人：xxx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102352" y="4187952"/>
            <a:ext cx="3657600" cy="310896"/>
          </a:xfrm>
          <a:prstGeom prst="rect">
            <a:avLst/>
          </a:prstGeom>
          <a:noFill/>
        </p:spPr>
        <p:txBody>
          <a:bodyPr wrap="none" lIns="38100" rIns="38100" tIns="12700" bIns="12700" anchor="ctr">
            <a:spAutoFit/>
          </a:bodyPr>
          <a:lstStyle/>
          <a:p>
            <a:pPr algn="l"/>
            <a:r>
              <a:rPr sz="1900" b="1">
                <a:solidFill>
                  <a:srgbClr val="889AB2"/>
                </a:solidFill>
                <a:latin typeface="Noto Sans CJK SC"/>
              </a:rPr>
              <a:t>时  间：2026年xx月xx日</a:t>
            </a:r>
          </a:p>
        </p:txBody>
      </p:sp>
      <p:pic>
        <p:nvPicPr>
          <p:cNvPr id="8" name="Picture 7" descr="wave_compac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791456"/>
            <a:ext cx="12191999" cy="138988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3154680" y="6236208"/>
            <a:ext cx="1097280" cy="201168"/>
          </a:xfrm>
          <a:prstGeom prst="rect">
            <a:avLst/>
          </a:prstGeom>
          <a:noFill/>
        </p:spPr>
        <p:txBody>
          <a:bodyPr wrap="none" lIns="25400" rIns="25400" tIns="12700" bIns="12700" anchor="ctr">
            <a:spAutoFit/>
          </a:bodyPr>
          <a:lstStyle/>
          <a:p>
            <a:pPr algn="r"/>
            <a:r>
              <a:rPr sz="1000" b="0">
                <a:solidFill>
                  <a:srgbClr val="0055AA"/>
                </a:solidFill>
                <a:latin typeface="Noto Sans CJK SC"/>
              </a:rPr>
              <a:t>创新成就卓越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70832" y="6236208"/>
            <a:ext cx="2743200" cy="201168"/>
          </a:xfrm>
          <a:prstGeom prst="rect">
            <a:avLst/>
          </a:prstGeom>
          <a:noFill/>
        </p:spPr>
        <p:txBody>
          <a:bodyPr wrap="none" lIns="25400" rIns="25400" tIns="12700" bIns="12700" anchor="ctr">
            <a:spAutoFit/>
          </a:bodyPr>
          <a:lstStyle/>
          <a:p>
            <a:pPr algn="l"/>
            <a:r>
              <a:rPr sz="1000" b="0">
                <a:solidFill>
                  <a:srgbClr val="666666"/>
                </a:solidFill>
                <a:latin typeface="Noto Sans CJK SC"/>
              </a:rPr>
              <a:t>INNOVATION CREATES EXCELLENCE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555480" y="6629400"/>
            <a:ext cx="2651760" cy="36576"/>
          </a:xfrm>
          <a:prstGeom prst="rect">
            <a:avLst/>
          </a:prstGeom>
          <a:solidFill>
            <a:srgbClr val="B6C0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0" y="6702552"/>
            <a:ext cx="12191999" cy="36576"/>
          </a:xfrm>
          <a:prstGeom prst="rect">
            <a:avLst/>
          </a:prstGeom>
          <a:solidFill>
            <a:srgbClr val="EEEF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16768" y="475488"/>
            <a:ext cx="1152144" cy="57607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49808" y="694944"/>
            <a:ext cx="2560320" cy="420624"/>
          </a:xfrm>
          <a:prstGeom prst="rect">
            <a:avLst/>
          </a:prstGeom>
          <a:noFill/>
        </p:spPr>
        <p:txBody>
          <a:bodyPr wrap="none" lIns="38100" rIns="38100" tIns="12700" bIns="12700" anchor="ctr">
            <a:spAutoFit/>
          </a:bodyPr>
          <a:lstStyle/>
          <a:p>
            <a:pPr algn="l"/>
            <a:r>
              <a:rPr sz="2800" b="1">
                <a:solidFill>
                  <a:srgbClr val="0055AA"/>
                </a:solidFill>
                <a:latin typeface="Aptos"/>
              </a:rPr>
              <a:t>CONTENTS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971800" y="731520"/>
            <a:ext cx="1097280" cy="329184"/>
          </a:xfrm>
          <a:prstGeom prst="rect">
            <a:avLst/>
          </a:prstGeom>
          <a:noFill/>
        </p:spPr>
        <p:txBody>
          <a:bodyPr wrap="none" lIns="38100" rIns="38100" tIns="12700" bIns="12700" anchor="ctr">
            <a:spAutoFit/>
          </a:bodyPr>
          <a:lstStyle/>
          <a:p>
            <a:pPr algn="l"/>
            <a:r>
              <a:rPr sz="2000" b="1">
                <a:solidFill>
                  <a:srgbClr val="1E2A3A"/>
                </a:solidFill>
                <a:latin typeface="Noto Sans CJK SC"/>
              </a:rPr>
              <a:t>目录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60120" y="1627632"/>
            <a:ext cx="461772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61288" y="1810512"/>
            <a:ext cx="658368" cy="347472"/>
          </a:xfrm>
          <a:prstGeom prst="rect">
            <a:avLst/>
          </a:prstGeom>
          <a:noFill/>
        </p:spPr>
        <p:txBody>
          <a:bodyPr wrap="none" lIns="38100" rIns="38100" tIns="12700" bIns="12700" anchor="ctr">
            <a:spAutoFit/>
          </a:bodyPr>
          <a:lstStyle/>
          <a:p>
            <a:pPr algn="l"/>
            <a:r>
              <a:rPr sz="2400" b="1">
                <a:solidFill>
                  <a:srgbClr val="889AB2"/>
                </a:solidFill>
                <a:latin typeface="Aptos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47672" y="1828800"/>
            <a:ext cx="2286000" cy="274320"/>
          </a:xfrm>
          <a:prstGeom prst="rect">
            <a:avLst/>
          </a:prstGeom>
          <a:noFill/>
        </p:spPr>
        <p:txBody>
          <a:bodyPr wrap="none" lIns="38100" rIns="38100" tIns="12700" bIns="12700" anchor="ctr">
            <a:spAutoFit/>
          </a:bodyPr>
          <a:lstStyle/>
          <a:p>
            <a:pPr algn="l"/>
            <a:r>
              <a:rPr sz="1800" b="1">
                <a:solidFill>
                  <a:srgbClr val="0055AA"/>
                </a:solidFill>
                <a:latin typeface="Noto Sans CJK SC"/>
              </a:rPr>
              <a:t>实现范围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47672" y="2249424"/>
            <a:ext cx="3154680" cy="274320"/>
          </a:xfrm>
          <a:prstGeom prst="rect">
            <a:avLst/>
          </a:prstGeom>
          <a:noFill/>
        </p:spPr>
        <p:txBody>
          <a:bodyPr wrap="none" lIns="38100" rIns="38100" tIns="12700" bIns="12700" anchor="ctr">
            <a:spAutoFit/>
          </a:bodyPr>
          <a:lstStyle/>
          <a:p>
            <a:pPr algn="l"/>
            <a:r>
              <a:rPr sz="1120" b="0">
                <a:solidFill>
                  <a:srgbClr val="222222"/>
                </a:solidFill>
                <a:latin typeface="Noto Sans CJK SC"/>
              </a:rPr>
              <a:t>本次交付内容与实现结果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1627632"/>
            <a:ext cx="461772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73368" y="1810512"/>
            <a:ext cx="658368" cy="347472"/>
          </a:xfrm>
          <a:prstGeom prst="rect">
            <a:avLst/>
          </a:prstGeom>
          <a:noFill/>
        </p:spPr>
        <p:txBody>
          <a:bodyPr wrap="none" lIns="38100" rIns="38100" tIns="12700" bIns="12700" anchor="ctr">
            <a:spAutoFit/>
          </a:bodyPr>
          <a:lstStyle/>
          <a:p>
            <a:pPr algn="l"/>
            <a:r>
              <a:rPr sz="2400" b="1">
                <a:solidFill>
                  <a:srgbClr val="889AB2"/>
                </a:solidFill>
                <a:latin typeface="Aptos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59752" y="1828800"/>
            <a:ext cx="2286000" cy="274320"/>
          </a:xfrm>
          <a:prstGeom prst="rect">
            <a:avLst/>
          </a:prstGeom>
          <a:noFill/>
        </p:spPr>
        <p:txBody>
          <a:bodyPr wrap="none" lIns="38100" rIns="38100" tIns="12700" bIns="12700" anchor="ctr">
            <a:spAutoFit/>
          </a:bodyPr>
          <a:lstStyle/>
          <a:p>
            <a:pPr algn="l"/>
            <a:r>
              <a:rPr sz="1800" b="1">
                <a:solidFill>
                  <a:srgbClr val="0055AA"/>
                </a:solidFill>
                <a:latin typeface="Noto Sans CJK SC"/>
              </a:rPr>
              <a:t>后端架构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59752" y="2249424"/>
            <a:ext cx="3154680" cy="274320"/>
          </a:xfrm>
          <a:prstGeom prst="rect">
            <a:avLst/>
          </a:prstGeom>
          <a:noFill/>
        </p:spPr>
        <p:txBody>
          <a:bodyPr wrap="none" lIns="38100" rIns="38100" tIns="12700" bIns="12700" anchor="ctr">
            <a:spAutoFit/>
          </a:bodyPr>
          <a:lstStyle/>
          <a:p>
            <a:pPr algn="l"/>
            <a:r>
              <a:rPr sz="1120" b="0">
                <a:solidFill>
                  <a:srgbClr val="222222"/>
                </a:solidFill>
                <a:latin typeface="Noto Sans CJK SC"/>
              </a:rPr>
              <a:t>gateway、public-service、QA 服务协作结构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60120" y="3767328"/>
            <a:ext cx="461772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61288" y="3950208"/>
            <a:ext cx="658368" cy="347472"/>
          </a:xfrm>
          <a:prstGeom prst="rect">
            <a:avLst/>
          </a:prstGeom>
          <a:noFill/>
        </p:spPr>
        <p:txBody>
          <a:bodyPr wrap="none" lIns="38100" rIns="38100" tIns="12700" bIns="12700" anchor="ctr">
            <a:spAutoFit/>
          </a:bodyPr>
          <a:lstStyle/>
          <a:p>
            <a:pPr algn="l"/>
            <a:r>
              <a:rPr sz="2400" b="1">
                <a:solidFill>
                  <a:srgbClr val="889AB2"/>
                </a:solidFill>
                <a:latin typeface="Aptos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947672" y="3968496"/>
            <a:ext cx="2286000" cy="274320"/>
          </a:xfrm>
          <a:prstGeom prst="rect">
            <a:avLst/>
          </a:prstGeom>
          <a:noFill/>
        </p:spPr>
        <p:txBody>
          <a:bodyPr wrap="none" lIns="38100" rIns="38100" tIns="12700" bIns="12700" anchor="ctr">
            <a:spAutoFit/>
          </a:bodyPr>
          <a:lstStyle/>
          <a:p>
            <a:pPr algn="l"/>
            <a:r>
              <a:rPr sz="1800" b="1">
                <a:solidFill>
                  <a:srgbClr val="0055AA"/>
                </a:solidFill>
                <a:latin typeface="Noto Sans CJK SC"/>
              </a:rPr>
              <a:t>核心实现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947672" y="4389120"/>
            <a:ext cx="3154680" cy="274320"/>
          </a:xfrm>
          <a:prstGeom prst="rect">
            <a:avLst/>
          </a:prstGeom>
          <a:noFill/>
        </p:spPr>
        <p:txBody>
          <a:bodyPr wrap="none" lIns="38100" rIns="38100" tIns="12700" bIns="12700" anchor="ctr">
            <a:spAutoFit/>
          </a:bodyPr>
          <a:lstStyle/>
          <a:p>
            <a:pPr algn="l"/>
            <a:r>
              <a:rPr sz="1120" b="0">
                <a:solidFill>
                  <a:srgbClr val="222222"/>
                </a:solidFill>
                <a:latin typeface="Noto Sans CJK SC"/>
              </a:rPr>
              <a:t>管理后台、任务链路、消息存储、MinIO 原文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72200" y="3767328"/>
            <a:ext cx="461772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73368" y="3950208"/>
            <a:ext cx="658368" cy="347472"/>
          </a:xfrm>
          <a:prstGeom prst="rect">
            <a:avLst/>
          </a:prstGeom>
          <a:noFill/>
        </p:spPr>
        <p:txBody>
          <a:bodyPr wrap="none" lIns="38100" rIns="38100" tIns="12700" bIns="12700" anchor="ctr">
            <a:spAutoFit/>
          </a:bodyPr>
          <a:lstStyle/>
          <a:p>
            <a:pPr algn="l"/>
            <a:r>
              <a:rPr sz="2400" b="1">
                <a:solidFill>
                  <a:srgbClr val="889AB2"/>
                </a:solidFill>
                <a:latin typeface="Aptos"/>
              </a:rP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59752" y="3968496"/>
            <a:ext cx="2286000" cy="274320"/>
          </a:xfrm>
          <a:prstGeom prst="rect">
            <a:avLst/>
          </a:prstGeom>
          <a:noFill/>
        </p:spPr>
        <p:txBody>
          <a:bodyPr wrap="none" lIns="38100" rIns="38100" tIns="12700" bIns="12700" anchor="ctr">
            <a:spAutoFit/>
          </a:bodyPr>
          <a:lstStyle/>
          <a:p>
            <a:pPr algn="l"/>
            <a:r>
              <a:rPr sz="1800" b="1">
                <a:solidFill>
                  <a:srgbClr val="0055AA"/>
                </a:solidFill>
                <a:latin typeface="Noto Sans CJK SC"/>
              </a:rPr>
              <a:t>交付结果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59752" y="4389120"/>
            <a:ext cx="3154680" cy="274320"/>
          </a:xfrm>
          <a:prstGeom prst="rect">
            <a:avLst/>
          </a:prstGeom>
          <a:noFill/>
        </p:spPr>
        <p:txBody>
          <a:bodyPr wrap="none" lIns="38100" rIns="38100" tIns="12700" bIns="12700" anchor="ctr">
            <a:spAutoFit/>
          </a:bodyPr>
          <a:lstStyle/>
          <a:p>
            <a:pPr algn="l"/>
            <a:r>
              <a:rPr sz="1120" b="0">
                <a:solidFill>
                  <a:srgbClr val="222222"/>
                </a:solidFill>
                <a:latin typeface="Noto Sans CJK SC"/>
              </a:rPr>
              <a:t>前端配套、部署、当前状态与后续完善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154680" y="6236208"/>
            <a:ext cx="1097280" cy="201168"/>
          </a:xfrm>
          <a:prstGeom prst="rect">
            <a:avLst/>
          </a:prstGeom>
          <a:noFill/>
        </p:spPr>
        <p:txBody>
          <a:bodyPr wrap="none" lIns="25400" rIns="25400" tIns="12700" bIns="12700" anchor="ctr">
            <a:spAutoFit/>
          </a:bodyPr>
          <a:lstStyle/>
          <a:p>
            <a:pPr algn="r"/>
            <a:r>
              <a:rPr sz="1000" b="0">
                <a:solidFill>
                  <a:srgbClr val="0055AA"/>
                </a:solidFill>
                <a:latin typeface="Noto Sans CJK SC"/>
              </a:rPr>
              <a:t>创新成就卓越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70832" y="6236208"/>
            <a:ext cx="2743200" cy="201168"/>
          </a:xfrm>
          <a:prstGeom prst="rect">
            <a:avLst/>
          </a:prstGeom>
          <a:noFill/>
        </p:spPr>
        <p:txBody>
          <a:bodyPr wrap="none" lIns="25400" rIns="25400" tIns="12700" bIns="12700" anchor="ctr">
            <a:spAutoFit/>
          </a:bodyPr>
          <a:lstStyle/>
          <a:p>
            <a:pPr algn="l"/>
            <a:r>
              <a:rPr sz="1000" b="0">
                <a:solidFill>
                  <a:srgbClr val="666666"/>
                </a:solidFill>
                <a:latin typeface="Noto Sans CJK SC"/>
              </a:rPr>
              <a:t>INNOVATION CREATES EXCELLENCE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555480" y="6629400"/>
            <a:ext cx="2651760" cy="36576"/>
          </a:xfrm>
          <a:prstGeom prst="rect">
            <a:avLst/>
          </a:prstGeom>
          <a:solidFill>
            <a:srgbClr val="B6C0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0" y="6702552"/>
            <a:ext cx="12191999" cy="36576"/>
          </a:xfrm>
          <a:prstGeom prst="rect">
            <a:avLst/>
          </a:prstGeom>
          <a:solidFill>
            <a:srgbClr val="EEEF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457200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94944" y="73152"/>
            <a:ext cx="502920" cy="274320"/>
          </a:xfrm>
          <a:prstGeom prst="rect">
            <a:avLst/>
          </a:prstGeom>
          <a:noFill/>
        </p:spPr>
        <p:txBody>
          <a:bodyPr wrap="none" lIns="25400" rIns="25400" tIns="12700" bIns="12700" anchor="ctr">
            <a:spAutoFit/>
          </a:bodyPr>
          <a:lstStyle/>
          <a:p>
            <a:pPr algn="l"/>
            <a:r>
              <a:rPr sz="1700" b="1">
                <a:solidFill>
                  <a:srgbClr val="0055AA"/>
                </a:solidFill>
                <a:latin typeface="Noto Sans CJK SC"/>
              </a:rP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" y="36576"/>
            <a:ext cx="5669280" cy="365760"/>
          </a:xfrm>
          <a:prstGeom prst="rect">
            <a:avLst/>
          </a:prstGeom>
          <a:noFill/>
        </p:spPr>
        <p:txBody>
          <a:bodyPr wrap="none" lIns="25400" rIns="25400" tIns="12700" bIns="12700" anchor="ctr">
            <a:spAutoFit/>
          </a:bodyPr>
          <a:lstStyle/>
          <a:p>
            <a:pPr algn="l"/>
            <a:r>
              <a:rPr sz="2200" b="1">
                <a:solidFill>
                  <a:srgbClr val="0055AA"/>
                </a:solidFill>
                <a:latin typeface="Noto Sans CJK SC"/>
              </a:rPr>
              <a:t>实现范围</a:t>
            </a:r>
          </a:p>
        </p:txBody>
      </p:sp>
      <p:pic>
        <p:nvPicPr>
          <p:cNvPr id="5" name="Picture 4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0"/>
            <a:ext cx="2240280" cy="457200"/>
          </a:xfrm>
          <a:prstGeom prst="rect">
            <a:avLst/>
          </a:prstGeom>
        </p:spPr>
      </p:pic>
      <p:pic>
        <p:nvPicPr>
          <p:cNvPr id="6" name="Picture 5" descr="logo_full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04704" y="91440"/>
            <a:ext cx="1298448" cy="25603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58368" y="658368"/>
            <a:ext cx="6949440" cy="438912"/>
          </a:xfrm>
          <a:prstGeom prst="rect">
            <a:avLst/>
          </a:prstGeom>
          <a:noFill/>
        </p:spPr>
        <p:txBody>
          <a:bodyPr wrap="none" lIns="38100" rIns="38100" tIns="12700" bIns="12700" anchor="ctr">
            <a:spAutoFit/>
          </a:bodyPr>
          <a:lstStyle/>
          <a:p>
            <a:pPr algn="l"/>
            <a:r>
              <a:rPr sz="2400" b="1">
                <a:solidFill>
                  <a:srgbClr val="0055AA"/>
                </a:solidFill>
                <a:latin typeface="Noto Sans CJK SC"/>
              </a:rPr>
              <a:t>本次实现范围与交付结果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1078992"/>
            <a:ext cx="6949440" cy="256032"/>
          </a:xfrm>
          <a:prstGeom prst="rect">
            <a:avLst/>
          </a:prstGeom>
          <a:noFill/>
        </p:spPr>
        <p:txBody>
          <a:bodyPr wrap="none" lIns="38100" rIns="38100" tIns="12700" bIns="12700" anchor="ctr">
            <a:spAutoFit/>
          </a:bodyPr>
          <a:lstStyle/>
          <a:p>
            <a:pPr algn="l"/>
            <a:r>
              <a:rPr sz="1150" b="0">
                <a:solidFill>
                  <a:srgbClr val="1E2A3A"/>
                </a:solidFill>
                <a:latin typeface="Noto Sans CJK SC"/>
              </a:rPr>
              <a:t>围绕后端重构、管理后台、任务模型、消息存储和部署交付，完成系统级实现。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1371600"/>
            <a:ext cx="7818120" cy="4425696"/>
          </a:xfrm>
          <a:prstGeom prst="rect">
            <a:avLst/>
          </a:prstGeom>
          <a:solidFill>
            <a:srgbClr val="F9FBFE"/>
          </a:solidFill>
          <a:ln w="10160">
            <a:solidFill>
              <a:srgbClr val="D7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96112" y="1591056"/>
            <a:ext cx="3328416" cy="13533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055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24128" y="1664208"/>
            <a:ext cx="3072384" cy="219456"/>
          </a:xfrm>
          <a:prstGeom prst="rect">
            <a:avLst/>
          </a:prstGeom>
          <a:noFill/>
        </p:spPr>
        <p:txBody>
          <a:bodyPr wrap="none" lIns="38100" rIns="38100" tIns="12700" bIns="12700" anchor="ctr">
            <a:spAutoFit/>
          </a:bodyPr>
          <a:lstStyle/>
          <a:p>
            <a:pPr algn="ctr"/>
            <a:r>
              <a:rPr sz="1180" b="1">
                <a:solidFill>
                  <a:srgbClr val="0055AA"/>
                </a:solidFill>
                <a:latin typeface="Noto Sans CJK SC"/>
              </a:rPr>
              <a:t>已实现：后端服务结构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42415" y="1938528"/>
            <a:ext cx="3035808" cy="914400"/>
          </a:xfrm>
          <a:prstGeom prst="rect">
            <a:avLst/>
          </a:prstGeom>
          <a:noFill/>
        </p:spPr>
        <p:txBody>
          <a:bodyPr wrap="square" lIns="63500" rIns="63500" tIns="38100" bIns="38100" anchor="ctr">
            <a:spAutoFit/>
          </a:bodyPr>
          <a:lstStyle/>
          <a:p>
            <a:pPr algn="l">
              <a:spcAft>
                <a:spcPts val="100"/>
              </a:spcAft>
            </a:pPr>
            <a:r>
              <a:rPr sz="830">
                <a:solidFill>
                  <a:srgbClr val="222222"/>
                </a:solidFill>
                <a:latin typeface="Noto Sans CJK SC"/>
              </a:rPr>
              <a:t>完成 gateway 统一入口与路由编排，</a:t>
            </a:r>
          </a:p>
          <a:p>
            <a:pPr algn="l">
              <a:spcAft>
                <a:spcPts val="100"/>
              </a:spcAft>
            </a:pPr>
            <a:r>
              <a:rPr sz="830">
                <a:solidFill>
                  <a:srgbClr val="222222"/>
                </a:solidFill>
                <a:latin typeface="Noto Sans CJK SC"/>
              </a:rPr>
              <a:t>拆分 public-service 承接公共接口，</a:t>
            </a:r>
          </a:p>
          <a:p>
            <a:pPr algn="l">
              <a:spcAft>
                <a:spcPts val="100"/>
              </a:spcAft>
            </a:pPr>
            <a:r>
              <a:rPr sz="830">
                <a:solidFill>
                  <a:srgbClr val="222222"/>
                </a:solidFill>
                <a:latin typeface="Noto Sans CJK SC"/>
              </a:rPr>
              <a:t>保留 fastQA / highThinkingQA / patent 执行边界，</a:t>
            </a:r>
          </a:p>
          <a:p>
            <a:pPr algn="l">
              <a:spcAft>
                <a:spcPts val="100"/>
              </a:spcAft>
            </a:pPr>
            <a:r>
              <a:rPr sz="830">
                <a:solidFill>
                  <a:srgbClr val="222222"/>
                </a:solidFill>
                <a:latin typeface="Noto Sans CJK SC"/>
              </a:rPr>
              <a:t>前端调用和后端服务拓扑实现解耦。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81144" y="1591056"/>
            <a:ext cx="3328416" cy="13533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4E82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709159" y="1664208"/>
            <a:ext cx="3072384" cy="219456"/>
          </a:xfrm>
          <a:prstGeom prst="rect">
            <a:avLst/>
          </a:prstGeom>
          <a:noFill/>
        </p:spPr>
        <p:txBody>
          <a:bodyPr wrap="none" lIns="38100" rIns="38100" tIns="12700" bIns="12700" anchor="ctr">
            <a:spAutoFit/>
          </a:bodyPr>
          <a:lstStyle/>
          <a:p>
            <a:pPr algn="ctr"/>
            <a:r>
              <a:rPr sz="1180" b="1">
                <a:solidFill>
                  <a:srgbClr val="4E82C7"/>
                </a:solidFill>
                <a:latin typeface="Noto Sans CJK SC"/>
              </a:rPr>
              <a:t>已实现：管理后台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27448" y="1938528"/>
            <a:ext cx="3035808" cy="914400"/>
          </a:xfrm>
          <a:prstGeom prst="rect">
            <a:avLst/>
          </a:prstGeom>
          <a:noFill/>
        </p:spPr>
        <p:txBody>
          <a:bodyPr wrap="square" lIns="63500" rIns="63500" tIns="38100" bIns="38100" anchor="ctr">
            <a:spAutoFit/>
          </a:bodyPr>
          <a:lstStyle/>
          <a:p>
            <a:pPr algn="l">
              <a:spcAft>
                <a:spcPts val="100"/>
              </a:spcAft>
            </a:pPr>
            <a:r>
              <a:rPr sz="830">
                <a:solidFill>
                  <a:srgbClr val="222222"/>
                </a:solidFill>
                <a:latin typeface="Noto Sans CJK SC"/>
              </a:rPr>
              <a:t>完成登录鉴权、安全问题、用户管理，</a:t>
            </a:r>
          </a:p>
          <a:p>
            <a:pPr algn="l">
              <a:spcAft>
                <a:spcPts val="100"/>
              </a:spcAft>
            </a:pPr>
            <a:r>
              <a:rPr sz="830">
                <a:solidFill>
                  <a:srgbClr val="222222"/>
                </a:solidFill>
                <a:latin typeface="Noto Sans CJK SC"/>
              </a:rPr>
              <a:t>实现部门字典、人员主档、账号人员绑定，</a:t>
            </a:r>
          </a:p>
          <a:p>
            <a:pPr algn="l">
              <a:spcAft>
                <a:spcPts val="100"/>
              </a:spcAft>
            </a:pPr>
            <a:r>
              <a:rPr sz="830">
                <a:solidFill>
                  <a:srgbClr val="222222"/>
                </a:solidFill>
                <a:latin typeface="Noto Sans CJK SC"/>
              </a:rPr>
              <a:t>支持管理员维护与用户侧信息补全，</a:t>
            </a:r>
          </a:p>
          <a:p>
            <a:pPr algn="l">
              <a:spcAft>
                <a:spcPts val="100"/>
              </a:spcAft>
            </a:pPr>
            <a:r>
              <a:rPr sz="830">
                <a:solidFill>
                  <a:srgbClr val="222222"/>
                </a:solidFill>
                <a:latin typeface="Noto Sans CJK SC"/>
              </a:rPr>
              <a:t>组织人员数据形成可追踪闭环。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96112" y="3264408"/>
            <a:ext cx="3328416" cy="13533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E82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24128" y="3337560"/>
            <a:ext cx="3072384" cy="219456"/>
          </a:xfrm>
          <a:prstGeom prst="rect">
            <a:avLst/>
          </a:prstGeom>
          <a:noFill/>
        </p:spPr>
        <p:txBody>
          <a:bodyPr wrap="none" lIns="38100" rIns="38100" tIns="12700" bIns="12700" anchor="ctr">
            <a:spAutoFit/>
          </a:bodyPr>
          <a:lstStyle/>
          <a:p>
            <a:pPr algn="ctr"/>
            <a:r>
              <a:rPr sz="1180" b="1">
                <a:solidFill>
                  <a:srgbClr val="EE822F"/>
                </a:solidFill>
                <a:latin typeface="Noto Sans CJK SC"/>
              </a:rPr>
              <a:t>已实现：任务执行模型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42415" y="3611880"/>
            <a:ext cx="3035808" cy="914400"/>
          </a:xfrm>
          <a:prstGeom prst="rect">
            <a:avLst/>
          </a:prstGeom>
          <a:noFill/>
        </p:spPr>
        <p:txBody>
          <a:bodyPr wrap="square" lIns="63500" rIns="63500" tIns="38100" bIns="38100" anchor="ctr">
            <a:spAutoFit/>
          </a:bodyPr>
          <a:lstStyle/>
          <a:p>
            <a:pPr algn="l">
              <a:spcAft>
                <a:spcPts val="100"/>
              </a:spcAft>
            </a:pPr>
            <a:r>
              <a:rPr sz="830">
                <a:solidFill>
                  <a:srgbClr val="222222"/>
                </a:solidFill>
                <a:latin typeface="Noto Sans CJK SC"/>
              </a:rPr>
              <a:t>实现 task_id 生命周期和任务状态维护，</a:t>
            </a:r>
          </a:p>
          <a:p>
            <a:pPr algn="l">
              <a:spcAft>
                <a:spcPts val="100"/>
              </a:spcAft>
            </a:pPr>
            <a:r>
              <a:rPr sz="830">
                <a:solidFill>
                  <a:srgbClr val="222222"/>
                </a:solidFill>
                <a:latin typeface="Noto Sans CJK SC"/>
              </a:rPr>
              <a:t>支持页面刷新后重新附着真实任务，</a:t>
            </a:r>
          </a:p>
          <a:p>
            <a:pPr algn="l">
              <a:spcAft>
                <a:spcPts val="100"/>
              </a:spcAft>
            </a:pPr>
            <a:r>
              <a:rPr sz="830">
                <a:solidFill>
                  <a:srgbClr val="222222"/>
                </a:solidFill>
                <a:latin typeface="Noto Sans CJK SC"/>
              </a:rPr>
              <a:t>支持多任务并行、任务取消和事件回放，</a:t>
            </a:r>
          </a:p>
          <a:p>
            <a:pPr algn="l">
              <a:spcAft>
                <a:spcPts val="100"/>
              </a:spcAft>
            </a:pPr>
            <a:r>
              <a:rPr sz="830">
                <a:solidFill>
                  <a:srgbClr val="222222"/>
                </a:solidFill>
                <a:latin typeface="Noto Sans CJK SC"/>
              </a:rPr>
              <a:t>长任务执行不依赖单次前端页面状态。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81144" y="3264408"/>
            <a:ext cx="3328416" cy="13533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55AA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709159" y="3337560"/>
            <a:ext cx="3072384" cy="219456"/>
          </a:xfrm>
          <a:prstGeom prst="rect">
            <a:avLst/>
          </a:prstGeom>
          <a:noFill/>
        </p:spPr>
        <p:txBody>
          <a:bodyPr wrap="none" lIns="38100" rIns="38100" tIns="12700" bIns="12700" anchor="ctr">
            <a:spAutoFit/>
          </a:bodyPr>
          <a:lstStyle/>
          <a:p>
            <a:pPr algn="ctr"/>
            <a:r>
              <a:rPr sz="1180" b="1">
                <a:solidFill>
                  <a:srgbClr val="55AA66"/>
                </a:solidFill>
                <a:latin typeface="Noto Sans CJK SC"/>
              </a:rPr>
              <a:t>已实现：存储与交付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27448" y="3611880"/>
            <a:ext cx="3035808" cy="914400"/>
          </a:xfrm>
          <a:prstGeom prst="rect">
            <a:avLst/>
          </a:prstGeom>
          <a:noFill/>
        </p:spPr>
        <p:txBody>
          <a:bodyPr wrap="square" lIns="63500" rIns="63500" tIns="38100" bIns="38100" anchor="ctr">
            <a:spAutoFit/>
          </a:bodyPr>
          <a:lstStyle/>
          <a:p>
            <a:pPr algn="l">
              <a:spcAft>
                <a:spcPts val="100"/>
              </a:spcAft>
            </a:pPr>
            <a:r>
              <a:rPr sz="830">
                <a:solidFill>
                  <a:srgbClr val="222222"/>
                </a:solidFill>
                <a:latin typeface="Noto Sans CJK SC"/>
              </a:rPr>
              <a:t>实现消息持久化和 assistant 终态落库，</a:t>
            </a:r>
          </a:p>
          <a:p>
            <a:pPr algn="l">
              <a:spcAft>
                <a:spcPts val="100"/>
              </a:spcAft>
            </a:pPr>
            <a:r>
              <a:rPr sz="830">
                <a:solidFill>
                  <a:srgbClr val="222222"/>
                </a:solidFill>
                <a:latin typeface="Noto Sans CJK SC"/>
              </a:rPr>
              <a:t>实现 MinIO 文件上传与原文对象读取，</a:t>
            </a:r>
          </a:p>
          <a:p>
            <a:pPr algn="l">
              <a:spcAft>
                <a:spcPts val="100"/>
              </a:spcAft>
            </a:pPr>
            <a:r>
              <a:rPr sz="830">
                <a:solidFill>
                  <a:srgbClr val="222222"/>
                </a:solidFill>
                <a:latin typeface="Noto Sans CJK SC"/>
              </a:rPr>
              <a:t>Redis 承接任务状态、队列和短期缓存，</a:t>
            </a:r>
          </a:p>
          <a:p>
            <a:pPr algn="l">
              <a:spcAft>
                <a:spcPts val="100"/>
              </a:spcAft>
            </a:pPr>
            <a:r>
              <a:rPr sz="830">
                <a:solidFill>
                  <a:srgbClr val="222222"/>
                </a:solidFill>
                <a:latin typeface="Noto Sans CJK SC"/>
              </a:rPr>
              <a:t>补充前端配套页面与部署检查链路。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0120" y="5074920"/>
            <a:ext cx="7223760" cy="310896"/>
          </a:xfrm>
          <a:prstGeom prst="rect">
            <a:avLst/>
          </a:prstGeom>
          <a:noFill/>
        </p:spPr>
        <p:txBody>
          <a:bodyPr wrap="none" lIns="38100" rIns="38100" tIns="12700" bIns="12700" anchor="ctr">
            <a:spAutoFit/>
          </a:bodyPr>
          <a:lstStyle/>
          <a:p>
            <a:pPr algn="ctr"/>
            <a:r>
              <a:rPr sz="1220" b="1">
                <a:solidFill>
                  <a:srgbClr val="1E2A3A"/>
                </a:solidFill>
                <a:latin typeface="Noto Sans CJK SC"/>
              </a:rPr>
              <a:t>交付结果：实现统一入口、公共服务拆分、可恢复任务模型、消息落库、文件与原文对象读取。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641080" y="1353312"/>
            <a:ext cx="2834640" cy="12984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055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769096" y="1426464"/>
            <a:ext cx="2578608" cy="219456"/>
          </a:xfrm>
          <a:prstGeom prst="rect">
            <a:avLst/>
          </a:prstGeom>
          <a:noFill/>
        </p:spPr>
        <p:txBody>
          <a:bodyPr wrap="none" lIns="38100" rIns="38100" tIns="12700" bIns="12700" anchor="ctr">
            <a:spAutoFit/>
          </a:bodyPr>
          <a:lstStyle/>
          <a:p>
            <a:pPr algn="ctr"/>
            <a:r>
              <a:rPr sz="1180" b="1">
                <a:solidFill>
                  <a:srgbClr val="0055AA"/>
                </a:solidFill>
                <a:latin typeface="Noto Sans CJK SC"/>
              </a:rPr>
              <a:t>实现结果一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787384" y="1700784"/>
            <a:ext cx="2542032" cy="859536"/>
          </a:xfrm>
          <a:prstGeom prst="rect">
            <a:avLst/>
          </a:prstGeom>
          <a:noFill/>
        </p:spPr>
        <p:txBody>
          <a:bodyPr wrap="square" lIns="63500" rIns="63500" tIns="38100" bIns="38100" anchor="ctr">
            <a:spAutoFit/>
          </a:bodyPr>
          <a:lstStyle/>
          <a:p>
            <a:pPr algn="l">
              <a:spcAft>
                <a:spcPts val="100"/>
              </a:spcAft>
            </a:pPr>
            <a:r>
              <a:rPr sz="860">
                <a:solidFill>
                  <a:srgbClr val="222222"/>
                </a:solidFill>
                <a:latin typeface="Noto Sans CJK SC"/>
              </a:rPr>
              <a:t>服务入口统一到 gateway，</a:t>
            </a:r>
          </a:p>
          <a:p>
            <a:pPr algn="l">
              <a:spcAft>
                <a:spcPts val="100"/>
              </a:spcAft>
            </a:pPr>
            <a:r>
              <a:rPr sz="860">
                <a:solidFill>
                  <a:srgbClr val="222222"/>
                </a:solidFill>
                <a:latin typeface="Noto Sans CJK SC"/>
              </a:rPr>
              <a:t>public-service 承接公共状态和接口，</a:t>
            </a:r>
          </a:p>
          <a:p>
            <a:pPr algn="l">
              <a:spcAft>
                <a:spcPts val="100"/>
              </a:spcAft>
            </a:pPr>
            <a:r>
              <a:rPr sz="860">
                <a:solidFill>
                  <a:srgbClr val="222222"/>
                </a:solidFill>
                <a:latin typeface="Noto Sans CJK SC"/>
              </a:rPr>
              <a:t>QA 服务按模式保持独立执行。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641080" y="2779776"/>
            <a:ext cx="2834640" cy="12984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4E82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769096" y="2852928"/>
            <a:ext cx="2578608" cy="219456"/>
          </a:xfrm>
          <a:prstGeom prst="rect">
            <a:avLst/>
          </a:prstGeom>
          <a:noFill/>
        </p:spPr>
        <p:txBody>
          <a:bodyPr wrap="none" lIns="38100" rIns="38100" tIns="12700" bIns="12700" anchor="ctr">
            <a:spAutoFit/>
          </a:bodyPr>
          <a:lstStyle/>
          <a:p>
            <a:pPr algn="ctr"/>
            <a:r>
              <a:rPr sz="1180" b="1">
                <a:solidFill>
                  <a:srgbClr val="4E82C7"/>
                </a:solidFill>
                <a:latin typeface="Noto Sans CJK SC"/>
              </a:rPr>
              <a:t>实现结果二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787384" y="3127248"/>
            <a:ext cx="2542032" cy="859536"/>
          </a:xfrm>
          <a:prstGeom prst="rect">
            <a:avLst/>
          </a:prstGeom>
          <a:noFill/>
        </p:spPr>
        <p:txBody>
          <a:bodyPr wrap="square" lIns="63500" rIns="63500" tIns="38100" bIns="38100" anchor="ctr">
            <a:spAutoFit/>
          </a:bodyPr>
          <a:lstStyle/>
          <a:p>
            <a:pPr algn="l">
              <a:spcAft>
                <a:spcPts val="100"/>
              </a:spcAft>
            </a:pPr>
            <a:r>
              <a:rPr sz="860">
                <a:solidFill>
                  <a:srgbClr val="222222"/>
                </a:solidFill>
                <a:latin typeface="Noto Sans CJK SC"/>
              </a:rPr>
              <a:t>管理员、组织、人员、绑定、认证</a:t>
            </a:r>
          </a:p>
          <a:p>
            <a:pPr algn="l">
              <a:spcAft>
                <a:spcPts val="100"/>
              </a:spcAft>
            </a:pPr>
            <a:r>
              <a:rPr sz="860">
                <a:solidFill>
                  <a:srgbClr val="222222"/>
                </a:solidFill>
                <a:latin typeface="Noto Sans CJK SC"/>
              </a:rPr>
              <a:t>均完成后端接口和前端页面配套，</a:t>
            </a:r>
          </a:p>
          <a:p>
            <a:pPr algn="l">
              <a:spcAft>
                <a:spcPts val="100"/>
              </a:spcAft>
            </a:pPr>
            <a:r>
              <a:rPr sz="860">
                <a:solidFill>
                  <a:srgbClr val="222222"/>
                </a:solidFill>
                <a:latin typeface="Noto Sans CJK SC"/>
              </a:rPr>
              <a:t>管理数据可集中维护。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641080" y="4206240"/>
            <a:ext cx="2834640" cy="12984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55AA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769096" y="4279392"/>
            <a:ext cx="2578608" cy="219456"/>
          </a:xfrm>
          <a:prstGeom prst="rect">
            <a:avLst/>
          </a:prstGeom>
          <a:noFill/>
        </p:spPr>
        <p:txBody>
          <a:bodyPr wrap="none" lIns="38100" rIns="38100" tIns="12700" bIns="12700" anchor="ctr">
            <a:spAutoFit/>
          </a:bodyPr>
          <a:lstStyle/>
          <a:p>
            <a:pPr algn="ctr"/>
            <a:r>
              <a:rPr sz="1180" b="1">
                <a:solidFill>
                  <a:srgbClr val="55AA66"/>
                </a:solidFill>
                <a:latin typeface="Noto Sans CJK SC"/>
              </a:rPr>
              <a:t>实现结果三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787384" y="4553712"/>
            <a:ext cx="2542032" cy="859536"/>
          </a:xfrm>
          <a:prstGeom prst="rect">
            <a:avLst/>
          </a:prstGeom>
          <a:noFill/>
        </p:spPr>
        <p:txBody>
          <a:bodyPr wrap="square" lIns="63500" rIns="63500" tIns="38100" bIns="38100" anchor="ctr">
            <a:spAutoFit/>
          </a:bodyPr>
          <a:lstStyle/>
          <a:p>
            <a:pPr algn="l">
              <a:spcAft>
                <a:spcPts val="100"/>
              </a:spcAft>
            </a:pPr>
            <a:r>
              <a:rPr sz="860">
                <a:solidFill>
                  <a:srgbClr val="222222"/>
                </a:solidFill>
                <a:latin typeface="Noto Sans CJK SC"/>
              </a:rPr>
              <a:t>任务、消息、文件和原文读取链路</a:t>
            </a:r>
          </a:p>
          <a:p>
            <a:pPr algn="l">
              <a:spcAft>
                <a:spcPts val="100"/>
              </a:spcAft>
            </a:pPr>
            <a:r>
              <a:rPr sz="860">
                <a:solidFill>
                  <a:srgbClr val="222222"/>
                </a:solidFill>
                <a:latin typeface="Noto Sans CJK SC"/>
              </a:rPr>
              <a:t>已经贯通到 Redis / MySQL / MinIO，</a:t>
            </a:r>
          </a:p>
          <a:p>
            <a:pPr algn="l">
              <a:spcAft>
                <a:spcPts val="100"/>
              </a:spcAft>
            </a:pPr>
            <a:r>
              <a:rPr sz="860">
                <a:solidFill>
                  <a:srgbClr val="222222"/>
                </a:solidFill>
                <a:latin typeface="Noto Sans CJK SC"/>
              </a:rPr>
              <a:t>刷新、取消、回放都有后端状态依据。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154680" y="6236208"/>
            <a:ext cx="1097280" cy="201168"/>
          </a:xfrm>
          <a:prstGeom prst="rect">
            <a:avLst/>
          </a:prstGeom>
          <a:noFill/>
        </p:spPr>
        <p:txBody>
          <a:bodyPr wrap="none" lIns="25400" rIns="25400" tIns="12700" bIns="12700" anchor="ctr">
            <a:spAutoFit/>
          </a:bodyPr>
          <a:lstStyle/>
          <a:p>
            <a:pPr algn="r"/>
            <a:r>
              <a:rPr sz="1000" b="0">
                <a:solidFill>
                  <a:srgbClr val="0055AA"/>
                </a:solidFill>
                <a:latin typeface="Noto Sans CJK SC"/>
              </a:rPr>
              <a:t>创新成就卓越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370832" y="6236208"/>
            <a:ext cx="2743200" cy="201168"/>
          </a:xfrm>
          <a:prstGeom prst="rect">
            <a:avLst/>
          </a:prstGeom>
          <a:noFill/>
        </p:spPr>
        <p:txBody>
          <a:bodyPr wrap="none" lIns="25400" rIns="25400" tIns="12700" bIns="12700" anchor="ctr">
            <a:spAutoFit/>
          </a:bodyPr>
          <a:lstStyle/>
          <a:p>
            <a:pPr algn="l"/>
            <a:r>
              <a:rPr sz="1000" b="0">
                <a:solidFill>
                  <a:srgbClr val="666666"/>
                </a:solidFill>
                <a:latin typeface="Noto Sans CJK SC"/>
              </a:rPr>
              <a:t>INNOVATION CREATES EXCELLENCE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9555480" y="6629400"/>
            <a:ext cx="2651760" cy="36576"/>
          </a:xfrm>
          <a:prstGeom prst="rect">
            <a:avLst/>
          </a:prstGeom>
          <a:solidFill>
            <a:srgbClr val="B6C0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0" y="6702552"/>
            <a:ext cx="12191999" cy="36576"/>
          </a:xfrm>
          <a:prstGeom prst="rect">
            <a:avLst/>
          </a:prstGeom>
          <a:solidFill>
            <a:srgbClr val="EEEF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457200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94944" y="73152"/>
            <a:ext cx="502920" cy="274320"/>
          </a:xfrm>
          <a:prstGeom prst="rect">
            <a:avLst/>
          </a:prstGeom>
          <a:noFill/>
        </p:spPr>
        <p:txBody>
          <a:bodyPr wrap="none" lIns="25400" rIns="25400" tIns="12700" bIns="12700" anchor="ctr">
            <a:spAutoFit/>
          </a:bodyPr>
          <a:lstStyle/>
          <a:p>
            <a:pPr algn="l"/>
            <a:r>
              <a:rPr sz="1700" b="1">
                <a:solidFill>
                  <a:srgbClr val="0055AA"/>
                </a:solidFill>
                <a:latin typeface="Noto Sans CJK SC"/>
              </a:rP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" y="36576"/>
            <a:ext cx="5669280" cy="365760"/>
          </a:xfrm>
          <a:prstGeom prst="rect">
            <a:avLst/>
          </a:prstGeom>
          <a:noFill/>
        </p:spPr>
        <p:txBody>
          <a:bodyPr wrap="none" lIns="25400" rIns="25400" tIns="12700" bIns="12700" anchor="ctr">
            <a:spAutoFit/>
          </a:bodyPr>
          <a:lstStyle/>
          <a:p>
            <a:pPr algn="l"/>
            <a:r>
              <a:rPr sz="2200" b="1">
                <a:solidFill>
                  <a:srgbClr val="0055AA"/>
                </a:solidFill>
                <a:latin typeface="Noto Sans CJK SC"/>
              </a:rPr>
              <a:t>后端架构</a:t>
            </a:r>
          </a:p>
        </p:txBody>
      </p:sp>
      <p:pic>
        <p:nvPicPr>
          <p:cNvPr id="5" name="Picture 4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0"/>
            <a:ext cx="2240280" cy="457200"/>
          </a:xfrm>
          <a:prstGeom prst="rect">
            <a:avLst/>
          </a:prstGeom>
        </p:spPr>
      </p:pic>
      <p:pic>
        <p:nvPicPr>
          <p:cNvPr id="6" name="Picture 5" descr="logo_full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04704" y="91440"/>
            <a:ext cx="1298448" cy="25603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58368" y="658368"/>
            <a:ext cx="6949440" cy="438912"/>
          </a:xfrm>
          <a:prstGeom prst="rect">
            <a:avLst/>
          </a:prstGeom>
          <a:noFill/>
        </p:spPr>
        <p:txBody>
          <a:bodyPr wrap="none" lIns="38100" rIns="38100" tIns="12700" bIns="12700" anchor="ctr">
            <a:spAutoFit/>
          </a:bodyPr>
          <a:lstStyle/>
          <a:p>
            <a:pPr algn="l"/>
            <a:r>
              <a:rPr sz="2400" b="1">
                <a:solidFill>
                  <a:srgbClr val="0055AA"/>
                </a:solidFill>
                <a:latin typeface="Noto Sans CJK SC"/>
              </a:rPr>
              <a:t>实现后的后端服务结构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1078992"/>
            <a:ext cx="6949440" cy="256032"/>
          </a:xfrm>
          <a:prstGeom prst="rect">
            <a:avLst/>
          </a:prstGeom>
          <a:noFill/>
        </p:spPr>
        <p:txBody>
          <a:bodyPr wrap="none" lIns="38100" rIns="38100" tIns="12700" bIns="12700" anchor="ctr">
            <a:spAutoFit/>
          </a:bodyPr>
          <a:lstStyle/>
          <a:p>
            <a:pPr algn="l"/>
            <a:r>
              <a:rPr sz="1150" b="0">
                <a:solidFill>
                  <a:srgbClr val="1E2A3A"/>
                </a:solidFill>
                <a:latin typeface="Noto Sans CJK SC"/>
              </a:rPr>
              <a:t>前端统一进入 gateway，公共服务和多模式 QA 服务按职责协作。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1353312"/>
            <a:ext cx="7818120" cy="4462272"/>
          </a:xfrm>
          <a:prstGeom prst="rect">
            <a:avLst/>
          </a:prstGeom>
          <a:solidFill>
            <a:srgbClr val="F9FBFE"/>
          </a:solidFill>
          <a:ln w="10160">
            <a:solidFill>
              <a:srgbClr val="D7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960120" y="1664208"/>
            <a:ext cx="7150608" cy="566928"/>
          </a:xfrm>
          <a:prstGeom prst="rect">
            <a:avLst/>
          </a:prstGeom>
          <a:solidFill>
            <a:srgbClr val="F8FAFD"/>
          </a:solidFill>
          <a:ln w="10160">
            <a:solidFill>
              <a:srgbClr val="D7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1560" y="1828800"/>
            <a:ext cx="914400" cy="219456"/>
          </a:xfrm>
          <a:prstGeom prst="rect">
            <a:avLst/>
          </a:prstGeom>
          <a:noFill/>
        </p:spPr>
        <p:txBody>
          <a:bodyPr wrap="none" lIns="38100" rIns="38100" tIns="12700" bIns="12700" anchor="ctr">
            <a:spAutoFit/>
          </a:bodyPr>
          <a:lstStyle/>
          <a:p>
            <a:pPr algn="ctr"/>
            <a:r>
              <a:rPr sz="1030" b="1">
                <a:solidFill>
                  <a:srgbClr val="889AB2"/>
                </a:solidFill>
                <a:latin typeface="Noto Sans CJK SC"/>
              </a:rPr>
              <a:t>前端入口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60120" y="2487168"/>
            <a:ext cx="7150608" cy="621792"/>
          </a:xfrm>
          <a:prstGeom prst="rect">
            <a:avLst/>
          </a:prstGeom>
          <a:solidFill>
            <a:srgbClr val="E9F3FF"/>
          </a:solidFill>
          <a:ln w="10160">
            <a:solidFill>
              <a:srgbClr val="D7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51560" y="2679192"/>
            <a:ext cx="914400" cy="219456"/>
          </a:xfrm>
          <a:prstGeom prst="rect">
            <a:avLst/>
          </a:prstGeom>
          <a:noFill/>
        </p:spPr>
        <p:txBody>
          <a:bodyPr wrap="none" lIns="38100" rIns="38100" tIns="12700" bIns="12700" anchor="ctr">
            <a:spAutoFit/>
          </a:bodyPr>
          <a:lstStyle/>
          <a:p>
            <a:pPr algn="ctr"/>
            <a:r>
              <a:rPr sz="1030" b="1">
                <a:solidFill>
                  <a:srgbClr val="889AB2"/>
                </a:solidFill>
                <a:latin typeface="Noto Sans CJK SC"/>
              </a:rPr>
              <a:t>统一网关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" y="3383280"/>
            <a:ext cx="7150608" cy="960120"/>
          </a:xfrm>
          <a:prstGeom prst="rect">
            <a:avLst/>
          </a:prstGeom>
          <a:solidFill>
            <a:srgbClr val="FFFFFF"/>
          </a:solidFill>
          <a:ln w="10160">
            <a:solidFill>
              <a:srgbClr val="D7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51560" y="3744468"/>
            <a:ext cx="914400" cy="219456"/>
          </a:xfrm>
          <a:prstGeom prst="rect">
            <a:avLst/>
          </a:prstGeom>
          <a:noFill/>
        </p:spPr>
        <p:txBody>
          <a:bodyPr wrap="none" lIns="38100" rIns="38100" tIns="12700" bIns="12700" anchor="ctr">
            <a:spAutoFit/>
          </a:bodyPr>
          <a:lstStyle/>
          <a:p>
            <a:pPr algn="ctr"/>
            <a:r>
              <a:rPr sz="1030" b="1">
                <a:solidFill>
                  <a:srgbClr val="889AB2"/>
                </a:solidFill>
                <a:latin typeface="Noto Sans CJK SC"/>
              </a:rPr>
              <a:t>后端服务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60120" y="4681728"/>
            <a:ext cx="7150608" cy="658368"/>
          </a:xfrm>
          <a:prstGeom prst="rect">
            <a:avLst/>
          </a:prstGeom>
          <a:solidFill>
            <a:srgbClr val="F8FAFD"/>
          </a:solidFill>
          <a:ln w="10160">
            <a:solidFill>
              <a:srgbClr val="D7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51560" y="4892040"/>
            <a:ext cx="914400" cy="219456"/>
          </a:xfrm>
          <a:prstGeom prst="rect">
            <a:avLst/>
          </a:prstGeom>
          <a:noFill/>
        </p:spPr>
        <p:txBody>
          <a:bodyPr wrap="none" lIns="38100" rIns="38100" tIns="12700" bIns="12700" anchor="ctr">
            <a:spAutoFit/>
          </a:bodyPr>
          <a:lstStyle/>
          <a:p>
            <a:pPr algn="ctr"/>
            <a:r>
              <a:rPr sz="1030" b="1">
                <a:solidFill>
                  <a:srgbClr val="889AB2"/>
                </a:solidFill>
                <a:latin typeface="Noto Sans CJK SC"/>
              </a:rPr>
              <a:t>基础设施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182112" y="1719072"/>
            <a:ext cx="2651760" cy="420624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4E82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236976" y="1792224"/>
            <a:ext cx="2542032" cy="201168"/>
          </a:xfrm>
          <a:prstGeom prst="rect">
            <a:avLst/>
          </a:prstGeom>
          <a:noFill/>
        </p:spPr>
        <p:txBody>
          <a:bodyPr wrap="none" lIns="38100" rIns="38100" tIns="12700" bIns="12700" anchor="ctr">
            <a:spAutoFit/>
          </a:bodyPr>
          <a:lstStyle/>
          <a:p>
            <a:pPr algn="ctr"/>
            <a:r>
              <a:rPr sz="1150" b="1">
                <a:solidFill>
                  <a:srgbClr val="00459A"/>
                </a:solidFill>
                <a:latin typeface="Aptos"/>
              </a:rPr>
              <a:t>frontend-vue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816352" y="2560320"/>
            <a:ext cx="3401568" cy="43891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055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871216" y="2633472"/>
            <a:ext cx="3291840" cy="201168"/>
          </a:xfrm>
          <a:prstGeom prst="rect">
            <a:avLst/>
          </a:prstGeom>
          <a:noFill/>
        </p:spPr>
        <p:txBody>
          <a:bodyPr wrap="none" lIns="38100" rIns="38100" tIns="12700" bIns="12700" anchor="ctr">
            <a:spAutoFit/>
          </a:bodyPr>
          <a:lstStyle/>
          <a:p>
            <a:pPr algn="ctr"/>
            <a:r>
              <a:rPr sz="1150" b="1">
                <a:solidFill>
                  <a:srgbClr val="00459A"/>
                </a:solidFill>
                <a:latin typeface="Aptos"/>
              </a:rPr>
              <a:t>gateway / BFF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4507992" y="2066543"/>
            <a:ext cx="0" cy="530353"/>
          </a:xfrm>
          <a:prstGeom prst="line">
            <a:avLst/>
          </a:prstGeom>
          <a:ln w="12700">
            <a:solidFill>
              <a:srgbClr val="0055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4507992" y="2926080"/>
            <a:ext cx="0" cy="347472"/>
          </a:xfrm>
          <a:prstGeom prst="line">
            <a:avLst/>
          </a:prstGeom>
          <a:ln w="12700">
            <a:solidFill>
              <a:srgbClr val="4E82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2011680" y="3273552"/>
            <a:ext cx="5376672" cy="0"/>
          </a:xfrm>
          <a:prstGeom prst="line">
            <a:avLst/>
          </a:prstGeom>
          <a:ln w="12700">
            <a:solidFill>
              <a:srgbClr val="4E82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1719072" y="3547872"/>
            <a:ext cx="1417320" cy="493776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055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773936" y="3621024"/>
            <a:ext cx="1307592" cy="201168"/>
          </a:xfrm>
          <a:prstGeom prst="rect">
            <a:avLst/>
          </a:prstGeom>
          <a:noFill/>
        </p:spPr>
        <p:txBody>
          <a:bodyPr wrap="none" lIns="38100" rIns="38100" tIns="12700" bIns="12700" anchor="ctr">
            <a:spAutoFit/>
          </a:bodyPr>
          <a:lstStyle/>
          <a:p>
            <a:pPr algn="ctr"/>
            <a:r>
              <a:rPr sz="930" b="1">
                <a:solidFill>
                  <a:srgbClr val="00459A"/>
                </a:solidFill>
                <a:latin typeface="Aptos"/>
              </a:rPr>
              <a:t>public-service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2432304" y="3273552"/>
            <a:ext cx="0" cy="274320"/>
          </a:xfrm>
          <a:prstGeom prst="line">
            <a:avLst/>
          </a:prstGeom>
          <a:ln w="12700">
            <a:solidFill>
              <a:srgbClr val="4E82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3346704" y="3547872"/>
            <a:ext cx="1417320" cy="493776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30C0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401568" y="3621024"/>
            <a:ext cx="1307592" cy="201168"/>
          </a:xfrm>
          <a:prstGeom prst="rect">
            <a:avLst/>
          </a:prstGeom>
          <a:noFill/>
        </p:spPr>
        <p:txBody>
          <a:bodyPr wrap="none" lIns="38100" rIns="38100" tIns="12700" bIns="12700" anchor="ctr">
            <a:spAutoFit/>
          </a:bodyPr>
          <a:lstStyle/>
          <a:p>
            <a:pPr algn="ctr"/>
            <a:r>
              <a:rPr sz="930" b="1">
                <a:solidFill>
                  <a:srgbClr val="00459A"/>
                </a:solidFill>
                <a:latin typeface="Aptos"/>
              </a:rPr>
              <a:t>fastQA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4059936" y="3273552"/>
            <a:ext cx="0" cy="274320"/>
          </a:xfrm>
          <a:prstGeom prst="line">
            <a:avLst/>
          </a:prstGeom>
          <a:ln w="12700">
            <a:solidFill>
              <a:srgbClr val="4E82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ounded Rectangle 30"/>
          <p:cNvSpPr/>
          <p:nvPr/>
        </p:nvSpPr>
        <p:spPr>
          <a:xfrm>
            <a:off x="4974336" y="3547872"/>
            <a:ext cx="1417320" cy="493776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E82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029200" y="3621024"/>
            <a:ext cx="1307592" cy="201168"/>
          </a:xfrm>
          <a:prstGeom prst="rect">
            <a:avLst/>
          </a:prstGeom>
          <a:noFill/>
        </p:spPr>
        <p:txBody>
          <a:bodyPr wrap="none" lIns="38100" rIns="38100" tIns="12700" bIns="12700" anchor="ctr">
            <a:spAutoFit/>
          </a:bodyPr>
          <a:lstStyle/>
          <a:p>
            <a:pPr algn="ctr"/>
            <a:r>
              <a:rPr sz="930" b="1">
                <a:solidFill>
                  <a:srgbClr val="00459A"/>
                </a:solidFill>
                <a:latin typeface="Aptos"/>
              </a:rPr>
              <a:t>highThinkingQA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5687568" y="3273552"/>
            <a:ext cx="0" cy="274320"/>
          </a:xfrm>
          <a:prstGeom prst="line">
            <a:avLst/>
          </a:prstGeom>
          <a:ln w="12700">
            <a:solidFill>
              <a:srgbClr val="4E82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6601968" y="3547872"/>
            <a:ext cx="1417320" cy="493776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55AA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656831" y="3621024"/>
            <a:ext cx="1307592" cy="201168"/>
          </a:xfrm>
          <a:prstGeom prst="rect">
            <a:avLst/>
          </a:prstGeom>
          <a:noFill/>
        </p:spPr>
        <p:txBody>
          <a:bodyPr wrap="none" lIns="38100" rIns="38100" tIns="12700" bIns="12700" anchor="ctr">
            <a:spAutoFit/>
          </a:bodyPr>
          <a:lstStyle/>
          <a:p>
            <a:pPr algn="ctr"/>
            <a:r>
              <a:rPr sz="930" b="1">
                <a:solidFill>
                  <a:srgbClr val="00459A"/>
                </a:solidFill>
                <a:latin typeface="Aptos"/>
              </a:rPr>
              <a:t>patent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7315200" y="3273552"/>
            <a:ext cx="0" cy="274320"/>
          </a:xfrm>
          <a:prstGeom prst="line">
            <a:avLst/>
          </a:prstGeom>
          <a:ln w="12700">
            <a:solidFill>
              <a:srgbClr val="4E82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Rounded Rectangle 36"/>
          <p:cNvSpPr/>
          <p:nvPr/>
        </p:nvSpPr>
        <p:spPr>
          <a:xfrm>
            <a:off x="1901952" y="4809744"/>
            <a:ext cx="1051560" cy="34747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055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956816" y="4882896"/>
            <a:ext cx="941831" cy="201168"/>
          </a:xfrm>
          <a:prstGeom prst="rect">
            <a:avLst/>
          </a:prstGeom>
          <a:noFill/>
        </p:spPr>
        <p:txBody>
          <a:bodyPr wrap="none" lIns="38100" rIns="38100" tIns="12700" bIns="12700" anchor="ctr">
            <a:spAutoFit/>
          </a:bodyPr>
          <a:lstStyle/>
          <a:p>
            <a:pPr algn="ctr"/>
            <a:r>
              <a:rPr sz="980" b="1">
                <a:solidFill>
                  <a:srgbClr val="00459A"/>
                </a:solidFill>
                <a:latin typeface="Aptos"/>
              </a:rPr>
              <a:t>MySQL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3273552" y="4809744"/>
            <a:ext cx="1051560" cy="34747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E82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328416" y="4882896"/>
            <a:ext cx="941831" cy="201168"/>
          </a:xfrm>
          <a:prstGeom prst="rect">
            <a:avLst/>
          </a:prstGeom>
          <a:noFill/>
        </p:spPr>
        <p:txBody>
          <a:bodyPr wrap="none" lIns="38100" rIns="38100" tIns="12700" bIns="12700" anchor="ctr">
            <a:spAutoFit/>
          </a:bodyPr>
          <a:lstStyle/>
          <a:p>
            <a:pPr algn="ctr"/>
            <a:r>
              <a:rPr sz="980" b="1">
                <a:solidFill>
                  <a:srgbClr val="00459A"/>
                </a:solidFill>
                <a:latin typeface="Aptos"/>
              </a:rPr>
              <a:t>Redis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4645152" y="4809744"/>
            <a:ext cx="1051560" cy="34747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55AA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700016" y="4882896"/>
            <a:ext cx="941831" cy="201168"/>
          </a:xfrm>
          <a:prstGeom prst="rect">
            <a:avLst/>
          </a:prstGeom>
          <a:noFill/>
        </p:spPr>
        <p:txBody>
          <a:bodyPr wrap="none" lIns="38100" rIns="38100" tIns="12700" bIns="12700" anchor="ctr">
            <a:spAutoFit/>
          </a:bodyPr>
          <a:lstStyle/>
          <a:p>
            <a:pPr algn="ctr"/>
            <a:r>
              <a:rPr sz="980" b="1">
                <a:solidFill>
                  <a:srgbClr val="00459A"/>
                </a:solidFill>
                <a:latin typeface="Aptos"/>
              </a:rPr>
              <a:t>MinIO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016752" y="4809744"/>
            <a:ext cx="1051560" cy="34747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4E82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071616" y="4882896"/>
            <a:ext cx="941831" cy="201168"/>
          </a:xfrm>
          <a:prstGeom prst="rect">
            <a:avLst/>
          </a:prstGeom>
          <a:noFill/>
        </p:spPr>
        <p:txBody>
          <a:bodyPr wrap="none" lIns="38100" rIns="38100" tIns="12700" bIns="12700" anchor="ctr">
            <a:spAutoFit/>
          </a:bodyPr>
          <a:lstStyle/>
          <a:p>
            <a:pPr algn="ctr"/>
            <a:r>
              <a:rPr sz="980" b="1">
                <a:solidFill>
                  <a:srgbClr val="00459A"/>
                </a:solidFill>
                <a:latin typeface="Aptos"/>
              </a:rPr>
              <a:t>Neo4j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8641080" y="1353312"/>
            <a:ext cx="2834640" cy="12984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055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769096" y="1426464"/>
            <a:ext cx="2578608" cy="219456"/>
          </a:xfrm>
          <a:prstGeom prst="rect">
            <a:avLst/>
          </a:prstGeom>
          <a:noFill/>
        </p:spPr>
        <p:txBody>
          <a:bodyPr wrap="none" lIns="38100" rIns="38100" tIns="12700" bIns="12700" anchor="ctr">
            <a:spAutoFit/>
          </a:bodyPr>
          <a:lstStyle/>
          <a:p>
            <a:pPr algn="ctr"/>
            <a:r>
              <a:rPr sz="1180" b="1">
                <a:solidFill>
                  <a:srgbClr val="0055AA"/>
                </a:solidFill>
                <a:latin typeface="Noto Sans CJK SC"/>
              </a:rPr>
              <a:t>已实现：统一入口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787384" y="1700784"/>
            <a:ext cx="2542032" cy="859536"/>
          </a:xfrm>
          <a:prstGeom prst="rect">
            <a:avLst/>
          </a:prstGeom>
          <a:noFill/>
        </p:spPr>
        <p:txBody>
          <a:bodyPr wrap="square" lIns="63500" rIns="63500" tIns="38100" bIns="38100" anchor="ctr">
            <a:spAutoFit/>
          </a:bodyPr>
          <a:lstStyle/>
          <a:p>
            <a:pPr algn="l">
              <a:spcAft>
                <a:spcPts val="100"/>
              </a:spcAft>
            </a:pPr>
            <a:r>
              <a:rPr sz="860">
                <a:solidFill>
                  <a:srgbClr val="222222"/>
                </a:solidFill>
                <a:latin typeface="Noto Sans CJK SC"/>
              </a:rPr>
              <a:t>gateway 承接前端请求，</a:t>
            </a:r>
          </a:p>
          <a:p>
            <a:pPr algn="l">
              <a:spcAft>
                <a:spcPts val="100"/>
              </a:spcAft>
            </a:pPr>
            <a:r>
              <a:rPr sz="860">
                <a:solidFill>
                  <a:srgbClr val="222222"/>
                </a:solidFill>
                <a:latin typeface="Noto Sans CJK SC"/>
              </a:rPr>
              <a:t>实现鉴权透传、路由分发和 SSE 转发。</a:t>
            </a:r>
          </a:p>
          <a:p>
            <a:pPr algn="l">
              <a:spcAft>
                <a:spcPts val="100"/>
              </a:spcAft>
            </a:pPr>
            <a:r>
              <a:rPr sz="860">
                <a:solidFill>
                  <a:srgbClr val="222222"/>
                </a:solidFill>
                <a:latin typeface="Noto Sans CJK SC"/>
              </a:rPr>
              <a:t>前端调用保持统一，服务调整不影响页面入口。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8641080" y="2779776"/>
            <a:ext cx="2834640" cy="12984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E82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769096" y="2852928"/>
            <a:ext cx="2578608" cy="219456"/>
          </a:xfrm>
          <a:prstGeom prst="rect">
            <a:avLst/>
          </a:prstGeom>
          <a:noFill/>
        </p:spPr>
        <p:txBody>
          <a:bodyPr wrap="none" lIns="38100" rIns="38100" tIns="12700" bIns="12700" anchor="ctr">
            <a:spAutoFit/>
          </a:bodyPr>
          <a:lstStyle/>
          <a:p>
            <a:pPr algn="ctr"/>
            <a:r>
              <a:rPr sz="1180" b="1">
                <a:solidFill>
                  <a:srgbClr val="EE822F"/>
                </a:solidFill>
                <a:latin typeface="Noto Sans CJK SC"/>
              </a:rPr>
              <a:t>已实现：公共服务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787384" y="3127248"/>
            <a:ext cx="2542032" cy="859536"/>
          </a:xfrm>
          <a:prstGeom prst="rect">
            <a:avLst/>
          </a:prstGeom>
          <a:noFill/>
        </p:spPr>
        <p:txBody>
          <a:bodyPr wrap="square" lIns="63500" rIns="63500" tIns="38100" bIns="38100" anchor="ctr">
            <a:spAutoFit/>
          </a:bodyPr>
          <a:lstStyle/>
          <a:p>
            <a:pPr algn="l">
              <a:spcAft>
                <a:spcPts val="100"/>
              </a:spcAft>
            </a:pPr>
            <a:r>
              <a:rPr sz="860">
                <a:solidFill>
                  <a:srgbClr val="222222"/>
                </a:solidFill>
                <a:latin typeface="Noto Sans CJK SC"/>
              </a:rPr>
              <a:t>public-service 接管认证、会话、文件、</a:t>
            </a:r>
          </a:p>
          <a:p>
            <a:pPr algn="l">
              <a:spcAft>
                <a:spcPts val="100"/>
              </a:spcAft>
            </a:pPr>
            <a:r>
              <a:rPr sz="860">
                <a:solidFill>
                  <a:srgbClr val="222222"/>
                </a:solidFill>
                <a:latin typeface="Noto Sans CJK SC"/>
              </a:rPr>
              <a:t>组织管理和系统接口。</a:t>
            </a:r>
          </a:p>
          <a:p>
            <a:pPr algn="l">
              <a:spcAft>
                <a:spcPts val="100"/>
              </a:spcAft>
            </a:pPr>
            <a:r>
              <a:rPr sz="860">
                <a:solidFill>
                  <a:srgbClr val="222222"/>
                </a:solidFill>
                <a:latin typeface="Noto Sans CJK SC"/>
              </a:rPr>
              <a:t>用户、会话、文件等状态统一收敛。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8641080" y="4206240"/>
            <a:ext cx="2834640" cy="12984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55AA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8769096" y="4279392"/>
            <a:ext cx="2578608" cy="219456"/>
          </a:xfrm>
          <a:prstGeom prst="rect">
            <a:avLst/>
          </a:prstGeom>
          <a:noFill/>
        </p:spPr>
        <p:txBody>
          <a:bodyPr wrap="none" lIns="38100" rIns="38100" tIns="12700" bIns="12700" anchor="ctr">
            <a:spAutoFit/>
          </a:bodyPr>
          <a:lstStyle/>
          <a:p>
            <a:pPr algn="ctr"/>
            <a:r>
              <a:rPr sz="1180" b="1">
                <a:solidFill>
                  <a:srgbClr val="55AA66"/>
                </a:solidFill>
                <a:latin typeface="Noto Sans CJK SC"/>
              </a:rPr>
              <a:t>已实现：执行边界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787384" y="4553712"/>
            <a:ext cx="2542032" cy="859536"/>
          </a:xfrm>
          <a:prstGeom prst="rect">
            <a:avLst/>
          </a:prstGeom>
          <a:noFill/>
        </p:spPr>
        <p:txBody>
          <a:bodyPr wrap="square" lIns="63500" rIns="63500" tIns="38100" bIns="38100" anchor="ctr">
            <a:spAutoFit/>
          </a:bodyPr>
          <a:lstStyle/>
          <a:p>
            <a:pPr algn="l">
              <a:spcAft>
                <a:spcPts val="100"/>
              </a:spcAft>
            </a:pPr>
            <a:r>
              <a:rPr sz="860">
                <a:solidFill>
                  <a:srgbClr val="222222"/>
                </a:solidFill>
                <a:latin typeface="Noto Sans CJK SC"/>
              </a:rPr>
              <a:t>fastQA、highThinkingQA、patent</a:t>
            </a:r>
          </a:p>
          <a:p>
            <a:pPr algn="l">
              <a:spcAft>
                <a:spcPts val="100"/>
              </a:spcAft>
            </a:pPr>
            <a:r>
              <a:rPr sz="860">
                <a:solidFill>
                  <a:srgbClr val="222222"/>
                </a:solidFill>
                <a:latin typeface="Noto Sans CJK SC"/>
              </a:rPr>
              <a:t>按问答模式独立执行。</a:t>
            </a:r>
          </a:p>
          <a:p>
            <a:pPr algn="l">
              <a:spcAft>
                <a:spcPts val="100"/>
              </a:spcAft>
            </a:pPr>
            <a:r>
              <a:rPr sz="860">
                <a:solidFill>
                  <a:srgbClr val="222222"/>
                </a:solidFill>
                <a:latin typeface="Noto Sans CJK SC"/>
              </a:rPr>
              <a:t>MySQL、Redis、MinIO 为任务和对象提供落点。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3154680" y="6236208"/>
            <a:ext cx="1097280" cy="201168"/>
          </a:xfrm>
          <a:prstGeom prst="rect">
            <a:avLst/>
          </a:prstGeom>
          <a:noFill/>
        </p:spPr>
        <p:txBody>
          <a:bodyPr wrap="none" lIns="25400" rIns="25400" tIns="12700" bIns="12700" anchor="ctr">
            <a:spAutoFit/>
          </a:bodyPr>
          <a:lstStyle/>
          <a:p>
            <a:pPr algn="r"/>
            <a:r>
              <a:rPr sz="1000" b="0">
                <a:solidFill>
                  <a:srgbClr val="0055AA"/>
                </a:solidFill>
                <a:latin typeface="Noto Sans CJK SC"/>
              </a:rPr>
              <a:t>创新成就卓越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370832" y="6236208"/>
            <a:ext cx="2743200" cy="201168"/>
          </a:xfrm>
          <a:prstGeom prst="rect">
            <a:avLst/>
          </a:prstGeom>
          <a:noFill/>
        </p:spPr>
        <p:txBody>
          <a:bodyPr wrap="none" lIns="25400" rIns="25400" tIns="12700" bIns="12700" anchor="ctr">
            <a:spAutoFit/>
          </a:bodyPr>
          <a:lstStyle/>
          <a:p>
            <a:pPr algn="l"/>
            <a:r>
              <a:rPr sz="1000" b="0">
                <a:solidFill>
                  <a:srgbClr val="666666"/>
                </a:solidFill>
                <a:latin typeface="Noto Sans CJK SC"/>
              </a:rPr>
              <a:t>INNOVATION CREATES EXCELLENCE</a:t>
            </a:r>
          </a:p>
        </p:txBody>
      </p:sp>
      <p:sp>
        <p:nvSpPr>
          <p:cNvPr id="56" name="Rectangle 55"/>
          <p:cNvSpPr/>
          <p:nvPr/>
        </p:nvSpPr>
        <p:spPr>
          <a:xfrm>
            <a:off x="9555480" y="6629400"/>
            <a:ext cx="2651760" cy="36576"/>
          </a:xfrm>
          <a:prstGeom prst="rect">
            <a:avLst/>
          </a:prstGeom>
          <a:solidFill>
            <a:srgbClr val="B6C0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0" y="6702552"/>
            <a:ext cx="12191999" cy="36576"/>
          </a:xfrm>
          <a:prstGeom prst="rect">
            <a:avLst/>
          </a:prstGeom>
          <a:solidFill>
            <a:srgbClr val="EEEF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457200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94944" y="73152"/>
            <a:ext cx="502920" cy="274320"/>
          </a:xfrm>
          <a:prstGeom prst="rect">
            <a:avLst/>
          </a:prstGeom>
          <a:noFill/>
        </p:spPr>
        <p:txBody>
          <a:bodyPr wrap="none" lIns="25400" rIns="25400" tIns="12700" bIns="12700" anchor="ctr">
            <a:spAutoFit/>
          </a:bodyPr>
          <a:lstStyle/>
          <a:p>
            <a:pPr algn="l"/>
            <a:r>
              <a:rPr sz="1700" b="1">
                <a:solidFill>
                  <a:srgbClr val="0055AA"/>
                </a:solidFill>
                <a:latin typeface="Noto Sans CJK SC"/>
              </a:rP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" y="36576"/>
            <a:ext cx="5669280" cy="365760"/>
          </a:xfrm>
          <a:prstGeom prst="rect">
            <a:avLst/>
          </a:prstGeom>
          <a:noFill/>
        </p:spPr>
        <p:txBody>
          <a:bodyPr wrap="none" lIns="25400" rIns="25400" tIns="12700" bIns="12700" anchor="ctr">
            <a:spAutoFit/>
          </a:bodyPr>
          <a:lstStyle/>
          <a:p>
            <a:pPr algn="l"/>
            <a:r>
              <a:rPr sz="2200" b="1">
                <a:solidFill>
                  <a:srgbClr val="0055AA"/>
                </a:solidFill>
                <a:latin typeface="Noto Sans CJK SC"/>
              </a:rPr>
              <a:t>后端架构</a:t>
            </a:r>
          </a:p>
        </p:txBody>
      </p:sp>
      <p:pic>
        <p:nvPicPr>
          <p:cNvPr id="5" name="Picture 4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0"/>
            <a:ext cx="2240280" cy="457200"/>
          </a:xfrm>
          <a:prstGeom prst="rect">
            <a:avLst/>
          </a:prstGeom>
        </p:spPr>
      </p:pic>
      <p:pic>
        <p:nvPicPr>
          <p:cNvPr id="6" name="Picture 5" descr="logo_full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04704" y="91440"/>
            <a:ext cx="1298448" cy="25603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58368" y="658368"/>
            <a:ext cx="6949440" cy="438912"/>
          </a:xfrm>
          <a:prstGeom prst="rect">
            <a:avLst/>
          </a:prstGeom>
          <a:noFill/>
        </p:spPr>
        <p:txBody>
          <a:bodyPr wrap="none" lIns="38100" rIns="38100" tIns="12700" bIns="12700" anchor="ctr">
            <a:spAutoFit/>
          </a:bodyPr>
          <a:lstStyle/>
          <a:p>
            <a:pPr algn="l"/>
            <a:r>
              <a:rPr sz="2400" b="1">
                <a:solidFill>
                  <a:srgbClr val="0055AA"/>
                </a:solidFill>
                <a:latin typeface="Noto Sans CJK SC"/>
              </a:rPr>
              <a:t>实现 gateway 统一入口与服务路由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1078992"/>
            <a:ext cx="6949440" cy="256032"/>
          </a:xfrm>
          <a:prstGeom prst="rect">
            <a:avLst/>
          </a:prstGeom>
          <a:noFill/>
        </p:spPr>
        <p:txBody>
          <a:bodyPr wrap="none" lIns="38100" rIns="38100" tIns="12700" bIns="12700" anchor="ctr">
            <a:spAutoFit/>
          </a:bodyPr>
          <a:lstStyle/>
          <a:p>
            <a:pPr algn="l"/>
            <a:r>
              <a:rPr sz="1150" b="0">
                <a:solidFill>
                  <a:srgbClr val="1E2A3A"/>
                </a:solidFill>
                <a:latin typeface="Noto Sans CJK SC"/>
              </a:rPr>
              <a:t>前端请求统一进入 gateway，再按公共接口、任务 API 和 QA 模式分流。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1353312"/>
            <a:ext cx="7818120" cy="4462272"/>
          </a:xfrm>
          <a:prstGeom prst="rect">
            <a:avLst/>
          </a:prstGeom>
          <a:solidFill>
            <a:srgbClr val="F9FBFE"/>
          </a:solidFill>
          <a:ln w="10160">
            <a:solidFill>
              <a:srgbClr val="D7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246120" y="2670048"/>
            <a:ext cx="2148840" cy="694944"/>
          </a:xfrm>
          <a:prstGeom prst="roundRect">
            <a:avLst/>
          </a:prstGeom>
          <a:solidFill>
            <a:srgbClr val="E9F3FF"/>
          </a:solidFill>
          <a:ln w="15240">
            <a:solidFill>
              <a:srgbClr val="0055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00984" y="2743200"/>
            <a:ext cx="2039112" cy="201168"/>
          </a:xfrm>
          <a:prstGeom prst="rect">
            <a:avLst/>
          </a:prstGeom>
          <a:noFill/>
        </p:spPr>
        <p:txBody>
          <a:bodyPr wrap="none" lIns="38100" rIns="38100" tIns="12700" bIns="12700" anchor="ctr">
            <a:spAutoFit/>
          </a:bodyPr>
          <a:lstStyle/>
          <a:p>
            <a:pPr algn="ctr"/>
            <a:r>
              <a:rPr sz="1500" b="1">
                <a:solidFill>
                  <a:srgbClr val="00459A"/>
                </a:solidFill>
                <a:latin typeface="Aptos"/>
              </a:rPr>
              <a:t>gateway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19272" y="3063240"/>
            <a:ext cx="2002536" cy="274320"/>
          </a:xfrm>
          <a:prstGeom prst="rect">
            <a:avLst/>
          </a:prstGeom>
          <a:noFill/>
        </p:spPr>
        <p:txBody>
          <a:bodyPr wrap="none" lIns="38100" rIns="38100" tIns="12700" bIns="12700" anchor="ctr">
            <a:spAutoFit/>
          </a:bodyPr>
          <a:lstStyle/>
          <a:p>
            <a:pPr algn="ctr"/>
            <a:r>
              <a:rPr sz="840" b="0">
                <a:solidFill>
                  <a:srgbClr val="222222"/>
                </a:solidFill>
                <a:latin typeface="Noto Sans CJK SC"/>
              </a:rPr>
              <a:t>统一入口 / 路由编排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05840" y="2697480"/>
            <a:ext cx="1508760" cy="56692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4E82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60704" y="2770632"/>
            <a:ext cx="1399031" cy="201168"/>
          </a:xfrm>
          <a:prstGeom prst="rect">
            <a:avLst/>
          </a:prstGeom>
          <a:noFill/>
        </p:spPr>
        <p:txBody>
          <a:bodyPr wrap="none" lIns="38100" rIns="38100" tIns="12700" bIns="12700" anchor="ctr">
            <a:spAutoFit/>
          </a:bodyPr>
          <a:lstStyle/>
          <a:p>
            <a:pPr algn="ctr"/>
            <a:r>
              <a:rPr sz="1050" b="1">
                <a:solidFill>
                  <a:srgbClr val="00459A"/>
                </a:solidFill>
                <a:latin typeface="Aptos"/>
              </a:rPr>
              <a:t>frontend-vue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78992" y="3090672"/>
            <a:ext cx="1362456" cy="146304"/>
          </a:xfrm>
          <a:prstGeom prst="rect">
            <a:avLst/>
          </a:prstGeom>
          <a:noFill/>
        </p:spPr>
        <p:txBody>
          <a:bodyPr wrap="none" lIns="38100" rIns="38100" tIns="12700" bIns="12700" anchor="ctr">
            <a:spAutoFit/>
          </a:bodyPr>
          <a:lstStyle/>
          <a:p>
            <a:pPr algn="ctr"/>
            <a:r>
              <a:rPr sz="840" b="0">
                <a:solidFill>
                  <a:srgbClr val="222222"/>
                </a:solidFill>
                <a:latin typeface="Noto Sans CJK SC"/>
              </a:rPr>
              <a:t>前端请求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2514600" y="2980944"/>
            <a:ext cx="731520" cy="36576"/>
          </a:xfrm>
          <a:prstGeom prst="line">
            <a:avLst/>
          </a:prstGeom>
          <a:ln w="12700">
            <a:solidFill>
              <a:srgbClr val="4E82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1005840" y="3703320"/>
            <a:ext cx="1508760" cy="56692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30C0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60704" y="3776472"/>
            <a:ext cx="1399031" cy="201168"/>
          </a:xfrm>
          <a:prstGeom prst="rect">
            <a:avLst/>
          </a:prstGeom>
          <a:noFill/>
        </p:spPr>
        <p:txBody>
          <a:bodyPr wrap="none" lIns="38100" rIns="38100" tIns="12700" bIns="12700" anchor="ctr">
            <a:spAutoFit/>
          </a:bodyPr>
          <a:lstStyle/>
          <a:p>
            <a:pPr algn="ctr"/>
            <a:r>
              <a:rPr sz="1050" b="1">
                <a:solidFill>
                  <a:srgbClr val="00459A"/>
                </a:solidFill>
                <a:latin typeface="Aptos"/>
              </a:rPr>
              <a:t>SSE Client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78992" y="4096511"/>
            <a:ext cx="1362456" cy="146304"/>
          </a:xfrm>
          <a:prstGeom prst="rect">
            <a:avLst/>
          </a:prstGeom>
          <a:noFill/>
        </p:spPr>
        <p:txBody>
          <a:bodyPr wrap="none" lIns="38100" rIns="38100" tIns="12700" bIns="12700" anchor="ctr">
            <a:spAutoFit/>
          </a:bodyPr>
          <a:lstStyle/>
          <a:p>
            <a:pPr algn="ctr"/>
            <a:r>
              <a:rPr sz="840" b="0">
                <a:solidFill>
                  <a:srgbClr val="222222"/>
                </a:solidFill>
                <a:latin typeface="Noto Sans CJK SC"/>
              </a:rPr>
              <a:t>流式连接</a:t>
            </a:r>
          </a:p>
        </p:txBody>
      </p:sp>
      <p:cxnSp>
        <p:nvCxnSpPr>
          <p:cNvPr id="20" name="Connector 19"/>
          <p:cNvCxnSpPr/>
          <p:nvPr/>
        </p:nvCxnSpPr>
        <p:spPr>
          <a:xfrm flipV="1">
            <a:off x="2514600" y="3017520"/>
            <a:ext cx="731520" cy="969263"/>
          </a:xfrm>
          <a:prstGeom prst="line">
            <a:avLst/>
          </a:prstGeom>
          <a:ln w="12700">
            <a:solidFill>
              <a:srgbClr val="30C0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6172200" y="1719072"/>
            <a:ext cx="1691640" cy="53035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055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27064" y="1792224"/>
            <a:ext cx="1581912" cy="201168"/>
          </a:xfrm>
          <a:prstGeom prst="rect">
            <a:avLst/>
          </a:prstGeom>
          <a:noFill/>
        </p:spPr>
        <p:txBody>
          <a:bodyPr wrap="none" lIns="38100" rIns="38100" tIns="12700" bIns="12700" anchor="ctr">
            <a:spAutoFit/>
          </a:bodyPr>
          <a:lstStyle/>
          <a:p>
            <a:pPr algn="ctr"/>
            <a:r>
              <a:rPr sz="980" b="1">
                <a:solidFill>
                  <a:srgbClr val="00459A"/>
                </a:solidFill>
                <a:latin typeface="Aptos"/>
              </a:rPr>
              <a:t>public-service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45352" y="2112264"/>
            <a:ext cx="1545336" cy="146304"/>
          </a:xfrm>
          <a:prstGeom prst="rect">
            <a:avLst/>
          </a:prstGeom>
          <a:noFill/>
        </p:spPr>
        <p:txBody>
          <a:bodyPr wrap="none" lIns="38100" rIns="38100" tIns="12700" bIns="12700" anchor="ctr">
            <a:spAutoFit/>
          </a:bodyPr>
          <a:lstStyle/>
          <a:p>
            <a:pPr algn="ctr"/>
            <a:r>
              <a:rPr sz="840" b="0">
                <a:solidFill>
                  <a:srgbClr val="222222"/>
                </a:solidFill>
                <a:latin typeface="Noto Sans CJK SC"/>
              </a:rPr>
              <a:t>auth / admin / conversation</a:t>
            </a:r>
          </a:p>
        </p:txBody>
      </p:sp>
      <p:cxnSp>
        <p:nvCxnSpPr>
          <p:cNvPr id="24" name="Connector 23"/>
          <p:cNvCxnSpPr/>
          <p:nvPr/>
        </p:nvCxnSpPr>
        <p:spPr>
          <a:xfrm flipV="1">
            <a:off x="5394960" y="1984248"/>
            <a:ext cx="777240" cy="1033272"/>
          </a:xfrm>
          <a:prstGeom prst="line">
            <a:avLst/>
          </a:prstGeom>
          <a:ln w="12700">
            <a:solidFill>
              <a:srgbClr val="0055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6172200" y="2633472"/>
            <a:ext cx="1691640" cy="53035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30C0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227064" y="2706624"/>
            <a:ext cx="1581912" cy="201168"/>
          </a:xfrm>
          <a:prstGeom prst="rect">
            <a:avLst/>
          </a:prstGeom>
          <a:noFill/>
        </p:spPr>
        <p:txBody>
          <a:bodyPr wrap="none" lIns="38100" rIns="38100" tIns="12700" bIns="12700" anchor="ctr">
            <a:spAutoFit/>
          </a:bodyPr>
          <a:lstStyle/>
          <a:p>
            <a:pPr algn="ctr"/>
            <a:r>
              <a:rPr sz="980" b="1">
                <a:solidFill>
                  <a:srgbClr val="00459A"/>
                </a:solidFill>
                <a:latin typeface="Aptos"/>
              </a:rPr>
              <a:t>fastQA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45352" y="3026664"/>
            <a:ext cx="1545336" cy="146304"/>
          </a:xfrm>
          <a:prstGeom prst="rect">
            <a:avLst/>
          </a:prstGeom>
          <a:noFill/>
        </p:spPr>
        <p:txBody>
          <a:bodyPr wrap="none" lIns="38100" rIns="38100" tIns="12700" bIns="12700" anchor="ctr">
            <a:spAutoFit/>
          </a:bodyPr>
          <a:lstStyle/>
          <a:p>
            <a:pPr algn="ctr"/>
            <a:r>
              <a:rPr sz="840" b="0">
                <a:solidFill>
                  <a:srgbClr val="222222"/>
                </a:solidFill>
                <a:latin typeface="Noto Sans CJK SC"/>
              </a:rPr>
              <a:t>fast route</a:t>
            </a:r>
          </a:p>
        </p:txBody>
      </p:sp>
      <p:cxnSp>
        <p:nvCxnSpPr>
          <p:cNvPr id="28" name="Connector 27"/>
          <p:cNvCxnSpPr/>
          <p:nvPr/>
        </p:nvCxnSpPr>
        <p:spPr>
          <a:xfrm flipV="1">
            <a:off x="5394960" y="2898648"/>
            <a:ext cx="777240" cy="118872"/>
          </a:xfrm>
          <a:prstGeom prst="line">
            <a:avLst/>
          </a:prstGeom>
          <a:ln w="12700">
            <a:solidFill>
              <a:srgbClr val="30C0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6172200" y="3547872"/>
            <a:ext cx="1691640" cy="53035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E82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227064" y="3621024"/>
            <a:ext cx="1581912" cy="201168"/>
          </a:xfrm>
          <a:prstGeom prst="rect">
            <a:avLst/>
          </a:prstGeom>
          <a:noFill/>
        </p:spPr>
        <p:txBody>
          <a:bodyPr wrap="none" lIns="38100" rIns="38100" tIns="12700" bIns="12700" anchor="ctr">
            <a:spAutoFit/>
          </a:bodyPr>
          <a:lstStyle/>
          <a:p>
            <a:pPr algn="ctr"/>
            <a:r>
              <a:rPr sz="980" b="1">
                <a:solidFill>
                  <a:srgbClr val="00459A"/>
                </a:solidFill>
                <a:latin typeface="Aptos"/>
              </a:rPr>
              <a:t>highThinkingQA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45352" y="3941063"/>
            <a:ext cx="1545336" cy="146304"/>
          </a:xfrm>
          <a:prstGeom prst="rect">
            <a:avLst/>
          </a:prstGeom>
          <a:noFill/>
        </p:spPr>
        <p:txBody>
          <a:bodyPr wrap="none" lIns="38100" rIns="38100" tIns="12700" bIns="12700" anchor="ctr">
            <a:spAutoFit/>
          </a:bodyPr>
          <a:lstStyle/>
          <a:p>
            <a:pPr algn="ctr"/>
            <a:r>
              <a:rPr sz="840" b="0">
                <a:solidFill>
                  <a:srgbClr val="222222"/>
                </a:solidFill>
                <a:latin typeface="Noto Sans CJK SC"/>
              </a:rPr>
              <a:t>thinking route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5394960" y="3017520"/>
            <a:ext cx="777240" cy="795528"/>
          </a:xfrm>
          <a:prstGeom prst="line">
            <a:avLst/>
          </a:prstGeom>
          <a:ln w="12700">
            <a:solidFill>
              <a:srgbClr val="EE82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ounded Rectangle 32"/>
          <p:cNvSpPr/>
          <p:nvPr/>
        </p:nvSpPr>
        <p:spPr>
          <a:xfrm>
            <a:off x="6172200" y="4462272"/>
            <a:ext cx="1691640" cy="53035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55AA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227064" y="4535424"/>
            <a:ext cx="1581912" cy="201168"/>
          </a:xfrm>
          <a:prstGeom prst="rect">
            <a:avLst/>
          </a:prstGeom>
          <a:noFill/>
        </p:spPr>
        <p:txBody>
          <a:bodyPr wrap="none" lIns="38100" rIns="38100" tIns="12700" bIns="12700" anchor="ctr">
            <a:spAutoFit/>
          </a:bodyPr>
          <a:lstStyle/>
          <a:p>
            <a:pPr algn="ctr"/>
            <a:r>
              <a:rPr sz="980" b="1">
                <a:solidFill>
                  <a:srgbClr val="00459A"/>
                </a:solidFill>
                <a:latin typeface="Aptos"/>
              </a:rPr>
              <a:t>patent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245352" y="4855464"/>
            <a:ext cx="1545336" cy="146304"/>
          </a:xfrm>
          <a:prstGeom prst="rect">
            <a:avLst/>
          </a:prstGeom>
          <a:noFill/>
        </p:spPr>
        <p:txBody>
          <a:bodyPr wrap="none" lIns="38100" rIns="38100" tIns="12700" bIns="12700" anchor="ctr">
            <a:spAutoFit/>
          </a:bodyPr>
          <a:lstStyle/>
          <a:p>
            <a:pPr algn="ctr"/>
            <a:r>
              <a:rPr sz="840" b="0">
                <a:solidFill>
                  <a:srgbClr val="222222"/>
                </a:solidFill>
                <a:latin typeface="Noto Sans CJK SC"/>
              </a:rPr>
              <a:t>patent route / original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5394960" y="3017520"/>
            <a:ext cx="777240" cy="1709928"/>
          </a:xfrm>
          <a:prstGeom prst="line">
            <a:avLst/>
          </a:prstGeom>
          <a:ln w="12700">
            <a:solidFill>
              <a:srgbClr val="55AA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Rounded Rectangle 36"/>
          <p:cNvSpPr/>
          <p:nvPr/>
        </p:nvSpPr>
        <p:spPr>
          <a:xfrm>
            <a:off x="2816352" y="1700784"/>
            <a:ext cx="1078992" cy="256032"/>
          </a:xfrm>
          <a:prstGeom prst="roundRect">
            <a:avLst/>
          </a:prstGeom>
          <a:solidFill>
            <a:srgbClr val="E9F3FF"/>
          </a:solidFill>
          <a:ln w="12700">
            <a:solidFill>
              <a:srgbClr val="0055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400" rIns="25400"/>
          <a:lstStyle/>
          <a:p>
            <a:pPr algn="ctr"/>
            <a:r>
              <a:rPr sz="950" b="1">
                <a:solidFill>
                  <a:srgbClr val="00459A"/>
                </a:solidFill>
                <a:latin typeface="Noto Sans CJK SC"/>
              </a:rPr>
              <a:t>鉴权透传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160520" y="1700784"/>
            <a:ext cx="1078992" cy="256032"/>
          </a:xfrm>
          <a:prstGeom prst="roundRect">
            <a:avLst/>
          </a:prstGeom>
          <a:solidFill>
            <a:srgbClr val="E9F3FF"/>
          </a:solidFill>
          <a:ln w="12700">
            <a:solidFill>
              <a:srgbClr val="0055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400" rIns="25400"/>
          <a:lstStyle/>
          <a:p>
            <a:pPr algn="ctr"/>
            <a:r>
              <a:rPr sz="950" b="1">
                <a:solidFill>
                  <a:srgbClr val="00459A"/>
                </a:solidFill>
                <a:latin typeface="Noto Sans CJK SC"/>
              </a:rPr>
              <a:t>任务 API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2788920" y="3794760"/>
            <a:ext cx="1078992" cy="256032"/>
          </a:xfrm>
          <a:prstGeom prst="roundRect">
            <a:avLst/>
          </a:prstGeom>
          <a:solidFill>
            <a:srgbClr val="E9F3FF"/>
          </a:solidFill>
          <a:ln w="12700">
            <a:solidFill>
              <a:srgbClr val="0055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400" rIns="25400"/>
          <a:lstStyle/>
          <a:p>
            <a:pPr algn="ctr"/>
            <a:r>
              <a:rPr sz="950" b="1">
                <a:solidFill>
                  <a:srgbClr val="00459A"/>
                </a:solidFill>
                <a:latin typeface="Noto Sans CJK SC"/>
              </a:rPr>
              <a:t>错误归一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4160520" y="3794760"/>
            <a:ext cx="1078992" cy="256032"/>
          </a:xfrm>
          <a:prstGeom prst="roundRect">
            <a:avLst/>
          </a:prstGeom>
          <a:solidFill>
            <a:srgbClr val="E9F3FF"/>
          </a:solidFill>
          <a:ln w="12700">
            <a:solidFill>
              <a:srgbClr val="0055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400" rIns="25400"/>
          <a:lstStyle/>
          <a:p>
            <a:pPr algn="ctr"/>
            <a:r>
              <a:rPr sz="950" b="1">
                <a:solidFill>
                  <a:srgbClr val="00459A"/>
                </a:solidFill>
                <a:latin typeface="Noto Sans CJK SC"/>
              </a:rPr>
              <a:t>SSE 转发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1078992" y="5321808"/>
            <a:ext cx="6812280" cy="347472"/>
          </a:xfrm>
          <a:prstGeom prst="roundRect">
            <a:avLst/>
          </a:prstGeom>
          <a:solidFill>
            <a:srgbClr val="E9F3FF"/>
          </a:solidFill>
          <a:ln w="10160">
            <a:solidFill>
              <a:srgbClr val="0055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188719" y="5394960"/>
            <a:ext cx="6592824" cy="164592"/>
          </a:xfrm>
          <a:prstGeom prst="rect">
            <a:avLst/>
          </a:prstGeom>
          <a:noFill/>
        </p:spPr>
        <p:txBody>
          <a:bodyPr wrap="none" lIns="38100" rIns="38100" tIns="12700" bIns="12700" anchor="ctr">
            <a:spAutoFit/>
          </a:bodyPr>
          <a:lstStyle/>
          <a:p>
            <a:pPr algn="ctr"/>
            <a:r>
              <a:rPr sz="969" b="1">
                <a:solidFill>
                  <a:srgbClr val="00459A"/>
                </a:solidFill>
                <a:latin typeface="Noto Sans CJK SC"/>
              </a:rPr>
              <a:t>路径路由  /  身份透传  /  任务编排  /  SSE 事件  /  统一返回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8641080" y="1353312"/>
            <a:ext cx="2834640" cy="12984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055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769096" y="1426464"/>
            <a:ext cx="2578608" cy="219456"/>
          </a:xfrm>
          <a:prstGeom prst="rect">
            <a:avLst/>
          </a:prstGeom>
          <a:noFill/>
        </p:spPr>
        <p:txBody>
          <a:bodyPr wrap="none" lIns="38100" rIns="38100" tIns="12700" bIns="12700" anchor="ctr">
            <a:spAutoFit/>
          </a:bodyPr>
          <a:lstStyle/>
          <a:p>
            <a:pPr algn="ctr"/>
            <a:r>
              <a:rPr sz="1180" b="1">
                <a:solidFill>
                  <a:srgbClr val="0055AA"/>
                </a:solidFill>
                <a:latin typeface="Noto Sans CJK SC"/>
              </a:rPr>
              <a:t>已实现：前端统一调用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787384" y="1700784"/>
            <a:ext cx="2542032" cy="859536"/>
          </a:xfrm>
          <a:prstGeom prst="rect">
            <a:avLst/>
          </a:prstGeom>
          <a:noFill/>
        </p:spPr>
        <p:txBody>
          <a:bodyPr wrap="square" lIns="63500" rIns="63500" tIns="38100" bIns="38100" anchor="ctr">
            <a:spAutoFit/>
          </a:bodyPr>
          <a:lstStyle/>
          <a:p>
            <a:pPr algn="l">
              <a:spcAft>
                <a:spcPts val="100"/>
              </a:spcAft>
            </a:pPr>
            <a:r>
              <a:rPr sz="860">
                <a:solidFill>
                  <a:srgbClr val="222222"/>
                </a:solidFill>
                <a:latin typeface="Noto Sans CJK SC"/>
              </a:rPr>
              <a:t>前端请求统一进入 gateway，</a:t>
            </a:r>
          </a:p>
          <a:p>
            <a:pPr algn="l">
              <a:spcAft>
                <a:spcPts val="100"/>
              </a:spcAft>
            </a:pPr>
            <a:r>
              <a:rPr sz="860">
                <a:solidFill>
                  <a:srgbClr val="222222"/>
                </a:solidFill>
                <a:latin typeface="Noto Sans CJK SC"/>
              </a:rPr>
              <a:t>页面侧不直接感知 public-service、QA 服务地址。</a:t>
            </a:r>
          </a:p>
          <a:p>
            <a:pPr algn="l">
              <a:spcAft>
                <a:spcPts val="100"/>
              </a:spcAft>
            </a:pPr>
            <a:r>
              <a:rPr sz="860">
                <a:solidFill>
                  <a:srgbClr val="222222"/>
                </a:solidFill>
                <a:latin typeface="Noto Sans CJK SC"/>
              </a:rPr>
              <a:t>鉴权、会话、任务、原文接口按路径分发。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8641080" y="2779776"/>
            <a:ext cx="2834640" cy="12984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4E82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769096" y="2852928"/>
            <a:ext cx="2578608" cy="219456"/>
          </a:xfrm>
          <a:prstGeom prst="rect">
            <a:avLst/>
          </a:prstGeom>
          <a:noFill/>
        </p:spPr>
        <p:txBody>
          <a:bodyPr wrap="none" lIns="38100" rIns="38100" tIns="12700" bIns="12700" anchor="ctr">
            <a:spAutoFit/>
          </a:bodyPr>
          <a:lstStyle/>
          <a:p>
            <a:pPr algn="ctr"/>
            <a:r>
              <a:rPr sz="1180" b="1">
                <a:solidFill>
                  <a:srgbClr val="4E82C7"/>
                </a:solidFill>
                <a:latin typeface="Noto Sans CJK SC"/>
              </a:rPr>
              <a:t>已实现：请求分流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787384" y="3127248"/>
            <a:ext cx="2542032" cy="859536"/>
          </a:xfrm>
          <a:prstGeom prst="rect">
            <a:avLst/>
          </a:prstGeom>
          <a:noFill/>
        </p:spPr>
        <p:txBody>
          <a:bodyPr wrap="square" lIns="63500" rIns="63500" tIns="38100" bIns="38100" anchor="ctr">
            <a:spAutoFit/>
          </a:bodyPr>
          <a:lstStyle/>
          <a:p>
            <a:pPr algn="l">
              <a:spcAft>
                <a:spcPts val="100"/>
              </a:spcAft>
            </a:pPr>
            <a:r>
              <a:rPr sz="860">
                <a:solidFill>
                  <a:srgbClr val="222222"/>
                </a:solidFill>
                <a:latin typeface="Noto Sans CJK SC"/>
              </a:rPr>
              <a:t>公共接口代理到 public-service，</a:t>
            </a:r>
          </a:p>
          <a:p>
            <a:pPr algn="l">
              <a:spcAft>
                <a:spcPts val="100"/>
              </a:spcAft>
            </a:pPr>
            <a:r>
              <a:rPr sz="860">
                <a:solidFill>
                  <a:srgbClr val="222222"/>
                </a:solidFill>
                <a:latin typeface="Noto Sans CJK SC"/>
              </a:rPr>
              <a:t>QA 请求按 fast / thinking / patent 模式进入执行服务。</a:t>
            </a:r>
          </a:p>
          <a:p>
            <a:pPr algn="l">
              <a:spcAft>
                <a:spcPts val="100"/>
              </a:spcAft>
            </a:pPr>
            <a:r>
              <a:rPr sz="860">
                <a:solidFill>
                  <a:srgbClr val="222222"/>
                </a:solidFill>
                <a:latin typeface="Noto Sans CJK SC"/>
              </a:rPr>
              <a:t>任务 API 在入口侧形成统一调度面。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8641080" y="4206240"/>
            <a:ext cx="2834640" cy="12984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55AA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769096" y="4279392"/>
            <a:ext cx="2578608" cy="219456"/>
          </a:xfrm>
          <a:prstGeom prst="rect">
            <a:avLst/>
          </a:prstGeom>
          <a:noFill/>
        </p:spPr>
        <p:txBody>
          <a:bodyPr wrap="none" lIns="38100" rIns="38100" tIns="12700" bIns="12700" anchor="ctr">
            <a:spAutoFit/>
          </a:bodyPr>
          <a:lstStyle/>
          <a:p>
            <a:pPr algn="ctr"/>
            <a:r>
              <a:rPr sz="1180" b="1">
                <a:solidFill>
                  <a:srgbClr val="55AA66"/>
                </a:solidFill>
                <a:latin typeface="Noto Sans CJK SC"/>
              </a:rPr>
              <a:t>已实现：SSE 承接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787384" y="4553712"/>
            <a:ext cx="2542032" cy="859536"/>
          </a:xfrm>
          <a:prstGeom prst="rect">
            <a:avLst/>
          </a:prstGeom>
          <a:noFill/>
        </p:spPr>
        <p:txBody>
          <a:bodyPr wrap="square" lIns="63500" rIns="63500" tIns="38100" bIns="38100" anchor="ctr">
            <a:spAutoFit/>
          </a:bodyPr>
          <a:lstStyle/>
          <a:p>
            <a:pPr algn="l">
              <a:spcAft>
                <a:spcPts val="100"/>
              </a:spcAft>
            </a:pPr>
            <a:r>
              <a:rPr sz="860">
                <a:solidFill>
                  <a:srgbClr val="222222"/>
                </a:solidFill>
                <a:latin typeface="Noto Sans CJK SC"/>
              </a:rPr>
              <a:t>SSE 事件由 gateway 统一转发，</a:t>
            </a:r>
          </a:p>
          <a:p>
            <a:pPr algn="l">
              <a:spcAft>
                <a:spcPts val="100"/>
              </a:spcAft>
            </a:pPr>
            <a:r>
              <a:rPr sz="860">
                <a:solidFill>
                  <a:srgbClr val="222222"/>
                </a:solidFill>
                <a:latin typeface="Noto Sans CJK SC"/>
              </a:rPr>
              <a:t>事件序号与 task_id 一起用于刷新恢复。</a:t>
            </a:r>
          </a:p>
          <a:p>
            <a:pPr algn="l">
              <a:spcAft>
                <a:spcPts val="100"/>
              </a:spcAft>
            </a:pPr>
            <a:r>
              <a:rPr sz="860">
                <a:solidFill>
                  <a:srgbClr val="222222"/>
                </a:solidFill>
                <a:latin typeface="Noto Sans CJK SC"/>
              </a:rPr>
              <a:t>页面刷新后仍可回到真实任务进度。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154680" y="6236208"/>
            <a:ext cx="1097280" cy="201168"/>
          </a:xfrm>
          <a:prstGeom prst="rect">
            <a:avLst/>
          </a:prstGeom>
          <a:noFill/>
        </p:spPr>
        <p:txBody>
          <a:bodyPr wrap="none" lIns="25400" rIns="25400" tIns="12700" bIns="12700" anchor="ctr">
            <a:spAutoFit/>
          </a:bodyPr>
          <a:lstStyle/>
          <a:p>
            <a:pPr algn="r"/>
            <a:r>
              <a:rPr sz="1000" b="0">
                <a:solidFill>
                  <a:srgbClr val="0055AA"/>
                </a:solidFill>
                <a:latin typeface="Noto Sans CJK SC"/>
              </a:rPr>
              <a:t>创新成就卓越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370832" y="6236208"/>
            <a:ext cx="2743200" cy="201168"/>
          </a:xfrm>
          <a:prstGeom prst="rect">
            <a:avLst/>
          </a:prstGeom>
          <a:noFill/>
        </p:spPr>
        <p:txBody>
          <a:bodyPr wrap="none" lIns="25400" rIns="25400" tIns="12700" bIns="12700" anchor="ctr">
            <a:spAutoFit/>
          </a:bodyPr>
          <a:lstStyle/>
          <a:p>
            <a:pPr algn="l"/>
            <a:r>
              <a:rPr sz="1000" b="0">
                <a:solidFill>
                  <a:srgbClr val="666666"/>
                </a:solidFill>
                <a:latin typeface="Noto Sans CJK SC"/>
              </a:rPr>
              <a:t>INNOVATION CREATES EXCELLENCE</a:t>
            </a:r>
          </a:p>
        </p:txBody>
      </p:sp>
      <p:sp>
        <p:nvSpPr>
          <p:cNvPr id="54" name="Rectangle 53"/>
          <p:cNvSpPr/>
          <p:nvPr/>
        </p:nvSpPr>
        <p:spPr>
          <a:xfrm>
            <a:off x="9555480" y="6629400"/>
            <a:ext cx="2651760" cy="36576"/>
          </a:xfrm>
          <a:prstGeom prst="rect">
            <a:avLst/>
          </a:prstGeom>
          <a:solidFill>
            <a:srgbClr val="B6C0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0" y="6702552"/>
            <a:ext cx="12191999" cy="36576"/>
          </a:xfrm>
          <a:prstGeom prst="rect">
            <a:avLst/>
          </a:prstGeom>
          <a:solidFill>
            <a:srgbClr val="EEEF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457200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94944" y="73152"/>
            <a:ext cx="502920" cy="274320"/>
          </a:xfrm>
          <a:prstGeom prst="rect">
            <a:avLst/>
          </a:prstGeom>
          <a:noFill/>
        </p:spPr>
        <p:txBody>
          <a:bodyPr wrap="none" lIns="25400" rIns="25400" tIns="12700" bIns="12700" anchor="ctr">
            <a:spAutoFit/>
          </a:bodyPr>
          <a:lstStyle/>
          <a:p>
            <a:pPr algn="l"/>
            <a:r>
              <a:rPr sz="1700" b="1">
                <a:solidFill>
                  <a:srgbClr val="0055AA"/>
                </a:solidFill>
                <a:latin typeface="Noto Sans CJK SC"/>
              </a:rP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" y="36576"/>
            <a:ext cx="5669280" cy="365760"/>
          </a:xfrm>
          <a:prstGeom prst="rect">
            <a:avLst/>
          </a:prstGeom>
          <a:noFill/>
        </p:spPr>
        <p:txBody>
          <a:bodyPr wrap="none" lIns="25400" rIns="25400" tIns="12700" bIns="12700" anchor="ctr">
            <a:spAutoFit/>
          </a:bodyPr>
          <a:lstStyle/>
          <a:p>
            <a:pPr algn="l"/>
            <a:r>
              <a:rPr sz="2200" b="1">
                <a:solidFill>
                  <a:srgbClr val="0055AA"/>
                </a:solidFill>
                <a:latin typeface="Noto Sans CJK SC"/>
              </a:rPr>
              <a:t>后端架构</a:t>
            </a:r>
          </a:p>
        </p:txBody>
      </p:sp>
      <p:pic>
        <p:nvPicPr>
          <p:cNvPr id="5" name="Picture 4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0"/>
            <a:ext cx="2240280" cy="457200"/>
          </a:xfrm>
          <a:prstGeom prst="rect">
            <a:avLst/>
          </a:prstGeom>
        </p:spPr>
      </p:pic>
      <p:pic>
        <p:nvPicPr>
          <p:cNvPr id="6" name="Picture 5" descr="logo_full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04704" y="91440"/>
            <a:ext cx="1298448" cy="25603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58368" y="658368"/>
            <a:ext cx="6949440" cy="438912"/>
          </a:xfrm>
          <a:prstGeom prst="rect">
            <a:avLst/>
          </a:prstGeom>
          <a:noFill/>
        </p:spPr>
        <p:txBody>
          <a:bodyPr wrap="none" lIns="38100" rIns="38100" tIns="12700" bIns="12700" anchor="ctr">
            <a:spAutoFit/>
          </a:bodyPr>
          <a:lstStyle/>
          <a:p>
            <a:pPr algn="l"/>
            <a:r>
              <a:rPr sz="2400" b="1">
                <a:solidFill>
                  <a:srgbClr val="0055AA"/>
                </a:solidFill>
                <a:latin typeface="Noto Sans CJK SC"/>
              </a:rPr>
              <a:t>实现 public-service 公共服务拆分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1078992"/>
            <a:ext cx="6949440" cy="256032"/>
          </a:xfrm>
          <a:prstGeom prst="rect">
            <a:avLst/>
          </a:prstGeom>
          <a:noFill/>
        </p:spPr>
        <p:txBody>
          <a:bodyPr wrap="none" lIns="38100" rIns="38100" tIns="12700" bIns="12700" anchor="ctr">
            <a:spAutoFit/>
          </a:bodyPr>
          <a:lstStyle/>
          <a:p>
            <a:pPr algn="l"/>
            <a:r>
              <a:rPr sz="1150" b="0">
                <a:solidFill>
                  <a:srgbClr val="1E2A3A"/>
                </a:solidFill>
                <a:latin typeface="Noto Sans CJK SC"/>
              </a:rPr>
              <a:t>认证、会话、文档、组织和系统接口由 public-service 统一承接。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1353312"/>
            <a:ext cx="7818120" cy="4462272"/>
          </a:xfrm>
          <a:prstGeom prst="rect">
            <a:avLst/>
          </a:prstGeom>
          <a:solidFill>
            <a:srgbClr val="F9FBFE"/>
          </a:solidFill>
          <a:ln w="10160">
            <a:solidFill>
              <a:srgbClr val="D7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960120" y="1719072"/>
            <a:ext cx="2057400" cy="9875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055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88136" y="1792224"/>
            <a:ext cx="1801368" cy="219456"/>
          </a:xfrm>
          <a:prstGeom prst="rect">
            <a:avLst/>
          </a:prstGeom>
          <a:noFill/>
        </p:spPr>
        <p:txBody>
          <a:bodyPr wrap="none" lIns="38100" rIns="38100" tIns="12700" bIns="12700" anchor="ctr">
            <a:spAutoFit/>
          </a:bodyPr>
          <a:lstStyle/>
          <a:p>
            <a:pPr algn="ctr"/>
            <a:r>
              <a:rPr sz="1180" b="1">
                <a:solidFill>
                  <a:srgbClr val="0055AA"/>
                </a:solidFill>
                <a:latin typeface="Noto Sans CJK SC"/>
              </a:rPr>
              <a:t>auth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06424" y="2066543"/>
            <a:ext cx="1764792" cy="548640"/>
          </a:xfrm>
          <a:prstGeom prst="rect">
            <a:avLst/>
          </a:prstGeom>
          <a:noFill/>
        </p:spPr>
        <p:txBody>
          <a:bodyPr wrap="square" lIns="63500" rIns="63500" tIns="38100" bIns="38100" anchor="ctr">
            <a:spAutoFit/>
          </a:bodyPr>
          <a:lstStyle/>
          <a:p>
            <a:pPr algn="l">
              <a:spcAft>
                <a:spcPts val="100"/>
              </a:spcAft>
            </a:pPr>
            <a:r>
              <a:rPr sz="860">
                <a:solidFill>
                  <a:srgbClr val="222222"/>
                </a:solidFill>
                <a:latin typeface="Noto Sans CJK SC"/>
              </a:rPr>
              <a:t>登录 / 注册</a:t>
            </a:r>
          </a:p>
          <a:p>
            <a:pPr algn="l">
              <a:spcAft>
                <a:spcPts val="100"/>
              </a:spcAft>
            </a:pPr>
            <a:r>
              <a:rPr sz="860">
                <a:solidFill>
                  <a:srgbClr val="222222"/>
                </a:solidFill>
                <a:latin typeface="Noto Sans CJK SC"/>
              </a:rPr>
              <a:t>安全问题 / 用户状态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337560" y="1719072"/>
            <a:ext cx="2057400" cy="9875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4E82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465576" y="1792224"/>
            <a:ext cx="1801368" cy="219456"/>
          </a:xfrm>
          <a:prstGeom prst="rect">
            <a:avLst/>
          </a:prstGeom>
          <a:noFill/>
        </p:spPr>
        <p:txBody>
          <a:bodyPr wrap="none" lIns="38100" rIns="38100" tIns="12700" bIns="12700" anchor="ctr">
            <a:spAutoFit/>
          </a:bodyPr>
          <a:lstStyle/>
          <a:p>
            <a:pPr algn="ctr"/>
            <a:r>
              <a:rPr sz="1180" b="1">
                <a:solidFill>
                  <a:srgbClr val="4E82C7"/>
                </a:solidFill>
                <a:latin typeface="Noto Sans CJK SC"/>
              </a:rPr>
              <a:t>conversation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83864" y="2066543"/>
            <a:ext cx="1764792" cy="548640"/>
          </a:xfrm>
          <a:prstGeom prst="rect">
            <a:avLst/>
          </a:prstGeom>
          <a:noFill/>
        </p:spPr>
        <p:txBody>
          <a:bodyPr wrap="square" lIns="63500" rIns="63500" tIns="38100" bIns="38100" anchor="ctr">
            <a:spAutoFit/>
          </a:bodyPr>
          <a:lstStyle/>
          <a:p>
            <a:pPr algn="l">
              <a:spcAft>
                <a:spcPts val="100"/>
              </a:spcAft>
            </a:pPr>
            <a:r>
              <a:rPr sz="860">
                <a:solidFill>
                  <a:srgbClr val="222222"/>
                </a:solidFill>
                <a:latin typeface="Noto Sans CJK SC"/>
              </a:rPr>
              <a:t>会话 / 消息</a:t>
            </a:r>
          </a:p>
          <a:p>
            <a:pPr algn="l">
              <a:spcAft>
                <a:spcPts val="100"/>
              </a:spcAft>
            </a:pPr>
            <a:r>
              <a:rPr sz="860">
                <a:solidFill>
                  <a:srgbClr val="222222"/>
                </a:solidFill>
                <a:latin typeface="Noto Sans CJK SC"/>
              </a:rPr>
              <a:t>任务绑定 / 历史回放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715000" y="1719072"/>
            <a:ext cx="2057400" cy="9875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55AA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843016" y="1792224"/>
            <a:ext cx="1801368" cy="219456"/>
          </a:xfrm>
          <a:prstGeom prst="rect">
            <a:avLst/>
          </a:prstGeom>
          <a:noFill/>
        </p:spPr>
        <p:txBody>
          <a:bodyPr wrap="none" lIns="38100" rIns="38100" tIns="12700" bIns="12700" anchor="ctr">
            <a:spAutoFit/>
          </a:bodyPr>
          <a:lstStyle/>
          <a:p>
            <a:pPr algn="ctr"/>
            <a:r>
              <a:rPr sz="1180" b="1">
                <a:solidFill>
                  <a:srgbClr val="55AA66"/>
                </a:solidFill>
                <a:latin typeface="Noto Sans CJK SC"/>
              </a:rPr>
              <a:t>uploads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861304" y="2066543"/>
            <a:ext cx="1764792" cy="548640"/>
          </a:xfrm>
          <a:prstGeom prst="rect">
            <a:avLst/>
          </a:prstGeom>
          <a:noFill/>
        </p:spPr>
        <p:txBody>
          <a:bodyPr wrap="square" lIns="63500" rIns="63500" tIns="38100" bIns="38100" anchor="ctr">
            <a:spAutoFit/>
          </a:bodyPr>
          <a:lstStyle/>
          <a:p>
            <a:pPr algn="l">
              <a:spcAft>
                <a:spcPts val="100"/>
              </a:spcAft>
            </a:pPr>
            <a:r>
              <a:rPr sz="860">
                <a:solidFill>
                  <a:srgbClr val="222222"/>
                </a:solidFill>
                <a:latin typeface="Noto Sans CJK SC"/>
              </a:rPr>
              <a:t>文件上传</a:t>
            </a:r>
          </a:p>
          <a:p>
            <a:pPr algn="l">
              <a:spcAft>
                <a:spcPts val="100"/>
              </a:spcAft>
            </a:pPr>
            <a:r>
              <a:rPr sz="860">
                <a:solidFill>
                  <a:srgbClr val="222222"/>
                </a:solidFill>
                <a:latin typeface="Noto Sans CJK SC"/>
              </a:rPr>
              <a:t>file_id / storage_ref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60120" y="3136391"/>
            <a:ext cx="2057400" cy="9875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0C0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88136" y="3209544"/>
            <a:ext cx="1801368" cy="219456"/>
          </a:xfrm>
          <a:prstGeom prst="rect">
            <a:avLst/>
          </a:prstGeom>
          <a:noFill/>
        </p:spPr>
        <p:txBody>
          <a:bodyPr wrap="none" lIns="38100" rIns="38100" tIns="12700" bIns="12700" anchor="ctr">
            <a:spAutoFit/>
          </a:bodyPr>
          <a:lstStyle/>
          <a:p>
            <a:pPr algn="ctr"/>
            <a:r>
              <a:rPr sz="1180" b="1">
                <a:solidFill>
                  <a:srgbClr val="30C0B4"/>
                </a:solidFill>
                <a:latin typeface="Noto Sans CJK SC"/>
              </a:rPr>
              <a:t>documents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06424" y="3483863"/>
            <a:ext cx="1764792" cy="548640"/>
          </a:xfrm>
          <a:prstGeom prst="rect">
            <a:avLst/>
          </a:prstGeom>
          <a:noFill/>
        </p:spPr>
        <p:txBody>
          <a:bodyPr wrap="square" lIns="63500" rIns="63500" tIns="38100" bIns="38100" anchor="ctr">
            <a:spAutoFit/>
          </a:bodyPr>
          <a:lstStyle/>
          <a:p>
            <a:pPr algn="l">
              <a:spcAft>
                <a:spcPts val="100"/>
              </a:spcAft>
            </a:pPr>
            <a:r>
              <a:rPr sz="860">
                <a:solidFill>
                  <a:srgbClr val="222222"/>
                </a:solidFill>
                <a:latin typeface="Noto Sans CJK SC"/>
              </a:rPr>
              <a:t>原文读取 / 预览</a:t>
            </a:r>
          </a:p>
          <a:p>
            <a:pPr algn="l">
              <a:spcAft>
                <a:spcPts val="100"/>
              </a:spcAft>
            </a:pPr>
            <a:r>
              <a:rPr sz="860">
                <a:solidFill>
                  <a:srgbClr val="222222"/>
                </a:solidFill>
                <a:latin typeface="Noto Sans CJK SC"/>
              </a:rPr>
              <a:t>文档接口 / 对象引用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337560" y="3136391"/>
            <a:ext cx="2057400" cy="9875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E82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465576" y="3209544"/>
            <a:ext cx="1801368" cy="219456"/>
          </a:xfrm>
          <a:prstGeom prst="rect">
            <a:avLst/>
          </a:prstGeom>
          <a:noFill/>
        </p:spPr>
        <p:txBody>
          <a:bodyPr wrap="none" lIns="38100" rIns="38100" tIns="12700" bIns="12700" anchor="ctr">
            <a:spAutoFit/>
          </a:bodyPr>
          <a:lstStyle/>
          <a:p>
            <a:pPr algn="ctr"/>
            <a:r>
              <a:rPr sz="1180" b="1">
                <a:solidFill>
                  <a:srgbClr val="EE822F"/>
                </a:solidFill>
                <a:latin typeface="Noto Sans CJK SC"/>
              </a:rPr>
              <a:t>admin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483864" y="3483863"/>
            <a:ext cx="1764792" cy="548640"/>
          </a:xfrm>
          <a:prstGeom prst="rect">
            <a:avLst/>
          </a:prstGeom>
          <a:noFill/>
        </p:spPr>
        <p:txBody>
          <a:bodyPr wrap="square" lIns="63500" rIns="63500" tIns="38100" bIns="38100" anchor="ctr">
            <a:spAutoFit/>
          </a:bodyPr>
          <a:lstStyle/>
          <a:p>
            <a:pPr algn="l">
              <a:spcAft>
                <a:spcPts val="100"/>
              </a:spcAft>
            </a:pPr>
            <a:r>
              <a:rPr sz="860">
                <a:solidFill>
                  <a:srgbClr val="222222"/>
                </a:solidFill>
                <a:latin typeface="Noto Sans CJK SC"/>
              </a:rPr>
              <a:t>用户 / 部门 / 人员</a:t>
            </a:r>
          </a:p>
          <a:p>
            <a:pPr algn="l">
              <a:spcAft>
                <a:spcPts val="100"/>
              </a:spcAft>
            </a:pPr>
            <a:r>
              <a:rPr sz="860">
                <a:solidFill>
                  <a:srgbClr val="222222"/>
                </a:solidFill>
                <a:latin typeface="Noto Sans CJK SC"/>
              </a:rPr>
              <a:t>绑定关系 / 批量导入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715000" y="3136391"/>
            <a:ext cx="2057400" cy="9875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055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843016" y="3209544"/>
            <a:ext cx="1801368" cy="219456"/>
          </a:xfrm>
          <a:prstGeom prst="rect">
            <a:avLst/>
          </a:prstGeom>
          <a:noFill/>
        </p:spPr>
        <p:txBody>
          <a:bodyPr wrap="none" lIns="38100" rIns="38100" tIns="12700" bIns="12700" anchor="ctr">
            <a:spAutoFit/>
          </a:bodyPr>
          <a:lstStyle/>
          <a:p>
            <a:pPr algn="ctr"/>
            <a:r>
              <a:rPr sz="1180" b="1">
                <a:solidFill>
                  <a:srgbClr val="0055AA"/>
                </a:solidFill>
                <a:latin typeface="Noto Sans CJK SC"/>
              </a:rPr>
              <a:t>quota &amp; system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861304" y="3483863"/>
            <a:ext cx="1764792" cy="548640"/>
          </a:xfrm>
          <a:prstGeom prst="rect">
            <a:avLst/>
          </a:prstGeom>
          <a:noFill/>
        </p:spPr>
        <p:txBody>
          <a:bodyPr wrap="square" lIns="63500" rIns="63500" tIns="38100" bIns="38100" anchor="ctr">
            <a:spAutoFit/>
          </a:bodyPr>
          <a:lstStyle/>
          <a:p>
            <a:pPr algn="l">
              <a:spcAft>
                <a:spcPts val="100"/>
              </a:spcAft>
            </a:pPr>
            <a:r>
              <a:rPr sz="860">
                <a:solidFill>
                  <a:srgbClr val="222222"/>
                </a:solidFill>
                <a:latin typeface="Noto Sans CJK SC"/>
              </a:rPr>
              <a:t>配额接口</a:t>
            </a:r>
          </a:p>
          <a:p>
            <a:pPr algn="l">
              <a:spcAft>
                <a:spcPts val="100"/>
              </a:spcAft>
            </a:pPr>
            <a:r>
              <a:rPr sz="860">
                <a:solidFill>
                  <a:srgbClr val="222222"/>
                </a:solidFill>
                <a:latin typeface="Noto Sans CJK SC"/>
              </a:rPr>
              <a:t>健康检查 / 系统接口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024128" y="4754880"/>
            <a:ext cx="6903720" cy="530352"/>
          </a:xfrm>
          <a:prstGeom prst="roundRect">
            <a:avLst/>
          </a:prstGeom>
          <a:solidFill>
            <a:srgbClr val="E9F3FF"/>
          </a:solidFill>
          <a:ln w="12700">
            <a:solidFill>
              <a:srgbClr val="0055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234440" y="4882896"/>
            <a:ext cx="6446520" cy="201168"/>
          </a:xfrm>
          <a:prstGeom prst="rect">
            <a:avLst/>
          </a:prstGeom>
          <a:noFill/>
        </p:spPr>
        <p:txBody>
          <a:bodyPr wrap="none" lIns="38100" rIns="38100" tIns="12700" bIns="12700" anchor="ctr">
            <a:spAutoFit/>
          </a:bodyPr>
          <a:lstStyle/>
          <a:p>
            <a:pPr algn="ctr"/>
            <a:r>
              <a:rPr sz="1230" b="1">
                <a:solidFill>
                  <a:srgbClr val="00459A"/>
                </a:solidFill>
                <a:latin typeface="Noto Sans CJK SC"/>
              </a:rPr>
              <a:t>实现后：公共状态进入 public-service，入口编排进入 gateway，QA 服务聚焦执行链路。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641080" y="1353312"/>
            <a:ext cx="2834640" cy="12984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055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769096" y="1426464"/>
            <a:ext cx="2578608" cy="219456"/>
          </a:xfrm>
          <a:prstGeom prst="rect">
            <a:avLst/>
          </a:prstGeom>
          <a:noFill/>
        </p:spPr>
        <p:txBody>
          <a:bodyPr wrap="none" lIns="38100" rIns="38100" tIns="12700" bIns="12700" anchor="ctr">
            <a:spAutoFit/>
          </a:bodyPr>
          <a:lstStyle/>
          <a:p>
            <a:pPr algn="ctr"/>
            <a:r>
              <a:rPr sz="1180" b="1">
                <a:solidFill>
                  <a:srgbClr val="0055AA"/>
                </a:solidFill>
                <a:latin typeface="Noto Sans CJK SC"/>
              </a:rPr>
              <a:t>已实现：认证会话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787384" y="1700784"/>
            <a:ext cx="2542032" cy="859536"/>
          </a:xfrm>
          <a:prstGeom prst="rect">
            <a:avLst/>
          </a:prstGeom>
          <a:noFill/>
        </p:spPr>
        <p:txBody>
          <a:bodyPr wrap="square" lIns="63500" rIns="63500" tIns="38100" bIns="38100" anchor="ctr">
            <a:spAutoFit/>
          </a:bodyPr>
          <a:lstStyle/>
          <a:p>
            <a:pPr algn="l">
              <a:spcAft>
                <a:spcPts val="100"/>
              </a:spcAft>
            </a:pPr>
            <a:r>
              <a:rPr sz="860">
                <a:solidFill>
                  <a:srgbClr val="222222"/>
                </a:solidFill>
                <a:latin typeface="Noto Sans CJK SC"/>
              </a:rPr>
              <a:t>登录、注册、安全问题与会话消息</a:t>
            </a:r>
          </a:p>
          <a:p>
            <a:pPr algn="l">
              <a:spcAft>
                <a:spcPts val="100"/>
              </a:spcAft>
            </a:pPr>
            <a:r>
              <a:rPr sz="860">
                <a:solidFill>
                  <a:srgbClr val="222222"/>
                </a:solidFill>
                <a:latin typeface="Noto Sans CJK SC"/>
              </a:rPr>
              <a:t>统一由 public-service 承接。</a:t>
            </a:r>
          </a:p>
          <a:p>
            <a:pPr algn="l">
              <a:spcAft>
                <a:spcPts val="100"/>
              </a:spcAft>
            </a:pPr>
            <a:r>
              <a:rPr sz="860">
                <a:solidFill>
                  <a:srgbClr val="222222"/>
                </a:solidFill>
                <a:latin typeface="Noto Sans CJK SC"/>
              </a:rPr>
              <a:t>用户消息、占位消息和终态消息有统一记录。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641080" y="2779776"/>
            <a:ext cx="2834640" cy="12984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E82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769096" y="2852928"/>
            <a:ext cx="2578608" cy="219456"/>
          </a:xfrm>
          <a:prstGeom prst="rect">
            <a:avLst/>
          </a:prstGeom>
          <a:noFill/>
        </p:spPr>
        <p:txBody>
          <a:bodyPr wrap="none" lIns="38100" rIns="38100" tIns="12700" bIns="12700" anchor="ctr">
            <a:spAutoFit/>
          </a:bodyPr>
          <a:lstStyle/>
          <a:p>
            <a:pPr algn="ctr"/>
            <a:r>
              <a:rPr sz="1180" b="1">
                <a:solidFill>
                  <a:srgbClr val="EE822F"/>
                </a:solidFill>
                <a:latin typeface="Noto Sans CJK SC"/>
              </a:rPr>
              <a:t>已实现：组织管理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787384" y="3127248"/>
            <a:ext cx="2542032" cy="859536"/>
          </a:xfrm>
          <a:prstGeom prst="rect">
            <a:avLst/>
          </a:prstGeom>
          <a:noFill/>
        </p:spPr>
        <p:txBody>
          <a:bodyPr wrap="square" lIns="63500" rIns="63500" tIns="38100" bIns="38100" anchor="ctr">
            <a:spAutoFit/>
          </a:bodyPr>
          <a:lstStyle/>
          <a:p>
            <a:pPr algn="l">
              <a:spcAft>
                <a:spcPts val="100"/>
              </a:spcAft>
            </a:pPr>
            <a:r>
              <a:rPr sz="860">
                <a:solidFill>
                  <a:srgbClr val="222222"/>
                </a:solidFill>
                <a:latin typeface="Noto Sans CJK SC"/>
              </a:rPr>
              <a:t>用户、部门、人员和绑定关系集中维护，</a:t>
            </a:r>
          </a:p>
          <a:p>
            <a:pPr algn="l">
              <a:spcAft>
                <a:spcPts val="100"/>
              </a:spcAft>
            </a:pPr>
            <a:r>
              <a:rPr sz="860">
                <a:solidFill>
                  <a:srgbClr val="222222"/>
                </a:solidFill>
                <a:latin typeface="Noto Sans CJK SC"/>
              </a:rPr>
              <a:t>管理员页面直接调用相关接口。</a:t>
            </a:r>
          </a:p>
          <a:p>
            <a:pPr algn="l">
              <a:spcAft>
                <a:spcPts val="100"/>
              </a:spcAft>
            </a:pPr>
            <a:r>
              <a:rPr sz="860">
                <a:solidFill>
                  <a:srgbClr val="222222"/>
                </a:solidFill>
                <a:latin typeface="Noto Sans CJK SC"/>
              </a:rPr>
              <a:t>人员信息补全与账号绑定形成闭环。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641080" y="4206240"/>
            <a:ext cx="2834640" cy="12984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55AA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769096" y="4279392"/>
            <a:ext cx="2578608" cy="219456"/>
          </a:xfrm>
          <a:prstGeom prst="rect">
            <a:avLst/>
          </a:prstGeom>
          <a:noFill/>
        </p:spPr>
        <p:txBody>
          <a:bodyPr wrap="none" lIns="38100" rIns="38100" tIns="12700" bIns="12700" anchor="ctr">
            <a:spAutoFit/>
          </a:bodyPr>
          <a:lstStyle/>
          <a:p>
            <a:pPr algn="ctr"/>
            <a:r>
              <a:rPr sz="1180" b="1">
                <a:solidFill>
                  <a:srgbClr val="55AA66"/>
                </a:solidFill>
                <a:latin typeface="Noto Sans CJK SC"/>
              </a:rPr>
              <a:t>已实现：系统接口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787384" y="4553712"/>
            <a:ext cx="2542032" cy="859536"/>
          </a:xfrm>
          <a:prstGeom prst="rect">
            <a:avLst/>
          </a:prstGeom>
          <a:noFill/>
        </p:spPr>
        <p:txBody>
          <a:bodyPr wrap="square" lIns="63500" rIns="63500" tIns="38100" bIns="38100" anchor="ctr">
            <a:spAutoFit/>
          </a:bodyPr>
          <a:lstStyle/>
          <a:p>
            <a:pPr algn="l">
              <a:spcAft>
                <a:spcPts val="100"/>
              </a:spcAft>
            </a:pPr>
            <a:r>
              <a:rPr sz="860">
                <a:solidFill>
                  <a:srgbClr val="222222"/>
                </a:solidFill>
                <a:latin typeface="Noto Sans CJK SC"/>
              </a:rPr>
              <a:t>上传、文档、健康检查和配额接口</a:t>
            </a:r>
          </a:p>
          <a:p>
            <a:pPr algn="l">
              <a:spcAft>
                <a:spcPts val="100"/>
              </a:spcAft>
            </a:pPr>
            <a:r>
              <a:rPr sz="860">
                <a:solidFill>
                  <a:srgbClr val="222222"/>
                </a:solidFill>
                <a:latin typeface="Noto Sans CJK SC"/>
              </a:rPr>
              <a:t>从 QA 服务中拆出统一承接。</a:t>
            </a:r>
          </a:p>
          <a:p>
            <a:pPr algn="l">
              <a:spcAft>
                <a:spcPts val="100"/>
              </a:spcAft>
            </a:pPr>
            <a:r>
              <a:rPr sz="860">
                <a:solidFill>
                  <a:srgbClr val="222222"/>
                </a:solidFill>
                <a:latin typeface="Noto Sans CJK SC"/>
              </a:rPr>
              <a:t>部署检查和运行维护都有公共入口。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154680" y="6236208"/>
            <a:ext cx="1097280" cy="201168"/>
          </a:xfrm>
          <a:prstGeom prst="rect">
            <a:avLst/>
          </a:prstGeom>
          <a:noFill/>
        </p:spPr>
        <p:txBody>
          <a:bodyPr wrap="none" lIns="25400" rIns="25400" tIns="12700" bIns="12700" anchor="ctr">
            <a:spAutoFit/>
          </a:bodyPr>
          <a:lstStyle/>
          <a:p>
            <a:pPr algn="r"/>
            <a:r>
              <a:rPr sz="1000" b="0">
                <a:solidFill>
                  <a:srgbClr val="0055AA"/>
                </a:solidFill>
                <a:latin typeface="Noto Sans CJK SC"/>
              </a:rPr>
              <a:t>创新成就卓越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370832" y="6236208"/>
            <a:ext cx="2743200" cy="201168"/>
          </a:xfrm>
          <a:prstGeom prst="rect">
            <a:avLst/>
          </a:prstGeom>
          <a:noFill/>
        </p:spPr>
        <p:txBody>
          <a:bodyPr wrap="none" lIns="25400" rIns="25400" tIns="12700" bIns="12700" anchor="ctr">
            <a:spAutoFit/>
          </a:bodyPr>
          <a:lstStyle/>
          <a:p>
            <a:pPr algn="l"/>
            <a:r>
              <a:rPr sz="1000" b="0">
                <a:solidFill>
                  <a:srgbClr val="666666"/>
                </a:solidFill>
                <a:latin typeface="Noto Sans CJK SC"/>
              </a:rPr>
              <a:t>INNOVATION CREATES EXCELLENCE</a:t>
            </a:r>
          </a:p>
        </p:txBody>
      </p:sp>
      <p:sp>
        <p:nvSpPr>
          <p:cNvPr id="41" name="Rectangle 40"/>
          <p:cNvSpPr/>
          <p:nvPr/>
        </p:nvSpPr>
        <p:spPr>
          <a:xfrm>
            <a:off x="9555480" y="6629400"/>
            <a:ext cx="2651760" cy="36576"/>
          </a:xfrm>
          <a:prstGeom prst="rect">
            <a:avLst/>
          </a:prstGeom>
          <a:solidFill>
            <a:srgbClr val="B6C0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0" y="6702552"/>
            <a:ext cx="12191999" cy="36576"/>
          </a:xfrm>
          <a:prstGeom prst="rect">
            <a:avLst/>
          </a:prstGeom>
          <a:solidFill>
            <a:srgbClr val="EEEF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457200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94944" y="73152"/>
            <a:ext cx="502920" cy="274320"/>
          </a:xfrm>
          <a:prstGeom prst="rect">
            <a:avLst/>
          </a:prstGeom>
          <a:noFill/>
        </p:spPr>
        <p:txBody>
          <a:bodyPr wrap="none" lIns="25400" rIns="25400" tIns="12700" bIns="12700" anchor="ctr">
            <a:spAutoFit/>
          </a:bodyPr>
          <a:lstStyle/>
          <a:p>
            <a:pPr algn="l"/>
            <a:r>
              <a:rPr sz="1700" b="1">
                <a:solidFill>
                  <a:srgbClr val="0055AA"/>
                </a:solidFill>
                <a:latin typeface="Noto Sans CJK SC"/>
              </a:rP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" y="36576"/>
            <a:ext cx="5669280" cy="365760"/>
          </a:xfrm>
          <a:prstGeom prst="rect">
            <a:avLst/>
          </a:prstGeom>
          <a:noFill/>
        </p:spPr>
        <p:txBody>
          <a:bodyPr wrap="none" lIns="25400" rIns="25400" tIns="12700" bIns="12700" anchor="ctr">
            <a:spAutoFit/>
          </a:bodyPr>
          <a:lstStyle/>
          <a:p>
            <a:pPr algn="l"/>
            <a:r>
              <a:rPr sz="2200" b="1">
                <a:solidFill>
                  <a:srgbClr val="0055AA"/>
                </a:solidFill>
                <a:latin typeface="Noto Sans CJK SC"/>
              </a:rPr>
              <a:t>后端架构</a:t>
            </a:r>
          </a:p>
        </p:txBody>
      </p:sp>
      <p:pic>
        <p:nvPicPr>
          <p:cNvPr id="5" name="Picture 4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0"/>
            <a:ext cx="2240280" cy="457200"/>
          </a:xfrm>
          <a:prstGeom prst="rect">
            <a:avLst/>
          </a:prstGeom>
        </p:spPr>
      </p:pic>
      <p:pic>
        <p:nvPicPr>
          <p:cNvPr id="6" name="Picture 5" descr="logo_full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04704" y="91440"/>
            <a:ext cx="1298448" cy="25603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58368" y="658368"/>
            <a:ext cx="6949440" cy="438912"/>
          </a:xfrm>
          <a:prstGeom prst="rect">
            <a:avLst/>
          </a:prstGeom>
          <a:noFill/>
        </p:spPr>
        <p:txBody>
          <a:bodyPr wrap="none" lIns="38100" rIns="38100" tIns="12700" bIns="12700" anchor="ctr">
            <a:spAutoFit/>
          </a:bodyPr>
          <a:lstStyle/>
          <a:p>
            <a:pPr algn="l"/>
            <a:r>
              <a:rPr sz="2400" b="1">
                <a:solidFill>
                  <a:srgbClr val="0055AA"/>
                </a:solidFill>
                <a:latin typeface="Noto Sans CJK SC"/>
              </a:rPr>
              <a:t>实现多模式 QA 执行服务边界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1078992"/>
            <a:ext cx="6949440" cy="256032"/>
          </a:xfrm>
          <a:prstGeom prst="rect">
            <a:avLst/>
          </a:prstGeom>
          <a:noFill/>
        </p:spPr>
        <p:txBody>
          <a:bodyPr wrap="none" lIns="38100" rIns="38100" tIns="12700" bIns="12700" anchor="ctr">
            <a:spAutoFit/>
          </a:bodyPr>
          <a:lstStyle/>
          <a:p>
            <a:pPr algn="l"/>
            <a:r>
              <a:rPr sz="1150" b="0">
                <a:solidFill>
                  <a:srgbClr val="1E2A3A"/>
                </a:solidFill>
                <a:latin typeface="Noto Sans CJK SC"/>
              </a:rPr>
              <a:t>不同问答模式保留独立执行链路，公共接口通过 gateway / public-service 协作。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1353312"/>
            <a:ext cx="7818120" cy="4462272"/>
          </a:xfrm>
          <a:prstGeom prst="rect">
            <a:avLst/>
          </a:prstGeom>
          <a:solidFill>
            <a:srgbClr val="F9FBFE"/>
          </a:solidFill>
          <a:ln w="10160">
            <a:solidFill>
              <a:srgbClr val="D7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960120" y="2926080"/>
            <a:ext cx="1572768" cy="71323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4E82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14984" y="2999232"/>
            <a:ext cx="1463040" cy="201168"/>
          </a:xfrm>
          <a:prstGeom prst="rect">
            <a:avLst/>
          </a:prstGeom>
          <a:noFill/>
        </p:spPr>
        <p:txBody>
          <a:bodyPr wrap="none" lIns="38100" rIns="38100" tIns="12700" bIns="12700" anchor="ctr">
            <a:spAutoFit/>
          </a:bodyPr>
          <a:lstStyle/>
          <a:p>
            <a:pPr algn="ctr"/>
            <a:r>
              <a:rPr sz="1220" b="1">
                <a:solidFill>
                  <a:srgbClr val="00459A"/>
                </a:solidFill>
                <a:latin typeface="Aptos"/>
              </a:rPr>
              <a:t>frontend-vue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3272" y="3319272"/>
            <a:ext cx="1426464" cy="292608"/>
          </a:xfrm>
          <a:prstGeom prst="rect">
            <a:avLst/>
          </a:prstGeom>
          <a:noFill/>
        </p:spPr>
        <p:txBody>
          <a:bodyPr wrap="none" lIns="38100" rIns="38100" tIns="12700" bIns="12700" anchor="ctr">
            <a:spAutoFit/>
          </a:bodyPr>
          <a:lstStyle/>
          <a:p>
            <a:pPr algn="ctr"/>
            <a:r>
              <a:rPr sz="840" b="0">
                <a:solidFill>
                  <a:srgbClr val="222222"/>
                </a:solidFill>
                <a:latin typeface="Noto Sans CJK SC"/>
              </a:rPr>
              <a:t>会话交互 / 文件上下文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971800" y="2834640"/>
            <a:ext cx="1664208" cy="896112"/>
          </a:xfrm>
          <a:prstGeom prst="roundRect">
            <a:avLst/>
          </a:prstGeom>
          <a:solidFill>
            <a:srgbClr val="E9F3FF"/>
          </a:solidFill>
          <a:ln w="15240">
            <a:solidFill>
              <a:srgbClr val="0055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026664" y="2907792"/>
            <a:ext cx="1554480" cy="201168"/>
          </a:xfrm>
          <a:prstGeom prst="rect">
            <a:avLst/>
          </a:prstGeom>
          <a:noFill/>
        </p:spPr>
        <p:txBody>
          <a:bodyPr wrap="none" lIns="38100" rIns="38100" tIns="12700" bIns="12700" anchor="ctr">
            <a:spAutoFit/>
          </a:bodyPr>
          <a:lstStyle/>
          <a:p>
            <a:pPr algn="ctr"/>
            <a:r>
              <a:rPr sz="1220" b="1">
                <a:solidFill>
                  <a:srgbClr val="00459A"/>
                </a:solidFill>
                <a:latin typeface="Aptos"/>
              </a:rPr>
              <a:t>gateway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44952" y="3227832"/>
            <a:ext cx="1517904" cy="475488"/>
          </a:xfrm>
          <a:prstGeom prst="rect">
            <a:avLst/>
          </a:prstGeom>
          <a:noFill/>
        </p:spPr>
        <p:txBody>
          <a:bodyPr wrap="none" lIns="38100" rIns="38100" tIns="12700" bIns="12700" anchor="ctr">
            <a:spAutoFit/>
          </a:bodyPr>
          <a:lstStyle/>
          <a:p>
            <a:pPr algn="ctr"/>
            <a:r>
              <a:rPr sz="840" b="0">
                <a:solidFill>
                  <a:srgbClr val="222222"/>
                </a:solidFill>
                <a:latin typeface="Noto Sans CJK SC"/>
              </a:rPr>
              <a:t>路由 / 任务 / SSE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257800" y="1874519"/>
            <a:ext cx="1627632" cy="62179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30C0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312664" y="1947672"/>
            <a:ext cx="1517904" cy="201168"/>
          </a:xfrm>
          <a:prstGeom prst="rect">
            <a:avLst/>
          </a:prstGeom>
          <a:noFill/>
        </p:spPr>
        <p:txBody>
          <a:bodyPr wrap="none" lIns="38100" rIns="38100" tIns="12700" bIns="12700" anchor="ctr">
            <a:spAutoFit/>
          </a:bodyPr>
          <a:lstStyle/>
          <a:p>
            <a:pPr algn="ctr"/>
            <a:r>
              <a:rPr sz="1000" b="1">
                <a:solidFill>
                  <a:srgbClr val="00459A"/>
                </a:solidFill>
                <a:latin typeface="Aptos"/>
              </a:rPr>
              <a:t>fastQA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30952" y="2267712"/>
            <a:ext cx="1481328" cy="201168"/>
          </a:xfrm>
          <a:prstGeom prst="rect">
            <a:avLst/>
          </a:prstGeom>
          <a:noFill/>
        </p:spPr>
        <p:txBody>
          <a:bodyPr wrap="none" lIns="38100" rIns="38100" tIns="12700" bIns="12700" anchor="ctr">
            <a:spAutoFit/>
          </a:bodyPr>
          <a:lstStyle/>
          <a:p>
            <a:pPr algn="ctr"/>
            <a:r>
              <a:rPr sz="840" b="0">
                <a:solidFill>
                  <a:srgbClr val="222222"/>
                </a:solidFill>
                <a:latin typeface="Noto Sans CJK SC"/>
              </a:rPr>
              <a:t>fast / 文件执行</a:t>
            </a:r>
          </a:p>
        </p:txBody>
      </p:sp>
      <p:cxnSp>
        <p:nvCxnSpPr>
          <p:cNvPr id="19" name="Connector 18"/>
          <p:cNvCxnSpPr/>
          <p:nvPr/>
        </p:nvCxnSpPr>
        <p:spPr>
          <a:xfrm flipV="1">
            <a:off x="4636008" y="2185415"/>
            <a:ext cx="621792" cy="1088137"/>
          </a:xfrm>
          <a:prstGeom prst="line">
            <a:avLst/>
          </a:prstGeom>
          <a:ln w="12700">
            <a:solidFill>
              <a:srgbClr val="30C0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5257800" y="2926080"/>
            <a:ext cx="1627632" cy="62179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E82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312664" y="2999232"/>
            <a:ext cx="1517904" cy="201168"/>
          </a:xfrm>
          <a:prstGeom prst="rect">
            <a:avLst/>
          </a:prstGeom>
          <a:noFill/>
        </p:spPr>
        <p:txBody>
          <a:bodyPr wrap="none" lIns="38100" rIns="38100" tIns="12700" bIns="12700" anchor="ctr">
            <a:spAutoFit/>
          </a:bodyPr>
          <a:lstStyle/>
          <a:p>
            <a:pPr algn="ctr"/>
            <a:r>
              <a:rPr sz="1000" b="1">
                <a:solidFill>
                  <a:srgbClr val="00459A"/>
                </a:solidFill>
                <a:latin typeface="Aptos"/>
              </a:rPr>
              <a:t>highThinkingQA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330952" y="3319272"/>
            <a:ext cx="1481328" cy="201168"/>
          </a:xfrm>
          <a:prstGeom prst="rect">
            <a:avLst/>
          </a:prstGeom>
          <a:noFill/>
        </p:spPr>
        <p:txBody>
          <a:bodyPr wrap="none" lIns="38100" rIns="38100" tIns="12700" bIns="12700" anchor="ctr">
            <a:spAutoFit/>
          </a:bodyPr>
          <a:lstStyle/>
          <a:p>
            <a:pPr algn="ctr"/>
            <a:r>
              <a:rPr sz="840" b="0">
                <a:solidFill>
                  <a:srgbClr val="222222"/>
                </a:solidFill>
                <a:latin typeface="Noto Sans CJK SC"/>
              </a:rPr>
              <a:t>thinking 执行</a:t>
            </a:r>
          </a:p>
        </p:txBody>
      </p:sp>
      <p:cxnSp>
        <p:nvCxnSpPr>
          <p:cNvPr id="23" name="Connector 22"/>
          <p:cNvCxnSpPr/>
          <p:nvPr/>
        </p:nvCxnSpPr>
        <p:spPr>
          <a:xfrm flipV="1">
            <a:off x="4636008" y="3236976"/>
            <a:ext cx="621792" cy="36576"/>
          </a:xfrm>
          <a:prstGeom prst="line">
            <a:avLst/>
          </a:prstGeom>
          <a:ln w="12700">
            <a:solidFill>
              <a:srgbClr val="EE82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5257800" y="3977639"/>
            <a:ext cx="1627632" cy="62179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55AA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312664" y="4050791"/>
            <a:ext cx="1517904" cy="201168"/>
          </a:xfrm>
          <a:prstGeom prst="rect">
            <a:avLst/>
          </a:prstGeom>
          <a:noFill/>
        </p:spPr>
        <p:txBody>
          <a:bodyPr wrap="none" lIns="38100" rIns="38100" tIns="12700" bIns="12700" anchor="ctr">
            <a:spAutoFit/>
          </a:bodyPr>
          <a:lstStyle/>
          <a:p>
            <a:pPr algn="ctr"/>
            <a:r>
              <a:rPr sz="1000" b="1">
                <a:solidFill>
                  <a:srgbClr val="00459A"/>
                </a:solidFill>
                <a:latin typeface="Aptos"/>
              </a:rPr>
              <a:t>patent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330952" y="4370831"/>
            <a:ext cx="1481328" cy="201168"/>
          </a:xfrm>
          <a:prstGeom prst="rect">
            <a:avLst/>
          </a:prstGeom>
          <a:noFill/>
        </p:spPr>
        <p:txBody>
          <a:bodyPr wrap="none" lIns="38100" rIns="38100" tIns="12700" bIns="12700" anchor="ctr">
            <a:spAutoFit/>
          </a:bodyPr>
          <a:lstStyle/>
          <a:p>
            <a:pPr algn="ctr"/>
            <a:r>
              <a:rPr sz="840" b="0">
                <a:solidFill>
                  <a:srgbClr val="222222"/>
                </a:solidFill>
                <a:latin typeface="Noto Sans CJK SC"/>
              </a:rPr>
              <a:t>patent / 原文读取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4636008" y="3273552"/>
            <a:ext cx="621792" cy="1014984"/>
          </a:xfrm>
          <a:prstGeom prst="line">
            <a:avLst/>
          </a:prstGeom>
          <a:ln w="12700">
            <a:solidFill>
              <a:srgbClr val="55AA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1170432" y="1783080"/>
            <a:ext cx="2103120" cy="65836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055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225296" y="1856231"/>
            <a:ext cx="1993391" cy="201168"/>
          </a:xfrm>
          <a:prstGeom prst="rect">
            <a:avLst/>
          </a:prstGeom>
          <a:noFill/>
        </p:spPr>
        <p:txBody>
          <a:bodyPr wrap="none" lIns="38100" rIns="38100" tIns="12700" bIns="12700" anchor="ctr">
            <a:spAutoFit/>
          </a:bodyPr>
          <a:lstStyle/>
          <a:p>
            <a:pPr algn="ctr"/>
            <a:r>
              <a:rPr sz="1220" b="1">
                <a:solidFill>
                  <a:srgbClr val="00459A"/>
                </a:solidFill>
                <a:latin typeface="Aptos"/>
              </a:rPr>
              <a:t>public-service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243584" y="2176272"/>
            <a:ext cx="1956815" cy="237743"/>
          </a:xfrm>
          <a:prstGeom prst="rect">
            <a:avLst/>
          </a:prstGeom>
          <a:noFill/>
        </p:spPr>
        <p:txBody>
          <a:bodyPr wrap="none" lIns="38100" rIns="38100" tIns="12700" bIns="12700" anchor="ctr">
            <a:spAutoFit/>
          </a:bodyPr>
          <a:lstStyle/>
          <a:p>
            <a:pPr algn="ctr"/>
            <a:r>
              <a:rPr sz="840" b="0">
                <a:solidFill>
                  <a:srgbClr val="222222"/>
                </a:solidFill>
                <a:latin typeface="Noto Sans CJK SC"/>
              </a:rPr>
              <a:t>认证 / 会话 / 文件 / 管理</a:t>
            </a:r>
          </a:p>
        </p:txBody>
      </p:sp>
      <p:cxnSp>
        <p:nvCxnSpPr>
          <p:cNvPr id="31" name="Connector 30"/>
          <p:cNvCxnSpPr/>
          <p:nvPr/>
        </p:nvCxnSpPr>
        <p:spPr>
          <a:xfrm flipH="1" flipV="1">
            <a:off x="2240280" y="2441448"/>
            <a:ext cx="731520" cy="832104"/>
          </a:xfrm>
          <a:prstGeom prst="line">
            <a:avLst/>
          </a:prstGeom>
          <a:ln w="12700">
            <a:solidFill>
              <a:srgbClr val="0055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2532888" y="3273552"/>
            <a:ext cx="438912" cy="0"/>
          </a:xfrm>
          <a:prstGeom prst="line">
            <a:avLst/>
          </a:prstGeom>
          <a:ln w="12700">
            <a:solidFill>
              <a:srgbClr val="4E82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ounded Rectangle 32"/>
          <p:cNvSpPr/>
          <p:nvPr/>
        </p:nvSpPr>
        <p:spPr>
          <a:xfrm>
            <a:off x="960120" y="4919472"/>
            <a:ext cx="7178040" cy="38404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7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97280" y="4992624"/>
            <a:ext cx="6903720" cy="164592"/>
          </a:xfrm>
          <a:prstGeom prst="rect">
            <a:avLst/>
          </a:prstGeom>
          <a:noFill/>
        </p:spPr>
        <p:txBody>
          <a:bodyPr wrap="none" lIns="38100" rIns="38100" tIns="12700" bIns="12700" anchor="ctr">
            <a:spAutoFit/>
          </a:bodyPr>
          <a:lstStyle/>
          <a:p>
            <a:pPr algn="ctr"/>
            <a:r>
              <a:rPr sz="1110" b="1">
                <a:solidFill>
                  <a:srgbClr val="1E2A3A"/>
                </a:solidFill>
                <a:latin typeface="Noto Sans CJK SC"/>
              </a:rPr>
              <a:t>实现后：公共接口统一协作，fastQA / highThinkingQA / patent 保留各自执行链路。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641080" y="1353312"/>
            <a:ext cx="2834640" cy="12984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055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769096" y="1426464"/>
            <a:ext cx="2578608" cy="219456"/>
          </a:xfrm>
          <a:prstGeom prst="rect">
            <a:avLst/>
          </a:prstGeom>
          <a:noFill/>
        </p:spPr>
        <p:txBody>
          <a:bodyPr wrap="none" lIns="38100" rIns="38100" tIns="12700" bIns="12700" anchor="ctr">
            <a:spAutoFit/>
          </a:bodyPr>
          <a:lstStyle/>
          <a:p>
            <a:pPr algn="ctr"/>
            <a:r>
              <a:rPr sz="1180" b="1">
                <a:solidFill>
                  <a:srgbClr val="0055AA"/>
                </a:solidFill>
                <a:latin typeface="Noto Sans CJK SC"/>
              </a:rPr>
              <a:t>已实现：执行分离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787384" y="1700784"/>
            <a:ext cx="2542032" cy="859536"/>
          </a:xfrm>
          <a:prstGeom prst="rect">
            <a:avLst/>
          </a:prstGeom>
          <a:noFill/>
        </p:spPr>
        <p:txBody>
          <a:bodyPr wrap="square" lIns="63500" rIns="63500" tIns="38100" bIns="38100" anchor="ctr">
            <a:spAutoFit/>
          </a:bodyPr>
          <a:lstStyle/>
          <a:p>
            <a:pPr algn="l">
              <a:spcAft>
                <a:spcPts val="100"/>
              </a:spcAft>
            </a:pPr>
            <a:r>
              <a:rPr sz="860">
                <a:solidFill>
                  <a:srgbClr val="222222"/>
                </a:solidFill>
                <a:latin typeface="Noto Sans CJK SC"/>
              </a:rPr>
              <a:t>fastQA、highThinkingQA、patent</a:t>
            </a:r>
          </a:p>
          <a:p>
            <a:pPr algn="l">
              <a:spcAft>
                <a:spcPts val="100"/>
              </a:spcAft>
            </a:pPr>
            <a:r>
              <a:rPr sz="860">
                <a:solidFill>
                  <a:srgbClr val="222222"/>
                </a:solidFill>
                <a:latin typeface="Noto Sans CJK SC"/>
              </a:rPr>
              <a:t>保留各自执行链路与上下文处理。</a:t>
            </a:r>
          </a:p>
          <a:p>
            <a:pPr algn="l">
              <a:spcAft>
                <a:spcPts val="100"/>
              </a:spcAft>
            </a:pPr>
            <a:r>
              <a:rPr sz="860">
                <a:solidFill>
                  <a:srgbClr val="222222"/>
                </a:solidFill>
                <a:latin typeface="Noto Sans CJK SC"/>
              </a:rPr>
              <a:t>gateway 只做入口编排、任务控制和转发。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641080" y="2779776"/>
            <a:ext cx="2834640" cy="12984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4E82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769096" y="2852928"/>
            <a:ext cx="2578608" cy="219456"/>
          </a:xfrm>
          <a:prstGeom prst="rect">
            <a:avLst/>
          </a:prstGeom>
          <a:noFill/>
        </p:spPr>
        <p:txBody>
          <a:bodyPr wrap="none" lIns="38100" rIns="38100" tIns="12700" bIns="12700" anchor="ctr">
            <a:spAutoFit/>
          </a:bodyPr>
          <a:lstStyle/>
          <a:p>
            <a:pPr algn="ctr"/>
            <a:r>
              <a:rPr sz="1180" b="1">
                <a:solidFill>
                  <a:srgbClr val="4E82C7"/>
                </a:solidFill>
                <a:latin typeface="Noto Sans CJK SC"/>
              </a:rPr>
              <a:t>已实现：状态协作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787384" y="3127248"/>
            <a:ext cx="2542032" cy="859536"/>
          </a:xfrm>
          <a:prstGeom prst="rect">
            <a:avLst/>
          </a:prstGeom>
          <a:noFill/>
        </p:spPr>
        <p:txBody>
          <a:bodyPr wrap="square" lIns="63500" rIns="63500" tIns="38100" bIns="38100" anchor="ctr">
            <a:spAutoFit/>
          </a:bodyPr>
          <a:lstStyle/>
          <a:p>
            <a:pPr algn="l">
              <a:spcAft>
                <a:spcPts val="100"/>
              </a:spcAft>
            </a:pPr>
            <a:r>
              <a:rPr sz="860">
                <a:solidFill>
                  <a:srgbClr val="222222"/>
                </a:solidFill>
                <a:latin typeface="Noto Sans CJK SC"/>
              </a:rPr>
              <a:t>会话、文件、权限与任务状态</a:t>
            </a:r>
          </a:p>
          <a:p>
            <a:pPr algn="l">
              <a:spcAft>
                <a:spcPts val="100"/>
              </a:spcAft>
            </a:pPr>
            <a:r>
              <a:rPr sz="860">
                <a:solidFill>
                  <a:srgbClr val="222222"/>
                </a:solidFill>
                <a:latin typeface="Noto Sans CJK SC"/>
              </a:rPr>
              <a:t>通过 gateway / public-service 协同。</a:t>
            </a:r>
          </a:p>
          <a:p>
            <a:pPr algn="l">
              <a:spcAft>
                <a:spcPts val="100"/>
              </a:spcAft>
            </a:pPr>
            <a:r>
              <a:rPr sz="860">
                <a:solidFill>
                  <a:srgbClr val="222222"/>
                </a:solidFill>
                <a:latin typeface="Noto Sans CJK SC"/>
              </a:rPr>
              <a:t>执行服务按 file_id、task_id 等引用获取上下文。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8641080" y="4206240"/>
            <a:ext cx="2834640" cy="12984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55AA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769096" y="4279392"/>
            <a:ext cx="2578608" cy="219456"/>
          </a:xfrm>
          <a:prstGeom prst="rect">
            <a:avLst/>
          </a:prstGeom>
          <a:noFill/>
        </p:spPr>
        <p:txBody>
          <a:bodyPr wrap="none" lIns="38100" rIns="38100" tIns="12700" bIns="12700" anchor="ctr">
            <a:spAutoFit/>
          </a:bodyPr>
          <a:lstStyle/>
          <a:p>
            <a:pPr algn="ctr"/>
            <a:r>
              <a:rPr sz="1180" b="1">
                <a:solidFill>
                  <a:srgbClr val="55AA66"/>
                </a:solidFill>
                <a:latin typeface="Noto Sans CJK SC"/>
              </a:rPr>
              <a:t>已实现：原文读取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787384" y="4553712"/>
            <a:ext cx="2542032" cy="859536"/>
          </a:xfrm>
          <a:prstGeom prst="rect">
            <a:avLst/>
          </a:prstGeom>
          <a:noFill/>
        </p:spPr>
        <p:txBody>
          <a:bodyPr wrap="square" lIns="63500" rIns="63500" tIns="38100" bIns="38100" anchor="ctr">
            <a:spAutoFit/>
          </a:bodyPr>
          <a:lstStyle/>
          <a:p>
            <a:pPr algn="l">
              <a:spcAft>
                <a:spcPts val="100"/>
              </a:spcAft>
            </a:pPr>
            <a:r>
              <a:rPr sz="860">
                <a:solidFill>
                  <a:srgbClr val="222222"/>
                </a:solidFill>
                <a:latin typeface="Noto Sans CJK SC"/>
              </a:rPr>
              <a:t>patent 原文查看接入 MinIO 对象链路，</a:t>
            </a:r>
          </a:p>
          <a:p>
            <a:pPr algn="l">
              <a:spcAft>
                <a:spcPts val="100"/>
              </a:spcAft>
            </a:pPr>
            <a:r>
              <a:rPr sz="860">
                <a:solidFill>
                  <a:srgbClr val="222222"/>
                </a:solidFill>
                <a:latin typeface="Noto Sans CJK SC"/>
              </a:rPr>
              <a:t>答案中的原文引用可跳转到存储对象。</a:t>
            </a:r>
          </a:p>
          <a:p>
            <a:pPr algn="l">
              <a:spcAft>
                <a:spcPts val="100"/>
              </a:spcAft>
            </a:pPr>
            <a:r>
              <a:rPr sz="860">
                <a:solidFill>
                  <a:srgbClr val="222222"/>
                </a:solidFill>
                <a:latin typeface="Noto Sans CJK SC"/>
              </a:rPr>
              <a:t>原文读取不混入其他 QA 模式执行链路。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154680" y="6236208"/>
            <a:ext cx="1097280" cy="201168"/>
          </a:xfrm>
          <a:prstGeom prst="rect">
            <a:avLst/>
          </a:prstGeom>
          <a:noFill/>
        </p:spPr>
        <p:txBody>
          <a:bodyPr wrap="none" lIns="25400" rIns="25400" tIns="12700" bIns="12700" anchor="ctr">
            <a:spAutoFit/>
          </a:bodyPr>
          <a:lstStyle/>
          <a:p>
            <a:pPr algn="r"/>
            <a:r>
              <a:rPr sz="1000" b="0">
                <a:solidFill>
                  <a:srgbClr val="0055AA"/>
                </a:solidFill>
                <a:latin typeface="Noto Sans CJK SC"/>
              </a:rPr>
              <a:t>创新成就卓越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370832" y="6236208"/>
            <a:ext cx="2743200" cy="201168"/>
          </a:xfrm>
          <a:prstGeom prst="rect">
            <a:avLst/>
          </a:prstGeom>
          <a:noFill/>
        </p:spPr>
        <p:txBody>
          <a:bodyPr wrap="none" lIns="25400" rIns="25400" tIns="12700" bIns="12700" anchor="ctr">
            <a:spAutoFit/>
          </a:bodyPr>
          <a:lstStyle/>
          <a:p>
            <a:pPr algn="l"/>
            <a:r>
              <a:rPr sz="1000" b="0">
                <a:solidFill>
                  <a:srgbClr val="666666"/>
                </a:solidFill>
                <a:latin typeface="Noto Sans CJK SC"/>
              </a:rPr>
              <a:t>INNOVATION CREATES EXCELLENCE</a:t>
            </a:r>
          </a:p>
        </p:txBody>
      </p:sp>
      <p:sp>
        <p:nvSpPr>
          <p:cNvPr id="46" name="Rectangle 45"/>
          <p:cNvSpPr/>
          <p:nvPr/>
        </p:nvSpPr>
        <p:spPr>
          <a:xfrm>
            <a:off x="9555480" y="6629400"/>
            <a:ext cx="2651760" cy="36576"/>
          </a:xfrm>
          <a:prstGeom prst="rect">
            <a:avLst/>
          </a:prstGeom>
          <a:solidFill>
            <a:srgbClr val="B6C0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0" y="6702552"/>
            <a:ext cx="12191999" cy="36576"/>
          </a:xfrm>
          <a:prstGeom prst="rect">
            <a:avLst/>
          </a:prstGeom>
          <a:solidFill>
            <a:srgbClr val="EEEF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457200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94944" y="73152"/>
            <a:ext cx="502920" cy="274320"/>
          </a:xfrm>
          <a:prstGeom prst="rect">
            <a:avLst/>
          </a:prstGeom>
          <a:noFill/>
        </p:spPr>
        <p:txBody>
          <a:bodyPr wrap="none" lIns="25400" rIns="25400" tIns="12700" bIns="12700" anchor="ctr">
            <a:spAutoFit/>
          </a:bodyPr>
          <a:lstStyle/>
          <a:p>
            <a:pPr algn="l"/>
            <a:r>
              <a:rPr sz="1700" b="1">
                <a:solidFill>
                  <a:srgbClr val="0055AA"/>
                </a:solidFill>
                <a:latin typeface="Noto Sans CJK SC"/>
              </a:rP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" y="36576"/>
            <a:ext cx="5669280" cy="365760"/>
          </a:xfrm>
          <a:prstGeom prst="rect">
            <a:avLst/>
          </a:prstGeom>
          <a:noFill/>
        </p:spPr>
        <p:txBody>
          <a:bodyPr wrap="none" lIns="25400" rIns="25400" tIns="12700" bIns="12700" anchor="ctr">
            <a:spAutoFit/>
          </a:bodyPr>
          <a:lstStyle/>
          <a:p>
            <a:pPr algn="l"/>
            <a:r>
              <a:rPr sz="2200" b="1">
                <a:solidFill>
                  <a:srgbClr val="0055AA"/>
                </a:solidFill>
                <a:latin typeface="Noto Sans CJK SC"/>
              </a:rPr>
              <a:t>核心实现</a:t>
            </a:r>
          </a:p>
        </p:txBody>
      </p:sp>
      <p:pic>
        <p:nvPicPr>
          <p:cNvPr id="5" name="Picture 4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0"/>
            <a:ext cx="2240280" cy="457200"/>
          </a:xfrm>
          <a:prstGeom prst="rect">
            <a:avLst/>
          </a:prstGeom>
        </p:spPr>
      </p:pic>
      <p:pic>
        <p:nvPicPr>
          <p:cNvPr id="6" name="Picture 5" descr="logo_full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04704" y="91440"/>
            <a:ext cx="1298448" cy="25603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58368" y="658368"/>
            <a:ext cx="6949440" cy="438912"/>
          </a:xfrm>
          <a:prstGeom prst="rect">
            <a:avLst/>
          </a:prstGeom>
          <a:noFill/>
        </p:spPr>
        <p:txBody>
          <a:bodyPr wrap="none" lIns="38100" rIns="38100" tIns="12700" bIns="12700" anchor="ctr">
            <a:spAutoFit/>
          </a:bodyPr>
          <a:lstStyle/>
          <a:p>
            <a:pPr algn="l"/>
            <a:r>
              <a:rPr sz="2400" b="1">
                <a:solidFill>
                  <a:srgbClr val="0055AA"/>
                </a:solidFill>
                <a:latin typeface="Noto Sans CJK SC"/>
              </a:rPr>
              <a:t>实现管理员后台与组织人员管理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1078992"/>
            <a:ext cx="6949440" cy="256032"/>
          </a:xfrm>
          <a:prstGeom prst="rect">
            <a:avLst/>
          </a:prstGeom>
          <a:noFill/>
        </p:spPr>
        <p:txBody>
          <a:bodyPr wrap="none" lIns="38100" rIns="38100" tIns="12700" bIns="12700" anchor="ctr">
            <a:spAutoFit/>
          </a:bodyPr>
          <a:lstStyle/>
          <a:p>
            <a:pPr algn="l"/>
            <a:r>
              <a:rPr sz="1150" b="0">
                <a:solidFill>
                  <a:srgbClr val="1E2A3A"/>
                </a:solidFill>
                <a:latin typeface="Noto Sans CJK SC"/>
              </a:rPr>
              <a:t>账号、部门、人员、绑定关系完成后台维护和用户侧补全闭环。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1353312"/>
            <a:ext cx="7818120" cy="4462272"/>
          </a:xfrm>
          <a:prstGeom prst="rect">
            <a:avLst/>
          </a:prstGeom>
          <a:solidFill>
            <a:srgbClr val="F9FBFE"/>
          </a:solidFill>
          <a:ln w="10160">
            <a:solidFill>
              <a:srgbClr val="D7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914400" y="1664208"/>
            <a:ext cx="1444752" cy="19385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055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42416" y="1737360"/>
            <a:ext cx="1188720" cy="219456"/>
          </a:xfrm>
          <a:prstGeom prst="rect">
            <a:avLst/>
          </a:prstGeom>
          <a:noFill/>
        </p:spPr>
        <p:txBody>
          <a:bodyPr wrap="none" lIns="38100" rIns="38100" tIns="12700" bIns="12700" anchor="ctr">
            <a:spAutoFit/>
          </a:bodyPr>
          <a:lstStyle/>
          <a:p>
            <a:pPr algn="ctr"/>
            <a:r>
              <a:rPr sz="1180" b="1">
                <a:solidFill>
                  <a:srgbClr val="0055AA"/>
                </a:solidFill>
                <a:latin typeface="Noto Sans CJK SC"/>
              </a:rPr>
              <a:t>已实现：账号管理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704" y="2011680"/>
            <a:ext cx="1152144" cy="1499616"/>
          </a:xfrm>
          <a:prstGeom prst="rect">
            <a:avLst/>
          </a:prstGeom>
          <a:noFill/>
        </p:spPr>
        <p:txBody>
          <a:bodyPr wrap="square" lIns="63500" rIns="63500" tIns="38100" bIns="38100" anchor="ctr">
            <a:spAutoFit/>
          </a:bodyPr>
          <a:lstStyle/>
          <a:p>
            <a:pPr algn="l">
              <a:spcAft>
                <a:spcPts val="100"/>
              </a:spcAft>
            </a:pPr>
            <a:r>
              <a:rPr sz="890">
                <a:solidFill>
                  <a:srgbClr val="222222"/>
                </a:solidFill>
                <a:latin typeface="Noto Sans CJK SC"/>
              </a:rPr>
              <a:t>登录鉴权</a:t>
            </a:r>
          </a:p>
          <a:p>
            <a:pPr algn="l">
              <a:spcAft>
                <a:spcPts val="100"/>
              </a:spcAft>
            </a:pPr>
            <a:r>
              <a:rPr sz="890">
                <a:solidFill>
                  <a:srgbClr val="222222"/>
                </a:solidFill>
                <a:latin typeface="Noto Sans CJK SC"/>
              </a:rPr>
              <a:t>用户停启用</a:t>
            </a:r>
          </a:p>
          <a:p>
            <a:pPr algn="l">
              <a:spcAft>
                <a:spcPts val="100"/>
              </a:spcAft>
            </a:pPr>
            <a:r>
              <a:rPr sz="890">
                <a:solidFill>
                  <a:srgbClr val="222222"/>
                </a:solidFill>
                <a:latin typeface="Noto Sans CJK SC"/>
              </a:rPr>
              <a:t>密码重置</a:t>
            </a:r>
          </a:p>
          <a:p>
            <a:pPr algn="l">
              <a:spcAft>
                <a:spcPts val="100"/>
              </a:spcAft>
            </a:pPr>
            <a:r>
              <a:rPr sz="890">
                <a:solidFill>
                  <a:srgbClr val="222222"/>
                </a:solidFill>
                <a:latin typeface="Noto Sans CJK SC"/>
              </a:rPr>
              <a:t>安全问题</a:t>
            </a:r>
          </a:p>
          <a:p>
            <a:pPr algn="l">
              <a:spcAft>
                <a:spcPts val="100"/>
              </a:spcAft>
            </a:pPr>
            <a:r>
              <a:rPr sz="890">
                <a:solidFill>
                  <a:srgbClr val="222222"/>
                </a:solidFill>
                <a:latin typeface="Noto Sans CJK SC"/>
              </a:rPr>
              <a:t>用户状态控制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2359152" y="2633472"/>
            <a:ext cx="310896" cy="0"/>
          </a:xfrm>
          <a:prstGeom prst="line">
            <a:avLst/>
          </a:prstGeom>
          <a:ln w="12700">
            <a:solidFill>
              <a:srgbClr val="D7DE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2697480" y="1664208"/>
            <a:ext cx="1444752" cy="19385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4E82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825496" y="1737360"/>
            <a:ext cx="1188720" cy="219456"/>
          </a:xfrm>
          <a:prstGeom prst="rect">
            <a:avLst/>
          </a:prstGeom>
          <a:noFill/>
        </p:spPr>
        <p:txBody>
          <a:bodyPr wrap="none" lIns="38100" rIns="38100" tIns="12700" bIns="12700" anchor="ctr">
            <a:spAutoFit/>
          </a:bodyPr>
          <a:lstStyle/>
          <a:p>
            <a:pPr algn="ctr"/>
            <a:r>
              <a:rPr sz="1180" b="1">
                <a:solidFill>
                  <a:srgbClr val="4E82C7"/>
                </a:solidFill>
                <a:latin typeface="Noto Sans CJK SC"/>
              </a:rPr>
              <a:t>已实现：部门管理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843784" y="2011680"/>
            <a:ext cx="1152144" cy="1499616"/>
          </a:xfrm>
          <a:prstGeom prst="rect">
            <a:avLst/>
          </a:prstGeom>
          <a:noFill/>
        </p:spPr>
        <p:txBody>
          <a:bodyPr wrap="square" lIns="63500" rIns="63500" tIns="38100" bIns="38100" anchor="ctr">
            <a:spAutoFit/>
          </a:bodyPr>
          <a:lstStyle/>
          <a:p>
            <a:pPr algn="l">
              <a:spcAft>
                <a:spcPts val="100"/>
              </a:spcAft>
            </a:pPr>
            <a:r>
              <a:rPr sz="890">
                <a:solidFill>
                  <a:srgbClr val="222222"/>
                </a:solidFill>
                <a:latin typeface="Noto Sans CJK SC"/>
              </a:rPr>
              <a:t>三级部门字典</a:t>
            </a:r>
          </a:p>
          <a:p>
            <a:pPr algn="l">
              <a:spcAft>
                <a:spcPts val="100"/>
              </a:spcAft>
            </a:pPr>
            <a:r>
              <a:rPr sz="890">
                <a:solidFill>
                  <a:srgbClr val="222222"/>
                </a:solidFill>
                <a:latin typeface="Noto Sans CJK SC"/>
              </a:rPr>
              <a:t>部门停启用</a:t>
            </a:r>
          </a:p>
          <a:p>
            <a:pPr algn="l">
              <a:spcAft>
                <a:spcPts val="100"/>
              </a:spcAft>
            </a:pPr>
            <a:r>
              <a:rPr sz="890">
                <a:solidFill>
                  <a:srgbClr val="222222"/>
                </a:solidFill>
                <a:latin typeface="Noto Sans CJK SC"/>
              </a:rPr>
              <a:t>批量导入</a:t>
            </a:r>
          </a:p>
          <a:p>
            <a:pPr algn="l">
              <a:spcAft>
                <a:spcPts val="100"/>
              </a:spcAft>
            </a:pPr>
            <a:r>
              <a:rPr sz="890">
                <a:solidFill>
                  <a:srgbClr val="222222"/>
                </a:solidFill>
                <a:latin typeface="Noto Sans CJK SC"/>
              </a:rPr>
              <a:t>字典查询</a:t>
            </a:r>
          </a:p>
          <a:p>
            <a:pPr algn="l">
              <a:spcAft>
                <a:spcPts val="100"/>
              </a:spcAft>
            </a:pPr>
            <a:r>
              <a:rPr sz="890">
                <a:solidFill>
                  <a:srgbClr val="222222"/>
                </a:solidFill>
                <a:latin typeface="Noto Sans CJK SC"/>
              </a:rPr>
              <a:t>组织结构维护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4142232" y="2633472"/>
            <a:ext cx="310896" cy="0"/>
          </a:xfrm>
          <a:prstGeom prst="line">
            <a:avLst/>
          </a:prstGeom>
          <a:ln w="12700">
            <a:solidFill>
              <a:srgbClr val="D7DE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4480560" y="1664208"/>
            <a:ext cx="1444752" cy="19385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55AA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608576" y="1737360"/>
            <a:ext cx="1188720" cy="219456"/>
          </a:xfrm>
          <a:prstGeom prst="rect">
            <a:avLst/>
          </a:prstGeom>
          <a:noFill/>
        </p:spPr>
        <p:txBody>
          <a:bodyPr wrap="none" lIns="38100" rIns="38100" tIns="12700" bIns="12700" anchor="ctr">
            <a:spAutoFit/>
          </a:bodyPr>
          <a:lstStyle/>
          <a:p>
            <a:pPr algn="ctr"/>
            <a:r>
              <a:rPr sz="1180" b="1">
                <a:solidFill>
                  <a:srgbClr val="55AA66"/>
                </a:solidFill>
                <a:latin typeface="Noto Sans CJK SC"/>
              </a:rPr>
              <a:t>已实现：人员主档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26864" y="2011680"/>
            <a:ext cx="1152144" cy="1499616"/>
          </a:xfrm>
          <a:prstGeom prst="rect">
            <a:avLst/>
          </a:prstGeom>
          <a:noFill/>
        </p:spPr>
        <p:txBody>
          <a:bodyPr wrap="square" lIns="63500" rIns="63500" tIns="38100" bIns="38100" anchor="ctr">
            <a:spAutoFit/>
          </a:bodyPr>
          <a:lstStyle/>
          <a:p>
            <a:pPr algn="l">
              <a:spcAft>
                <a:spcPts val="100"/>
              </a:spcAft>
            </a:pPr>
            <a:r>
              <a:rPr sz="890">
                <a:solidFill>
                  <a:srgbClr val="222222"/>
                </a:solidFill>
                <a:latin typeface="Noto Sans CJK SC"/>
              </a:rPr>
              <a:t>人员主档维护</a:t>
            </a:r>
          </a:p>
          <a:p>
            <a:pPr algn="l">
              <a:spcAft>
                <a:spcPts val="100"/>
              </a:spcAft>
            </a:pPr>
            <a:r>
              <a:rPr sz="890">
                <a:solidFill>
                  <a:srgbClr val="222222"/>
                </a:solidFill>
                <a:latin typeface="Noto Sans CJK SC"/>
              </a:rPr>
              <a:t>工号姓名管理</a:t>
            </a:r>
          </a:p>
          <a:p>
            <a:pPr algn="l">
              <a:spcAft>
                <a:spcPts val="100"/>
              </a:spcAft>
            </a:pPr>
            <a:r>
              <a:rPr sz="890">
                <a:solidFill>
                  <a:srgbClr val="222222"/>
                </a:solidFill>
                <a:latin typeface="Noto Sans CJK SC"/>
              </a:rPr>
              <a:t>校验码校验</a:t>
            </a:r>
          </a:p>
          <a:p>
            <a:pPr algn="l">
              <a:spcAft>
                <a:spcPts val="100"/>
              </a:spcAft>
            </a:pPr>
            <a:r>
              <a:rPr sz="890">
                <a:solidFill>
                  <a:srgbClr val="222222"/>
                </a:solidFill>
                <a:latin typeface="Noto Sans CJK SC"/>
              </a:rPr>
              <a:t>绑定校验</a:t>
            </a:r>
          </a:p>
          <a:p>
            <a:pPr algn="l">
              <a:spcAft>
                <a:spcPts val="100"/>
              </a:spcAft>
            </a:pPr>
            <a:r>
              <a:rPr sz="890">
                <a:solidFill>
                  <a:srgbClr val="222222"/>
                </a:solidFill>
                <a:latin typeface="Noto Sans CJK SC"/>
              </a:rPr>
              <a:t>信息补全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5925312" y="2633472"/>
            <a:ext cx="310896" cy="0"/>
          </a:xfrm>
          <a:prstGeom prst="line">
            <a:avLst/>
          </a:prstGeom>
          <a:ln w="12700">
            <a:solidFill>
              <a:srgbClr val="D7DE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6263640" y="1664208"/>
            <a:ext cx="1444752" cy="19385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E82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91655" y="1737360"/>
            <a:ext cx="1188720" cy="219456"/>
          </a:xfrm>
          <a:prstGeom prst="rect">
            <a:avLst/>
          </a:prstGeom>
          <a:noFill/>
        </p:spPr>
        <p:txBody>
          <a:bodyPr wrap="none" lIns="38100" rIns="38100" tIns="12700" bIns="12700" anchor="ctr">
            <a:spAutoFit/>
          </a:bodyPr>
          <a:lstStyle/>
          <a:p>
            <a:pPr algn="ctr"/>
            <a:r>
              <a:rPr sz="1180" b="1">
                <a:solidFill>
                  <a:srgbClr val="EE822F"/>
                </a:solidFill>
                <a:latin typeface="Noto Sans CJK SC"/>
              </a:rPr>
              <a:t>已实现：绑定关系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9944" y="2011680"/>
            <a:ext cx="1152144" cy="1499616"/>
          </a:xfrm>
          <a:prstGeom prst="rect">
            <a:avLst/>
          </a:prstGeom>
          <a:noFill/>
        </p:spPr>
        <p:txBody>
          <a:bodyPr wrap="square" lIns="63500" rIns="63500" tIns="38100" bIns="38100" anchor="ctr">
            <a:spAutoFit/>
          </a:bodyPr>
          <a:lstStyle/>
          <a:p>
            <a:pPr algn="l">
              <a:spcAft>
                <a:spcPts val="100"/>
              </a:spcAft>
            </a:pPr>
            <a:r>
              <a:rPr sz="890">
                <a:solidFill>
                  <a:srgbClr val="222222"/>
                </a:solidFill>
                <a:latin typeface="Noto Sans CJK SC"/>
              </a:rPr>
              <a:t>账号绑定人员</a:t>
            </a:r>
          </a:p>
          <a:p>
            <a:pPr algn="l">
              <a:spcAft>
                <a:spcPts val="100"/>
              </a:spcAft>
            </a:pPr>
            <a:r>
              <a:rPr sz="890">
                <a:solidFill>
                  <a:srgbClr val="222222"/>
                </a:solidFill>
                <a:latin typeface="Noto Sans CJK SC"/>
              </a:rPr>
              <a:t>管理员修复绑定</a:t>
            </a:r>
          </a:p>
          <a:p>
            <a:pPr algn="l">
              <a:spcAft>
                <a:spcPts val="100"/>
              </a:spcAft>
            </a:pPr>
            <a:r>
              <a:rPr sz="890">
                <a:solidFill>
                  <a:srgbClr val="222222"/>
                </a:solidFill>
                <a:latin typeface="Noto Sans CJK SC"/>
              </a:rPr>
              <a:t>用户自助绑定</a:t>
            </a:r>
          </a:p>
          <a:p>
            <a:pPr algn="l">
              <a:spcAft>
                <a:spcPts val="100"/>
              </a:spcAft>
            </a:pPr>
            <a:r>
              <a:rPr sz="890">
                <a:solidFill>
                  <a:srgbClr val="222222"/>
                </a:solidFill>
                <a:latin typeface="Noto Sans CJK SC"/>
              </a:rPr>
              <a:t>个人中心补全</a:t>
            </a:r>
          </a:p>
          <a:p>
            <a:pPr algn="l">
              <a:spcAft>
                <a:spcPts val="100"/>
              </a:spcAft>
            </a:pPr>
            <a:r>
              <a:rPr sz="890">
                <a:solidFill>
                  <a:srgbClr val="222222"/>
                </a:solidFill>
                <a:latin typeface="Noto Sans CJK SC"/>
              </a:rPr>
              <a:t>关系可追踪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005840" y="4206240"/>
            <a:ext cx="3246120" cy="585216"/>
          </a:xfrm>
          <a:prstGeom prst="roundRect">
            <a:avLst/>
          </a:prstGeom>
          <a:solidFill>
            <a:srgbClr val="E9F3FF"/>
          </a:solidFill>
          <a:ln w="10160">
            <a:solidFill>
              <a:srgbClr val="D7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78992" y="4251959"/>
            <a:ext cx="3099815" cy="182880"/>
          </a:xfrm>
          <a:prstGeom prst="rect">
            <a:avLst/>
          </a:prstGeom>
          <a:noFill/>
        </p:spPr>
        <p:txBody>
          <a:bodyPr wrap="none" lIns="38100" rIns="38100" tIns="12700" bIns="12700" anchor="ctr">
            <a:spAutoFit/>
          </a:bodyPr>
          <a:lstStyle/>
          <a:p>
            <a:pPr algn="ctr"/>
            <a:r>
              <a:rPr sz="1019" b="1">
                <a:solidFill>
                  <a:srgbClr val="00459A"/>
                </a:solidFill>
                <a:latin typeface="Noto Sans CJK SC"/>
              </a:rPr>
              <a:t>管理员侧：用户、部门、人员、绑定集中维护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590288" y="4206240"/>
            <a:ext cx="3246120" cy="585216"/>
          </a:xfrm>
          <a:prstGeom prst="roundRect">
            <a:avLst/>
          </a:prstGeom>
          <a:solidFill>
            <a:srgbClr val="F4FBF7"/>
          </a:solidFill>
          <a:ln w="10160">
            <a:solidFill>
              <a:srgbClr val="D7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663440" y="4251959"/>
            <a:ext cx="3099815" cy="182880"/>
          </a:xfrm>
          <a:prstGeom prst="rect">
            <a:avLst/>
          </a:prstGeom>
          <a:noFill/>
        </p:spPr>
        <p:txBody>
          <a:bodyPr wrap="none" lIns="38100" rIns="38100" tIns="12700" bIns="12700" anchor="ctr">
            <a:spAutoFit/>
          </a:bodyPr>
          <a:lstStyle/>
          <a:p>
            <a:pPr algn="ctr"/>
            <a:r>
              <a:rPr sz="1019" b="1">
                <a:solidFill>
                  <a:srgbClr val="00459A"/>
                </a:solidFill>
                <a:latin typeface="Noto Sans CJK SC"/>
              </a:rPr>
              <a:t>用户侧：注册、个人中心、人员信息自助补全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641080" y="1353312"/>
            <a:ext cx="2834640" cy="12984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055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769096" y="1426464"/>
            <a:ext cx="2578608" cy="219456"/>
          </a:xfrm>
          <a:prstGeom prst="rect">
            <a:avLst/>
          </a:prstGeom>
          <a:noFill/>
        </p:spPr>
        <p:txBody>
          <a:bodyPr wrap="none" lIns="38100" rIns="38100" tIns="12700" bIns="12700" anchor="ctr">
            <a:spAutoFit/>
          </a:bodyPr>
          <a:lstStyle/>
          <a:p>
            <a:pPr algn="ctr"/>
            <a:r>
              <a:rPr sz="1180" b="1">
                <a:solidFill>
                  <a:srgbClr val="0055AA"/>
                </a:solidFill>
                <a:latin typeface="Noto Sans CJK SC"/>
              </a:rPr>
              <a:t>已实现：后台维护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787384" y="1700784"/>
            <a:ext cx="2542032" cy="859536"/>
          </a:xfrm>
          <a:prstGeom prst="rect">
            <a:avLst/>
          </a:prstGeom>
          <a:noFill/>
        </p:spPr>
        <p:txBody>
          <a:bodyPr wrap="square" lIns="63500" rIns="63500" tIns="38100" bIns="38100" anchor="ctr">
            <a:spAutoFit/>
          </a:bodyPr>
          <a:lstStyle/>
          <a:p>
            <a:pPr algn="l">
              <a:spcAft>
                <a:spcPts val="100"/>
              </a:spcAft>
            </a:pPr>
            <a:r>
              <a:rPr sz="860">
                <a:solidFill>
                  <a:srgbClr val="222222"/>
                </a:solidFill>
                <a:latin typeface="Noto Sans CJK SC"/>
              </a:rPr>
              <a:t>管理员页面覆盖用户、部门、人员、</a:t>
            </a:r>
          </a:p>
          <a:p>
            <a:pPr algn="l">
              <a:spcAft>
                <a:spcPts val="100"/>
              </a:spcAft>
            </a:pPr>
            <a:r>
              <a:rPr sz="860">
                <a:solidFill>
                  <a:srgbClr val="222222"/>
                </a:solidFill>
                <a:latin typeface="Noto Sans CJK SC"/>
              </a:rPr>
              <a:t>绑定关系和批量导入。</a:t>
            </a:r>
          </a:p>
          <a:p>
            <a:pPr algn="l">
              <a:spcAft>
                <a:spcPts val="100"/>
              </a:spcAft>
            </a:pPr>
            <a:r>
              <a:rPr sz="860">
                <a:solidFill>
                  <a:srgbClr val="222222"/>
                </a:solidFill>
                <a:latin typeface="Noto Sans CJK SC"/>
              </a:rPr>
              <a:t>组织基础数据可以在后台统一维护。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641080" y="2779776"/>
            <a:ext cx="2834640" cy="12984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55AA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769096" y="2852928"/>
            <a:ext cx="2578608" cy="219456"/>
          </a:xfrm>
          <a:prstGeom prst="rect">
            <a:avLst/>
          </a:prstGeom>
          <a:noFill/>
        </p:spPr>
        <p:txBody>
          <a:bodyPr wrap="none" lIns="38100" rIns="38100" tIns="12700" bIns="12700" anchor="ctr">
            <a:spAutoFit/>
          </a:bodyPr>
          <a:lstStyle/>
          <a:p>
            <a:pPr algn="ctr"/>
            <a:r>
              <a:rPr sz="1180" b="1">
                <a:solidFill>
                  <a:srgbClr val="55AA66"/>
                </a:solidFill>
                <a:latin typeface="Noto Sans CJK SC"/>
              </a:rPr>
              <a:t>已实现：主档校验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787384" y="3127248"/>
            <a:ext cx="2542032" cy="859536"/>
          </a:xfrm>
          <a:prstGeom prst="rect">
            <a:avLst/>
          </a:prstGeom>
          <a:noFill/>
        </p:spPr>
        <p:txBody>
          <a:bodyPr wrap="square" lIns="63500" rIns="63500" tIns="38100" bIns="38100" anchor="ctr">
            <a:spAutoFit/>
          </a:bodyPr>
          <a:lstStyle/>
          <a:p>
            <a:pPr algn="l">
              <a:spcAft>
                <a:spcPts val="100"/>
              </a:spcAft>
            </a:pPr>
            <a:r>
              <a:rPr sz="860">
                <a:solidFill>
                  <a:srgbClr val="222222"/>
                </a:solidFill>
                <a:latin typeface="Noto Sans CJK SC"/>
              </a:rPr>
              <a:t>三级部门字典和人员主档参与校验，</a:t>
            </a:r>
          </a:p>
          <a:p>
            <a:pPr algn="l">
              <a:spcAft>
                <a:spcPts val="100"/>
              </a:spcAft>
            </a:pPr>
            <a:r>
              <a:rPr sz="860">
                <a:solidFill>
                  <a:srgbClr val="222222"/>
                </a:solidFill>
                <a:latin typeface="Noto Sans CJK SC"/>
              </a:rPr>
              <a:t>工号、姓名、校验码用于绑定确认。</a:t>
            </a:r>
          </a:p>
          <a:p>
            <a:pPr algn="l">
              <a:spcAft>
                <a:spcPts val="100"/>
              </a:spcAft>
            </a:pPr>
            <a:r>
              <a:rPr sz="860">
                <a:solidFill>
                  <a:srgbClr val="222222"/>
                </a:solidFill>
                <a:latin typeface="Noto Sans CJK SC"/>
              </a:rPr>
              <a:t>注册和个人中心可复用同一套数据。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641080" y="4206240"/>
            <a:ext cx="2834640" cy="12984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E82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769096" y="4279392"/>
            <a:ext cx="2578608" cy="219456"/>
          </a:xfrm>
          <a:prstGeom prst="rect">
            <a:avLst/>
          </a:prstGeom>
          <a:noFill/>
        </p:spPr>
        <p:txBody>
          <a:bodyPr wrap="none" lIns="38100" rIns="38100" tIns="12700" bIns="12700" anchor="ctr">
            <a:spAutoFit/>
          </a:bodyPr>
          <a:lstStyle/>
          <a:p>
            <a:pPr algn="ctr"/>
            <a:r>
              <a:rPr sz="1180" b="1">
                <a:solidFill>
                  <a:srgbClr val="EE822F"/>
                </a:solidFill>
                <a:latin typeface="Noto Sans CJK SC"/>
              </a:rPr>
              <a:t>已实现：绑定闭环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787384" y="4553712"/>
            <a:ext cx="2542032" cy="859536"/>
          </a:xfrm>
          <a:prstGeom prst="rect">
            <a:avLst/>
          </a:prstGeom>
          <a:noFill/>
        </p:spPr>
        <p:txBody>
          <a:bodyPr wrap="square" lIns="63500" rIns="63500" tIns="38100" bIns="38100" anchor="ctr">
            <a:spAutoFit/>
          </a:bodyPr>
          <a:lstStyle/>
          <a:p>
            <a:pPr algn="l">
              <a:spcAft>
                <a:spcPts val="100"/>
              </a:spcAft>
            </a:pPr>
            <a:r>
              <a:rPr sz="860">
                <a:solidFill>
                  <a:srgbClr val="222222"/>
                </a:solidFill>
                <a:latin typeface="Noto Sans CJK SC"/>
              </a:rPr>
              <a:t>管理员可修复绑定关系，用户可自助绑定。</a:t>
            </a:r>
          </a:p>
          <a:p>
            <a:pPr algn="l">
              <a:spcAft>
                <a:spcPts val="100"/>
              </a:spcAft>
            </a:pPr>
            <a:r>
              <a:rPr sz="860">
                <a:solidFill>
                  <a:srgbClr val="222222"/>
                </a:solidFill>
                <a:latin typeface="Noto Sans CJK SC"/>
              </a:rPr>
              <a:t>账号、人员、部门关系可追踪。</a:t>
            </a:r>
          </a:p>
          <a:p>
            <a:pPr algn="l">
              <a:spcAft>
                <a:spcPts val="100"/>
              </a:spcAft>
            </a:pPr>
            <a:r>
              <a:rPr sz="860">
                <a:solidFill>
                  <a:srgbClr val="222222"/>
                </a:solidFill>
                <a:latin typeface="Noto Sans CJK SC"/>
              </a:rPr>
              <a:t>用户状态与人员信息保持一致。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154680" y="6236208"/>
            <a:ext cx="1097280" cy="201168"/>
          </a:xfrm>
          <a:prstGeom prst="rect">
            <a:avLst/>
          </a:prstGeom>
          <a:noFill/>
        </p:spPr>
        <p:txBody>
          <a:bodyPr wrap="none" lIns="25400" rIns="25400" tIns="12700" bIns="12700" anchor="ctr">
            <a:spAutoFit/>
          </a:bodyPr>
          <a:lstStyle/>
          <a:p>
            <a:pPr algn="r"/>
            <a:r>
              <a:rPr sz="1000" b="0">
                <a:solidFill>
                  <a:srgbClr val="0055AA"/>
                </a:solidFill>
                <a:latin typeface="Noto Sans CJK SC"/>
              </a:rPr>
              <a:t>创新成就卓越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370832" y="6236208"/>
            <a:ext cx="2743200" cy="201168"/>
          </a:xfrm>
          <a:prstGeom prst="rect">
            <a:avLst/>
          </a:prstGeom>
          <a:noFill/>
        </p:spPr>
        <p:txBody>
          <a:bodyPr wrap="none" lIns="25400" rIns="25400" tIns="12700" bIns="12700" anchor="ctr">
            <a:spAutoFit/>
          </a:bodyPr>
          <a:lstStyle/>
          <a:p>
            <a:pPr algn="l"/>
            <a:r>
              <a:rPr sz="1000" b="0">
                <a:solidFill>
                  <a:srgbClr val="666666"/>
                </a:solidFill>
                <a:latin typeface="Noto Sans CJK SC"/>
              </a:rPr>
              <a:t>INNOVATION CREATES EXCELLENCE</a:t>
            </a:r>
          </a:p>
        </p:txBody>
      </p:sp>
      <p:sp>
        <p:nvSpPr>
          <p:cNvPr id="40" name="Rectangle 39"/>
          <p:cNvSpPr/>
          <p:nvPr/>
        </p:nvSpPr>
        <p:spPr>
          <a:xfrm>
            <a:off x="9555480" y="6629400"/>
            <a:ext cx="2651760" cy="36576"/>
          </a:xfrm>
          <a:prstGeom prst="rect">
            <a:avLst/>
          </a:prstGeom>
          <a:solidFill>
            <a:srgbClr val="B6C0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0" y="6702552"/>
            <a:ext cx="12191999" cy="36576"/>
          </a:xfrm>
          <a:prstGeom prst="rect">
            <a:avLst/>
          </a:prstGeom>
          <a:solidFill>
            <a:srgbClr val="EEEF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457200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94944" y="73152"/>
            <a:ext cx="502920" cy="274320"/>
          </a:xfrm>
          <a:prstGeom prst="rect">
            <a:avLst/>
          </a:prstGeom>
          <a:noFill/>
        </p:spPr>
        <p:txBody>
          <a:bodyPr wrap="none" lIns="25400" rIns="25400" tIns="12700" bIns="12700" anchor="ctr">
            <a:spAutoFit/>
          </a:bodyPr>
          <a:lstStyle/>
          <a:p>
            <a:pPr algn="l"/>
            <a:r>
              <a:rPr sz="1700" b="1">
                <a:solidFill>
                  <a:srgbClr val="0055AA"/>
                </a:solidFill>
                <a:latin typeface="Noto Sans CJK SC"/>
              </a:rP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" y="36576"/>
            <a:ext cx="5669280" cy="365760"/>
          </a:xfrm>
          <a:prstGeom prst="rect">
            <a:avLst/>
          </a:prstGeom>
          <a:noFill/>
        </p:spPr>
        <p:txBody>
          <a:bodyPr wrap="none" lIns="25400" rIns="25400" tIns="12700" bIns="12700" anchor="ctr">
            <a:spAutoFit/>
          </a:bodyPr>
          <a:lstStyle/>
          <a:p>
            <a:pPr algn="l"/>
            <a:r>
              <a:rPr sz="2200" b="1">
                <a:solidFill>
                  <a:srgbClr val="0055AA"/>
                </a:solidFill>
                <a:latin typeface="Noto Sans CJK SC"/>
              </a:rPr>
              <a:t>核心实现</a:t>
            </a:r>
          </a:p>
        </p:txBody>
      </p:sp>
      <p:pic>
        <p:nvPicPr>
          <p:cNvPr id="5" name="Picture 4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0"/>
            <a:ext cx="2240280" cy="457200"/>
          </a:xfrm>
          <a:prstGeom prst="rect">
            <a:avLst/>
          </a:prstGeom>
        </p:spPr>
      </p:pic>
      <p:pic>
        <p:nvPicPr>
          <p:cNvPr id="6" name="Picture 5" descr="logo_full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04704" y="91440"/>
            <a:ext cx="1298448" cy="25603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58368" y="658368"/>
            <a:ext cx="6949440" cy="438912"/>
          </a:xfrm>
          <a:prstGeom prst="rect">
            <a:avLst/>
          </a:prstGeom>
          <a:noFill/>
        </p:spPr>
        <p:txBody>
          <a:bodyPr wrap="none" lIns="38100" rIns="38100" tIns="12700" bIns="12700" anchor="ctr">
            <a:spAutoFit/>
          </a:bodyPr>
          <a:lstStyle/>
          <a:p>
            <a:pPr algn="l"/>
            <a:r>
              <a:rPr sz="2400" b="1">
                <a:solidFill>
                  <a:srgbClr val="0055AA"/>
                </a:solidFill>
                <a:latin typeface="Noto Sans CJK SC"/>
              </a:rPr>
              <a:t>实现登录鉴权与用户状态链路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1078992"/>
            <a:ext cx="6949440" cy="256032"/>
          </a:xfrm>
          <a:prstGeom prst="rect">
            <a:avLst/>
          </a:prstGeom>
          <a:noFill/>
        </p:spPr>
        <p:txBody>
          <a:bodyPr wrap="none" lIns="38100" rIns="38100" tIns="12700" bIns="12700" anchor="ctr">
            <a:spAutoFit/>
          </a:bodyPr>
          <a:lstStyle/>
          <a:p>
            <a:pPr algn="l"/>
            <a:r>
              <a:rPr sz="1150" b="0">
                <a:solidFill>
                  <a:srgbClr val="1E2A3A"/>
                </a:solidFill>
                <a:latin typeface="Noto Sans CJK SC"/>
              </a:rPr>
              <a:t>登录、鉴权、安全问题和用户状态校验统一进入 public-service。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1353312"/>
            <a:ext cx="7818120" cy="4462272"/>
          </a:xfrm>
          <a:prstGeom prst="rect">
            <a:avLst/>
          </a:prstGeom>
          <a:solidFill>
            <a:srgbClr val="F9FBFE"/>
          </a:solidFill>
          <a:ln w="10160">
            <a:solidFill>
              <a:srgbClr val="D7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68680" y="1572768"/>
            <a:ext cx="7360920" cy="3931920"/>
          </a:xfrm>
          <a:prstGeom prst="rect">
            <a:avLst/>
          </a:prstGeom>
          <a:solidFill>
            <a:srgbClr val="FFFFFF"/>
          </a:solidFill>
          <a:ln w="10160">
            <a:solidFill>
              <a:srgbClr val="D7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124712" y="1773936"/>
            <a:ext cx="1097280" cy="38404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055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79576" y="1847088"/>
            <a:ext cx="987552" cy="201168"/>
          </a:xfrm>
          <a:prstGeom prst="rect">
            <a:avLst/>
          </a:prstGeom>
          <a:noFill/>
        </p:spPr>
        <p:txBody>
          <a:bodyPr wrap="none" lIns="38100" rIns="38100" tIns="12700" bIns="12700" anchor="ctr">
            <a:spAutoFit/>
          </a:bodyPr>
          <a:lstStyle/>
          <a:p>
            <a:pPr algn="ctr"/>
            <a:r>
              <a:rPr sz="880" b="1">
                <a:solidFill>
                  <a:srgbClr val="00459A"/>
                </a:solidFill>
                <a:latin typeface="Noto Sans CJK SC"/>
              </a:rPr>
              <a:t>前端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1673352" y="2176272"/>
            <a:ext cx="0" cy="3054096"/>
          </a:xfrm>
          <a:prstGeom prst="line">
            <a:avLst/>
          </a:prstGeom>
          <a:ln w="8890">
            <a:solidFill>
              <a:srgbClr val="D7DE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2562606" y="1773936"/>
            <a:ext cx="1097280" cy="38404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055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617470" y="1847088"/>
            <a:ext cx="987552" cy="201168"/>
          </a:xfrm>
          <a:prstGeom prst="rect">
            <a:avLst/>
          </a:prstGeom>
          <a:noFill/>
        </p:spPr>
        <p:txBody>
          <a:bodyPr wrap="none" lIns="38100" rIns="38100" tIns="12700" bIns="12700" anchor="ctr">
            <a:spAutoFit/>
          </a:bodyPr>
          <a:lstStyle/>
          <a:p>
            <a:pPr algn="ctr"/>
            <a:r>
              <a:rPr sz="880" b="1">
                <a:solidFill>
                  <a:srgbClr val="00459A"/>
                </a:solidFill>
                <a:latin typeface="Aptos"/>
              </a:rPr>
              <a:t>gateway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3111246" y="2176272"/>
            <a:ext cx="0" cy="3054096"/>
          </a:xfrm>
          <a:prstGeom prst="line">
            <a:avLst/>
          </a:prstGeom>
          <a:ln w="8890">
            <a:solidFill>
              <a:srgbClr val="D7DE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4000500" y="1773936"/>
            <a:ext cx="1097280" cy="38404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055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055363" y="1847088"/>
            <a:ext cx="987552" cy="201168"/>
          </a:xfrm>
          <a:prstGeom prst="rect">
            <a:avLst/>
          </a:prstGeom>
          <a:noFill/>
        </p:spPr>
        <p:txBody>
          <a:bodyPr wrap="none" lIns="38100" rIns="38100" tIns="12700" bIns="12700" anchor="ctr">
            <a:spAutoFit/>
          </a:bodyPr>
          <a:lstStyle/>
          <a:p>
            <a:pPr algn="ctr"/>
            <a:r>
              <a:rPr sz="880" b="1">
                <a:solidFill>
                  <a:srgbClr val="00459A"/>
                </a:solidFill>
                <a:latin typeface="Aptos"/>
              </a:rPr>
              <a:t>public-service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4549140" y="2176272"/>
            <a:ext cx="0" cy="3054096"/>
          </a:xfrm>
          <a:prstGeom prst="line">
            <a:avLst/>
          </a:prstGeom>
          <a:ln w="8890">
            <a:solidFill>
              <a:srgbClr val="D7DE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5438394" y="1773936"/>
            <a:ext cx="1097280" cy="38404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055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93257" y="1847088"/>
            <a:ext cx="987552" cy="201168"/>
          </a:xfrm>
          <a:prstGeom prst="rect">
            <a:avLst/>
          </a:prstGeom>
          <a:noFill/>
        </p:spPr>
        <p:txBody>
          <a:bodyPr wrap="none" lIns="38100" rIns="38100" tIns="12700" bIns="12700" anchor="ctr">
            <a:spAutoFit/>
          </a:bodyPr>
          <a:lstStyle/>
          <a:p>
            <a:pPr algn="ctr"/>
            <a:r>
              <a:rPr sz="880" b="1">
                <a:solidFill>
                  <a:srgbClr val="00459A"/>
                </a:solidFill>
                <a:latin typeface="Aptos"/>
              </a:rPr>
              <a:t>MySQL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5987033" y="2176272"/>
            <a:ext cx="0" cy="3054096"/>
          </a:xfrm>
          <a:prstGeom prst="line">
            <a:avLst/>
          </a:prstGeom>
          <a:ln w="8890">
            <a:solidFill>
              <a:srgbClr val="D7DE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6876288" y="1773936"/>
            <a:ext cx="1097280" cy="38404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055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931151" y="1847088"/>
            <a:ext cx="987552" cy="201168"/>
          </a:xfrm>
          <a:prstGeom prst="rect">
            <a:avLst/>
          </a:prstGeom>
          <a:noFill/>
        </p:spPr>
        <p:txBody>
          <a:bodyPr wrap="none" lIns="38100" rIns="38100" tIns="12700" bIns="12700" anchor="ctr">
            <a:spAutoFit/>
          </a:bodyPr>
          <a:lstStyle/>
          <a:p>
            <a:pPr algn="ctr"/>
            <a:r>
              <a:rPr sz="880" b="1">
                <a:solidFill>
                  <a:srgbClr val="00459A"/>
                </a:solidFill>
                <a:latin typeface="Noto Sans CJK SC"/>
              </a:rPr>
              <a:t>业务接口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7424927" y="2176272"/>
            <a:ext cx="0" cy="3054096"/>
          </a:xfrm>
          <a:prstGeom prst="line">
            <a:avLst/>
          </a:prstGeom>
          <a:ln w="8890">
            <a:solidFill>
              <a:srgbClr val="D7DE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1673352" y="2468880"/>
            <a:ext cx="1437894" cy="0"/>
          </a:xfrm>
          <a:prstGeom prst="line">
            <a:avLst/>
          </a:prstGeom>
          <a:ln w="11430">
            <a:solidFill>
              <a:srgbClr val="0055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1719072" y="2304288"/>
            <a:ext cx="1346454" cy="146304"/>
          </a:xfrm>
          <a:prstGeom prst="rect">
            <a:avLst/>
          </a:prstGeom>
          <a:noFill/>
        </p:spPr>
        <p:txBody>
          <a:bodyPr wrap="none" lIns="38100" rIns="38100" tIns="12700" bIns="12700" anchor="ctr">
            <a:spAutoFit/>
          </a:bodyPr>
          <a:lstStyle/>
          <a:p>
            <a:pPr algn="ctr"/>
            <a:r>
              <a:rPr sz="770" b="0">
                <a:solidFill>
                  <a:srgbClr val="1E2A3A"/>
                </a:solidFill>
                <a:latin typeface="Noto Sans CJK SC"/>
              </a:rPr>
              <a:t>提交账号密码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3111246" y="2907791"/>
            <a:ext cx="1437894" cy="0"/>
          </a:xfrm>
          <a:prstGeom prst="line">
            <a:avLst/>
          </a:prstGeom>
          <a:ln w="11430">
            <a:solidFill>
              <a:srgbClr val="4E82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3156966" y="2743199"/>
            <a:ext cx="1346453" cy="146304"/>
          </a:xfrm>
          <a:prstGeom prst="rect">
            <a:avLst/>
          </a:prstGeom>
          <a:noFill/>
        </p:spPr>
        <p:txBody>
          <a:bodyPr wrap="none" lIns="38100" rIns="38100" tIns="12700" bIns="12700" anchor="ctr">
            <a:spAutoFit/>
          </a:bodyPr>
          <a:lstStyle/>
          <a:p>
            <a:pPr algn="ctr"/>
            <a:r>
              <a:rPr sz="770" b="0">
                <a:solidFill>
                  <a:srgbClr val="1E2A3A"/>
                </a:solidFill>
                <a:latin typeface="Noto Sans CJK SC"/>
              </a:rPr>
              <a:t>代理 login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4549140" y="3346704"/>
            <a:ext cx="1437893" cy="0"/>
          </a:xfrm>
          <a:prstGeom prst="line">
            <a:avLst/>
          </a:prstGeom>
          <a:ln w="11430">
            <a:solidFill>
              <a:srgbClr val="30C0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4594859" y="3182112"/>
            <a:ext cx="1346453" cy="146304"/>
          </a:xfrm>
          <a:prstGeom prst="rect">
            <a:avLst/>
          </a:prstGeom>
          <a:noFill/>
        </p:spPr>
        <p:txBody>
          <a:bodyPr wrap="none" lIns="38100" rIns="38100" tIns="12700" bIns="12700" anchor="ctr">
            <a:spAutoFit/>
          </a:bodyPr>
          <a:lstStyle/>
          <a:p>
            <a:pPr algn="ctr"/>
            <a:r>
              <a:rPr sz="770" b="0">
                <a:solidFill>
                  <a:srgbClr val="1E2A3A"/>
                </a:solidFill>
                <a:latin typeface="Noto Sans CJK SC"/>
              </a:rPr>
              <a:t>校验用户状态</a:t>
            </a:r>
          </a:p>
        </p:txBody>
      </p:sp>
      <p:cxnSp>
        <p:nvCxnSpPr>
          <p:cNvPr id="32" name="Connector 31"/>
          <p:cNvCxnSpPr/>
          <p:nvPr/>
        </p:nvCxnSpPr>
        <p:spPr>
          <a:xfrm flipH="1">
            <a:off x="1673352" y="3785615"/>
            <a:ext cx="2875788" cy="0"/>
          </a:xfrm>
          <a:prstGeom prst="line">
            <a:avLst/>
          </a:prstGeom>
          <a:ln w="11430">
            <a:solidFill>
              <a:srgbClr val="55AA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1719072" y="3621023"/>
            <a:ext cx="2784347" cy="146304"/>
          </a:xfrm>
          <a:prstGeom prst="rect">
            <a:avLst/>
          </a:prstGeom>
          <a:noFill/>
        </p:spPr>
        <p:txBody>
          <a:bodyPr wrap="none" lIns="38100" rIns="38100" tIns="12700" bIns="12700" anchor="ctr">
            <a:spAutoFit/>
          </a:bodyPr>
          <a:lstStyle/>
          <a:p>
            <a:pPr algn="ctr"/>
            <a:r>
              <a:rPr sz="770" b="0">
                <a:solidFill>
                  <a:srgbClr val="1E2A3A"/>
                </a:solidFill>
                <a:latin typeface="Noto Sans CJK SC"/>
              </a:rPr>
              <a:t>返回 token / 用户信息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1673352" y="4224528"/>
            <a:ext cx="1437894" cy="0"/>
          </a:xfrm>
          <a:prstGeom prst="line">
            <a:avLst/>
          </a:prstGeom>
          <a:ln w="11430">
            <a:solidFill>
              <a:srgbClr val="4E82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1719072" y="4059936"/>
            <a:ext cx="1346454" cy="146304"/>
          </a:xfrm>
          <a:prstGeom prst="rect">
            <a:avLst/>
          </a:prstGeom>
          <a:noFill/>
        </p:spPr>
        <p:txBody>
          <a:bodyPr wrap="none" lIns="38100" rIns="38100" tIns="12700" bIns="12700" anchor="ctr">
            <a:spAutoFit/>
          </a:bodyPr>
          <a:lstStyle/>
          <a:p>
            <a:pPr algn="ctr"/>
            <a:r>
              <a:rPr sz="770" b="0">
                <a:solidFill>
                  <a:srgbClr val="1E2A3A"/>
                </a:solidFill>
                <a:latin typeface="Noto Sans CJK SC"/>
              </a:rPr>
              <a:t>携带 Authorization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3111246" y="4663440"/>
            <a:ext cx="4313681" cy="0"/>
          </a:xfrm>
          <a:prstGeom prst="line">
            <a:avLst/>
          </a:prstGeom>
          <a:ln w="11430">
            <a:solidFill>
              <a:srgbClr val="55AA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3156966" y="4498848"/>
            <a:ext cx="4222242" cy="146304"/>
          </a:xfrm>
          <a:prstGeom prst="rect">
            <a:avLst/>
          </a:prstGeom>
          <a:noFill/>
        </p:spPr>
        <p:txBody>
          <a:bodyPr wrap="none" lIns="38100" rIns="38100" tIns="12700" bIns="12700" anchor="ctr">
            <a:spAutoFit/>
          </a:bodyPr>
          <a:lstStyle/>
          <a:p>
            <a:pPr algn="ctr"/>
            <a:r>
              <a:rPr sz="770" b="0">
                <a:solidFill>
                  <a:srgbClr val="1E2A3A"/>
                </a:solidFill>
                <a:latin typeface="Noto Sans CJK SC"/>
              </a:rPr>
              <a:t>按身份访问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641080" y="1353312"/>
            <a:ext cx="2834640" cy="12984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055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769096" y="1426464"/>
            <a:ext cx="2578608" cy="219456"/>
          </a:xfrm>
          <a:prstGeom prst="rect">
            <a:avLst/>
          </a:prstGeom>
          <a:noFill/>
        </p:spPr>
        <p:txBody>
          <a:bodyPr wrap="none" lIns="38100" rIns="38100" tIns="12700" bIns="12700" anchor="ctr">
            <a:spAutoFit/>
          </a:bodyPr>
          <a:lstStyle/>
          <a:p>
            <a:pPr algn="ctr"/>
            <a:r>
              <a:rPr sz="1180" b="1">
                <a:solidFill>
                  <a:srgbClr val="0055AA"/>
                </a:solidFill>
                <a:latin typeface="Noto Sans CJK SC"/>
              </a:rPr>
              <a:t>已实现：认证入口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787384" y="1700784"/>
            <a:ext cx="2542032" cy="859536"/>
          </a:xfrm>
          <a:prstGeom prst="rect">
            <a:avLst/>
          </a:prstGeom>
          <a:noFill/>
        </p:spPr>
        <p:txBody>
          <a:bodyPr wrap="square" lIns="63500" rIns="63500" tIns="38100" bIns="38100" anchor="ctr">
            <a:spAutoFit/>
          </a:bodyPr>
          <a:lstStyle/>
          <a:p>
            <a:pPr algn="l">
              <a:spcAft>
                <a:spcPts val="100"/>
              </a:spcAft>
            </a:pPr>
            <a:r>
              <a:rPr sz="860">
                <a:solidFill>
                  <a:srgbClr val="222222"/>
                </a:solidFill>
                <a:latin typeface="Noto Sans CJK SC"/>
              </a:rPr>
              <a:t>登录请求经 gateway 代理到 public-service，</a:t>
            </a:r>
          </a:p>
          <a:p>
            <a:pPr algn="l">
              <a:spcAft>
                <a:spcPts val="100"/>
              </a:spcAft>
            </a:pPr>
            <a:r>
              <a:rPr sz="860">
                <a:solidFill>
                  <a:srgbClr val="222222"/>
                </a:solidFill>
                <a:latin typeface="Noto Sans CJK SC"/>
              </a:rPr>
              <a:t>前端获取统一 token 与用户信息。</a:t>
            </a:r>
          </a:p>
          <a:p>
            <a:pPr algn="l">
              <a:spcAft>
                <a:spcPts val="100"/>
              </a:spcAft>
            </a:pPr>
            <a:r>
              <a:rPr sz="860">
                <a:solidFill>
                  <a:srgbClr val="222222"/>
                </a:solidFill>
                <a:latin typeface="Noto Sans CJK SC"/>
              </a:rPr>
              <a:t>注册、安全问题、找回相关接口使用同一认证域。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8641080" y="2779776"/>
            <a:ext cx="2834640" cy="12984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55AA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769096" y="2852928"/>
            <a:ext cx="2578608" cy="219456"/>
          </a:xfrm>
          <a:prstGeom prst="rect">
            <a:avLst/>
          </a:prstGeom>
          <a:noFill/>
        </p:spPr>
        <p:txBody>
          <a:bodyPr wrap="none" lIns="38100" rIns="38100" tIns="12700" bIns="12700" anchor="ctr">
            <a:spAutoFit/>
          </a:bodyPr>
          <a:lstStyle/>
          <a:p>
            <a:pPr algn="ctr"/>
            <a:r>
              <a:rPr sz="1180" b="1">
                <a:solidFill>
                  <a:srgbClr val="55AA66"/>
                </a:solidFill>
                <a:latin typeface="Noto Sans CJK SC"/>
              </a:rPr>
              <a:t>已实现：状态校验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787384" y="3127248"/>
            <a:ext cx="2542032" cy="859536"/>
          </a:xfrm>
          <a:prstGeom prst="rect">
            <a:avLst/>
          </a:prstGeom>
          <a:noFill/>
        </p:spPr>
        <p:txBody>
          <a:bodyPr wrap="square" lIns="63500" rIns="63500" tIns="38100" bIns="38100" anchor="ctr">
            <a:spAutoFit/>
          </a:bodyPr>
          <a:lstStyle/>
          <a:p>
            <a:pPr algn="l">
              <a:spcAft>
                <a:spcPts val="100"/>
              </a:spcAft>
            </a:pPr>
            <a:r>
              <a:rPr sz="860">
                <a:solidFill>
                  <a:srgbClr val="222222"/>
                </a:solidFill>
                <a:latin typeface="Noto Sans CJK SC"/>
              </a:rPr>
              <a:t>认证阶段读取用户状态和绑定信息，</a:t>
            </a:r>
          </a:p>
          <a:p>
            <a:pPr algn="l">
              <a:spcAft>
                <a:spcPts val="100"/>
              </a:spcAft>
            </a:pPr>
            <a:r>
              <a:rPr sz="860">
                <a:solidFill>
                  <a:srgbClr val="222222"/>
                </a:solidFill>
                <a:latin typeface="Noto Sans CJK SC"/>
              </a:rPr>
              <a:t>停启用、角色等控制在入口生效。</a:t>
            </a:r>
          </a:p>
          <a:p>
            <a:pPr algn="l">
              <a:spcAft>
                <a:spcPts val="100"/>
              </a:spcAft>
            </a:pPr>
            <a:r>
              <a:rPr sz="860">
                <a:solidFill>
                  <a:srgbClr val="222222"/>
                </a:solidFill>
                <a:latin typeface="Noto Sans CJK SC"/>
              </a:rPr>
              <a:t>管理员侧调整后可影响后续访问。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8641080" y="4206240"/>
            <a:ext cx="2834640" cy="12984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4E82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769096" y="4279392"/>
            <a:ext cx="2578608" cy="219456"/>
          </a:xfrm>
          <a:prstGeom prst="rect">
            <a:avLst/>
          </a:prstGeom>
          <a:noFill/>
        </p:spPr>
        <p:txBody>
          <a:bodyPr wrap="none" lIns="38100" rIns="38100" tIns="12700" bIns="12700" anchor="ctr">
            <a:spAutoFit/>
          </a:bodyPr>
          <a:lstStyle/>
          <a:p>
            <a:pPr algn="ctr"/>
            <a:r>
              <a:rPr sz="1180" b="1">
                <a:solidFill>
                  <a:srgbClr val="4E82C7"/>
                </a:solidFill>
                <a:latin typeface="Noto Sans CJK SC"/>
              </a:rPr>
              <a:t>已实现：身份透传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787384" y="4553712"/>
            <a:ext cx="2542032" cy="859536"/>
          </a:xfrm>
          <a:prstGeom prst="rect">
            <a:avLst/>
          </a:prstGeom>
          <a:noFill/>
        </p:spPr>
        <p:txBody>
          <a:bodyPr wrap="square" lIns="63500" rIns="63500" tIns="38100" bIns="38100" anchor="ctr">
            <a:spAutoFit/>
          </a:bodyPr>
          <a:lstStyle/>
          <a:p>
            <a:pPr algn="l">
              <a:spcAft>
                <a:spcPts val="100"/>
              </a:spcAft>
            </a:pPr>
            <a:r>
              <a:rPr sz="860">
                <a:solidFill>
                  <a:srgbClr val="222222"/>
                </a:solidFill>
                <a:latin typeface="Noto Sans CJK SC"/>
              </a:rPr>
              <a:t>后续接口携带 Authorization，</a:t>
            </a:r>
          </a:p>
          <a:p>
            <a:pPr algn="l">
              <a:spcAft>
                <a:spcPts val="100"/>
              </a:spcAft>
            </a:pPr>
            <a:r>
              <a:rPr sz="860">
                <a:solidFill>
                  <a:srgbClr val="222222"/>
                </a:solidFill>
                <a:latin typeface="Noto Sans CJK SC"/>
              </a:rPr>
              <a:t>由 gateway 透传到对应业务服务。</a:t>
            </a:r>
          </a:p>
          <a:p>
            <a:pPr algn="l">
              <a:spcAft>
                <a:spcPts val="100"/>
              </a:spcAft>
            </a:pPr>
            <a:r>
              <a:rPr sz="860">
                <a:solidFill>
                  <a:srgbClr val="222222"/>
                </a:solidFill>
                <a:latin typeface="Noto Sans CJK SC"/>
              </a:rPr>
              <a:t>公共接口和 QA 接口保持同一身份上下文。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154680" y="6236208"/>
            <a:ext cx="1097280" cy="201168"/>
          </a:xfrm>
          <a:prstGeom prst="rect">
            <a:avLst/>
          </a:prstGeom>
          <a:noFill/>
        </p:spPr>
        <p:txBody>
          <a:bodyPr wrap="none" lIns="25400" rIns="25400" tIns="12700" bIns="12700" anchor="ctr">
            <a:spAutoFit/>
          </a:bodyPr>
          <a:lstStyle/>
          <a:p>
            <a:pPr algn="r"/>
            <a:r>
              <a:rPr sz="1000" b="0">
                <a:solidFill>
                  <a:srgbClr val="0055AA"/>
                </a:solidFill>
                <a:latin typeface="Noto Sans CJK SC"/>
              </a:rPr>
              <a:t>创新成就卓越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370832" y="6236208"/>
            <a:ext cx="2743200" cy="201168"/>
          </a:xfrm>
          <a:prstGeom prst="rect">
            <a:avLst/>
          </a:prstGeom>
          <a:noFill/>
        </p:spPr>
        <p:txBody>
          <a:bodyPr wrap="none" lIns="25400" rIns="25400" tIns="12700" bIns="12700" anchor="ctr">
            <a:spAutoFit/>
          </a:bodyPr>
          <a:lstStyle/>
          <a:p>
            <a:pPr algn="l"/>
            <a:r>
              <a:rPr sz="1000" b="0">
                <a:solidFill>
                  <a:srgbClr val="666666"/>
                </a:solidFill>
                <a:latin typeface="Noto Sans CJK SC"/>
              </a:rPr>
              <a:t>INNOVATION CREATES EXCELLENCE</a:t>
            </a:r>
          </a:p>
        </p:txBody>
      </p:sp>
      <p:sp>
        <p:nvSpPr>
          <p:cNvPr id="49" name="Rectangle 48"/>
          <p:cNvSpPr/>
          <p:nvPr/>
        </p:nvSpPr>
        <p:spPr>
          <a:xfrm>
            <a:off x="9555480" y="6629400"/>
            <a:ext cx="2651760" cy="36576"/>
          </a:xfrm>
          <a:prstGeom prst="rect">
            <a:avLst/>
          </a:prstGeom>
          <a:solidFill>
            <a:srgbClr val="B6C0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0" y="6702552"/>
            <a:ext cx="12191999" cy="36576"/>
          </a:xfrm>
          <a:prstGeom prst="rect">
            <a:avLst/>
          </a:prstGeom>
          <a:solidFill>
            <a:srgbClr val="EEEF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457200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94944" y="73152"/>
            <a:ext cx="502920" cy="274320"/>
          </a:xfrm>
          <a:prstGeom prst="rect">
            <a:avLst/>
          </a:prstGeom>
          <a:noFill/>
        </p:spPr>
        <p:txBody>
          <a:bodyPr wrap="none" lIns="25400" rIns="25400" tIns="12700" bIns="12700" anchor="ctr">
            <a:spAutoFit/>
          </a:bodyPr>
          <a:lstStyle/>
          <a:p>
            <a:pPr algn="l"/>
            <a:r>
              <a:rPr sz="1700" b="1">
                <a:solidFill>
                  <a:srgbClr val="0055AA"/>
                </a:solidFill>
                <a:latin typeface="Noto Sans CJK SC"/>
              </a:rP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" y="36576"/>
            <a:ext cx="5669280" cy="365760"/>
          </a:xfrm>
          <a:prstGeom prst="rect">
            <a:avLst/>
          </a:prstGeom>
          <a:noFill/>
        </p:spPr>
        <p:txBody>
          <a:bodyPr wrap="none" lIns="25400" rIns="25400" tIns="12700" bIns="12700" anchor="ctr">
            <a:spAutoFit/>
          </a:bodyPr>
          <a:lstStyle/>
          <a:p>
            <a:pPr algn="l"/>
            <a:r>
              <a:rPr sz="2200" b="1">
                <a:solidFill>
                  <a:srgbClr val="0055AA"/>
                </a:solidFill>
                <a:latin typeface="Noto Sans CJK SC"/>
              </a:rPr>
              <a:t>核心实现</a:t>
            </a:r>
          </a:p>
        </p:txBody>
      </p:sp>
      <p:pic>
        <p:nvPicPr>
          <p:cNvPr id="5" name="Picture 4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0"/>
            <a:ext cx="2240280" cy="457200"/>
          </a:xfrm>
          <a:prstGeom prst="rect">
            <a:avLst/>
          </a:prstGeom>
        </p:spPr>
      </p:pic>
      <p:pic>
        <p:nvPicPr>
          <p:cNvPr id="6" name="Picture 5" descr="logo_full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04704" y="91440"/>
            <a:ext cx="1298448" cy="25603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58368" y="658368"/>
            <a:ext cx="6949440" cy="438912"/>
          </a:xfrm>
          <a:prstGeom prst="rect">
            <a:avLst/>
          </a:prstGeom>
          <a:noFill/>
        </p:spPr>
        <p:txBody>
          <a:bodyPr wrap="none" lIns="38100" rIns="38100" tIns="12700" bIns="12700" anchor="ctr">
            <a:spAutoFit/>
          </a:bodyPr>
          <a:lstStyle/>
          <a:p>
            <a:pPr algn="l"/>
            <a:r>
              <a:rPr sz="2400" b="1">
                <a:solidFill>
                  <a:srgbClr val="0055AA"/>
                </a:solidFill>
                <a:latin typeface="Noto Sans CJK SC"/>
              </a:rPr>
              <a:t>实现可恢复的问答任务执行链路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1078992"/>
            <a:ext cx="6949440" cy="256032"/>
          </a:xfrm>
          <a:prstGeom prst="rect">
            <a:avLst/>
          </a:prstGeom>
          <a:noFill/>
        </p:spPr>
        <p:txBody>
          <a:bodyPr wrap="none" lIns="38100" rIns="38100" tIns="12700" bIns="12700" anchor="ctr">
            <a:spAutoFit/>
          </a:bodyPr>
          <a:lstStyle/>
          <a:p>
            <a:pPr algn="l"/>
            <a:r>
              <a:rPr sz="1150" b="0">
                <a:solidFill>
                  <a:srgbClr val="1E2A3A"/>
                </a:solidFill>
                <a:latin typeface="Noto Sans CJK SC"/>
              </a:rPr>
              <a:t>创建、流式返回和刷新恢复统一围绕 task_id 推进。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1353312"/>
            <a:ext cx="7818120" cy="4462272"/>
          </a:xfrm>
          <a:prstGeom prst="rect">
            <a:avLst/>
          </a:prstGeom>
          <a:solidFill>
            <a:srgbClr val="F9FBFE"/>
          </a:solidFill>
          <a:ln w="10160">
            <a:solidFill>
              <a:srgbClr val="D7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04672" y="1499616"/>
            <a:ext cx="7498079" cy="3913632"/>
          </a:xfrm>
          <a:prstGeom prst="rect">
            <a:avLst/>
          </a:prstGeom>
          <a:solidFill>
            <a:srgbClr val="FFFFFF"/>
          </a:solidFill>
          <a:ln w="10160">
            <a:solidFill>
              <a:srgbClr val="D7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060704" y="1700784"/>
            <a:ext cx="1024128" cy="38404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055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15568" y="1773936"/>
            <a:ext cx="914400" cy="201168"/>
          </a:xfrm>
          <a:prstGeom prst="rect">
            <a:avLst/>
          </a:prstGeom>
          <a:noFill/>
        </p:spPr>
        <p:txBody>
          <a:bodyPr wrap="none" lIns="38100" rIns="38100" tIns="12700" bIns="12700" anchor="ctr">
            <a:spAutoFit/>
          </a:bodyPr>
          <a:lstStyle/>
          <a:p>
            <a:pPr algn="ctr"/>
            <a:r>
              <a:rPr sz="880" b="1">
                <a:solidFill>
                  <a:srgbClr val="00459A"/>
                </a:solidFill>
                <a:latin typeface="Noto Sans CJK SC"/>
              </a:rPr>
              <a:t>前端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1572768" y="2103120"/>
            <a:ext cx="0" cy="3035808"/>
          </a:xfrm>
          <a:prstGeom prst="line">
            <a:avLst/>
          </a:prstGeom>
          <a:ln w="8890">
            <a:solidFill>
              <a:srgbClr val="D7DE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2253081" y="1700784"/>
            <a:ext cx="1024128" cy="38404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055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307945" y="1773936"/>
            <a:ext cx="914400" cy="201168"/>
          </a:xfrm>
          <a:prstGeom prst="rect">
            <a:avLst/>
          </a:prstGeom>
          <a:noFill/>
        </p:spPr>
        <p:txBody>
          <a:bodyPr wrap="none" lIns="38100" rIns="38100" tIns="12700" bIns="12700" anchor="ctr">
            <a:spAutoFit/>
          </a:bodyPr>
          <a:lstStyle/>
          <a:p>
            <a:pPr algn="ctr"/>
            <a:r>
              <a:rPr sz="880" b="1">
                <a:solidFill>
                  <a:srgbClr val="00459A"/>
                </a:solidFill>
                <a:latin typeface="Aptos"/>
              </a:rPr>
              <a:t>gateway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2765145" y="2103120"/>
            <a:ext cx="0" cy="3035808"/>
          </a:xfrm>
          <a:prstGeom prst="line">
            <a:avLst/>
          </a:prstGeom>
          <a:ln w="8890">
            <a:solidFill>
              <a:srgbClr val="D7DE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3445459" y="1700784"/>
            <a:ext cx="1024128" cy="38404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055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500323" y="1773936"/>
            <a:ext cx="914400" cy="201168"/>
          </a:xfrm>
          <a:prstGeom prst="rect">
            <a:avLst/>
          </a:prstGeom>
          <a:noFill/>
        </p:spPr>
        <p:txBody>
          <a:bodyPr wrap="none" lIns="38100" rIns="38100" tIns="12700" bIns="12700" anchor="ctr">
            <a:spAutoFit/>
          </a:bodyPr>
          <a:lstStyle/>
          <a:p>
            <a:pPr algn="ctr"/>
            <a:r>
              <a:rPr sz="880" b="1">
                <a:solidFill>
                  <a:srgbClr val="00459A"/>
                </a:solidFill>
                <a:latin typeface="Aptos"/>
              </a:rPr>
              <a:t>Redis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3957523" y="2103120"/>
            <a:ext cx="0" cy="3035808"/>
          </a:xfrm>
          <a:prstGeom prst="line">
            <a:avLst/>
          </a:prstGeom>
          <a:ln w="8890">
            <a:solidFill>
              <a:srgbClr val="D7DE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4637836" y="1700784"/>
            <a:ext cx="1024128" cy="38404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055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692700" y="1773936"/>
            <a:ext cx="914400" cy="201168"/>
          </a:xfrm>
          <a:prstGeom prst="rect">
            <a:avLst/>
          </a:prstGeom>
          <a:noFill/>
        </p:spPr>
        <p:txBody>
          <a:bodyPr wrap="none" lIns="38100" rIns="38100" tIns="12700" bIns="12700" anchor="ctr">
            <a:spAutoFit/>
          </a:bodyPr>
          <a:lstStyle/>
          <a:p>
            <a:pPr algn="ctr"/>
            <a:r>
              <a:rPr sz="880" b="1">
                <a:solidFill>
                  <a:srgbClr val="00459A"/>
                </a:solidFill>
                <a:latin typeface="Aptos"/>
              </a:rPr>
              <a:t>public-service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5149900" y="2103120"/>
            <a:ext cx="0" cy="3035808"/>
          </a:xfrm>
          <a:prstGeom prst="line">
            <a:avLst/>
          </a:prstGeom>
          <a:ln w="8890">
            <a:solidFill>
              <a:srgbClr val="D7DE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5830214" y="1700784"/>
            <a:ext cx="1024128" cy="38404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055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885078" y="1773936"/>
            <a:ext cx="914400" cy="201168"/>
          </a:xfrm>
          <a:prstGeom prst="rect">
            <a:avLst/>
          </a:prstGeom>
          <a:noFill/>
        </p:spPr>
        <p:txBody>
          <a:bodyPr wrap="none" lIns="38100" rIns="38100" tIns="12700" bIns="12700" anchor="ctr">
            <a:spAutoFit/>
          </a:bodyPr>
          <a:lstStyle/>
          <a:p>
            <a:pPr algn="ctr"/>
            <a:r>
              <a:rPr sz="880" b="1">
                <a:solidFill>
                  <a:srgbClr val="00459A"/>
                </a:solidFill>
                <a:latin typeface="Noto Sans CJK SC"/>
              </a:rPr>
              <a:t>QA 服务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6342278" y="2103120"/>
            <a:ext cx="0" cy="3035808"/>
          </a:xfrm>
          <a:prstGeom prst="line">
            <a:avLst/>
          </a:prstGeom>
          <a:ln w="8890">
            <a:solidFill>
              <a:srgbClr val="D7DE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7022591" y="1700784"/>
            <a:ext cx="1024128" cy="38404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055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077455" y="1773936"/>
            <a:ext cx="914400" cy="201168"/>
          </a:xfrm>
          <a:prstGeom prst="rect">
            <a:avLst/>
          </a:prstGeom>
          <a:noFill/>
        </p:spPr>
        <p:txBody>
          <a:bodyPr wrap="none" lIns="38100" rIns="38100" tIns="12700" bIns="12700" anchor="ctr">
            <a:spAutoFit/>
          </a:bodyPr>
          <a:lstStyle/>
          <a:p>
            <a:pPr algn="ctr"/>
            <a:r>
              <a:rPr sz="880" b="1">
                <a:solidFill>
                  <a:srgbClr val="00459A"/>
                </a:solidFill>
                <a:latin typeface="Aptos"/>
              </a:rPr>
              <a:t>SSE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7534655" y="2103120"/>
            <a:ext cx="0" cy="3035808"/>
          </a:xfrm>
          <a:prstGeom prst="line">
            <a:avLst/>
          </a:prstGeom>
          <a:ln w="8890">
            <a:solidFill>
              <a:srgbClr val="D7DE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1572768" y="2286000"/>
            <a:ext cx="1192377" cy="0"/>
          </a:xfrm>
          <a:prstGeom prst="line">
            <a:avLst/>
          </a:prstGeom>
          <a:ln w="11430">
            <a:solidFill>
              <a:srgbClr val="0055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1618488" y="2121408"/>
            <a:ext cx="1100937" cy="146304"/>
          </a:xfrm>
          <a:prstGeom prst="rect">
            <a:avLst/>
          </a:prstGeom>
          <a:noFill/>
        </p:spPr>
        <p:txBody>
          <a:bodyPr wrap="none" lIns="38100" rIns="38100" tIns="12700" bIns="12700" anchor="ctr">
            <a:spAutoFit/>
          </a:bodyPr>
          <a:lstStyle/>
          <a:p>
            <a:pPr algn="ctr"/>
            <a:r>
              <a:rPr sz="770" b="0">
                <a:solidFill>
                  <a:srgbClr val="1E2A3A"/>
                </a:solidFill>
                <a:latin typeface="Noto Sans CJK SC"/>
              </a:rPr>
              <a:t>创建任务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2765145" y="2615184"/>
            <a:ext cx="2384755" cy="0"/>
          </a:xfrm>
          <a:prstGeom prst="line">
            <a:avLst/>
          </a:prstGeom>
          <a:ln w="11430">
            <a:solidFill>
              <a:srgbClr val="4E82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2810865" y="2450591"/>
            <a:ext cx="2293315" cy="146304"/>
          </a:xfrm>
          <a:prstGeom prst="rect">
            <a:avLst/>
          </a:prstGeom>
          <a:noFill/>
        </p:spPr>
        <p:txBody>
          <a:bodyPr wrap="none" lIns="38100" rIns="38100" tIns="12700" bIns="12700" anchor="ctr">
            <a:spAutoFit/>
          </a:bodyPr>
          <a:lstStyle/>
          <a:p>
            <a:pPr algn="ctr"/>
            <a:r>
              <a:rPr sz="770" b="0">
                <a:solidFill>
                  <a:srgbClr val="1E2A3A"/>
                </a:solidFill>
                <a:latin typeface="Noto Sans CJK SC"/>
              </a:rPr>
              <a:t>写 user turn / placeholder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2765145" y="2944368"/>
            <a:ext cx="1192378" cy="0"/>
          </a:xfrm>
          <a:prstGeom prst="line">
            <a:avLst/>
          </a:prstGeom>
          <a:ln w="11430">
            <a:solidFill>
              <a:srgbClr val="30C0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2810865" y="2779775"/>
            <a:ext cx="1100937" cy="146304"/>
          </a:xfrm>
          <a:prstGeom prst="rect">
            <a:avLst/>
          </a:prstGeom>
          <a:noFill/>
        </p:spPr>
        <p:txBody>
          <a:bodyPr wrap="none" lIns="38100" rIns="38100" tIns="12700" bIns="12700" anchor="ctr">
            <a:spAutoFit/>
          </a:bodyPr>
          <a:lstStyle/>
          <a:p>
            <a:pPr algn="ctr"/>
            <a:r>
              <a:rPr sz="770" b="0">
                <a:solidFill>
                  <a:srgbClr val="1E2A3A"/>
                </a:solidFill>
                <a:latin typeface="Noto Sans CJK SC"/>
              </a:rPr>
              <a:t>登记 task_id / queued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2765145" y="3273552"/>
            <a:ext cx="3577133" cy="0"/>
          </a:xfrm>
          <a:prstGeom prst="line">
            <a:avLst/>
          </a:prstGeom>
          <a:ln w="11430">
            <a:solidFill>
              <a:srgbClr val="EE82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2810865" y="3108960"/>
            <a:ext cx="3485692" cy="146304"/>
          </a:xfrm>
          <a:prstGeom prst="rect">
            <a:avLst/>
          </a:prstGeom>
          <a:noFill/>
        </p:spPr>
        <p:txBody>
          <a:bodyPr wrap="none" lIns="38100" rIns="38100" tIns="12700" bIns="12700" anchor="ctr">
            <a:spAutoFit/>
          </a:bodyPr>
          <a:lstStyle/>
          <a:p>
            <a:pPr algn="ctr"/>
            <a:r>
              <a:rPr sz="770" b="0">
                <a:solidFill>
                  <a:srgbClr val="1E2A3A"/>
                </a:solidFill>
                <a:latin typeface="Noto Sans CJK SC"/>
              </a:rPr>
              <a:t>按 mode 执行</a:t>
            </a:r>
          </a:p>
        </p:txBody>
      </p:sp>
      <p:cxnSp>
        <p:nvCxnSpPr>
          <p:cNvPr id="37" name="Connector 36"/>
          <p:cNvCxnSpPr/>
          <p:nvPr/>
        </p:nvCxnSpPr>
        <p:spPr>
          <a:xfrm flipH="1">
            <a:off x="2765145" y="3602735"/>
            <a:ext cx="3577133" cy="0"/>
          </a:xfrm>
          <a:prstGeom prst="line">
            <a:avLst/>
          </a:prstGeom>
          <a:ln w="11430">
            <a:solidFill>
              <a:srgbClr val="EE82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2810865" y="3438143"/>
            <a:ext cx="3485692" cy="146304"/>
          </a:xfrm>
          <a:prstGeom prst="rect">
            <a:avLst/>
          </a:prstGeom>
          <a:noFill/>
        </p:spPr>
        <p:txBody>
          <a:bodyPr wrap="none" lIns="38100" rIns="38100" tIns="12700" bIns="12700" anchor="ctr">
            <a:spAutoFit/>
          </a:bodyPr>
          <a:lstStyle/>
          <a:p>
            <a:pPr algn="ctr"/>
            <a:r>
              <a:rPr sz="770" b="0">
                <a:solidFill>
                  <a:srgbClr val="1E2A3A"/>
                </a:solidFill>
                <a:latin typeface="Noto Sans CJK SC"/>
              </a:rPr>
              <a:t>流式内容与步骤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2765145" y="3931920"/>
            <a:ext cx="1192378" cy="0"/>
          </a:xfrm>
          <a:prstGeom prst="line">
            <a:avLst/>
          </a:prstGeom>
          <a:ln w="11430">
            <a:solidFill>
              <a:srgbClr val="30C0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TextBox 39"/>
          <p:cNvSpPr txBox="1"/>
          <p:nvPr/>
        </p:nvSpPr>
        <p:spPr>
          <a:xfrm>
            <a:off x="2810865" y="3767328"/>
            <a:ext cx="1100937" cy="146304"/>
          </a:xfrm>
          <a:prstGeom prst="rect">
            <a:avLst/>
          </a:prstGeom>
          <a:noFill/>
        </p:spPr>
        <p:txBody>
          <a:bodyPr wrap="none" lIns="38100" rIns="38100" tIns="12700" bIns="12700" anchor="ctr">
            <a:spAutoFit/>
          </a:bodyPr>
          <a:lstStyle/>
          <a:p>
            <a:pPr algn="ctr"/>
            <a:r>
              <a:rPr sz="770" b="0">
                <a:solidFill>
                  <a:srgbClr val="1E2A3A"/>
                </a:solidFill>
                <a:latin typeface="Noto Sans CJK SC"/>
              </a:rPr>
              <a:t>写 seq / running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2765145" y="4261104"/>
            <a:ext cx="4769510" cy="0"/>
          </a:xfrm>
          <a:prstGeom prst="line">
            <a:avLst/>
          </a:prstGeom>
          <a:ln w="11430">
            <a:solidFill>
              <a:srgbClr val="4E82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TextBox 41"/>
          <p:cNvSpPr txBox="1"/>
          <p:nvPr/>
        </p:nvSpPr>
        <p:spPr>
          <a:xfrm>
            <a:off x="2810865" y="4096512"/>
            <a:ext cx="4678070" cy="146304"/>
          </a:xfrm>
          <a:prstGeom prst="rect">
            <a:avLst/>
          </a:prstGeom>
          <a:noFill/>
        </p:spPr>
        <p:txBody>
          <a:bodyPr wrap="none" lIns="38100" rIns="38100" tIns="12700" bIns="12700" anchor="ctr">
            <a:spAutoFit/>
          </a:bodyPr>
          <a:lstStyle/>
          <a:p>
            <a:pPr algn="ctr"/>
            <a:r>
              <a:rPr sz="770" b="0">
                <a:solidFill>
                  <a:srgbClr val="1E2A3A"/>
                </a:solidFill>
                <a:latin typeface="Noto Sans CJK SC"/>
              </a:rPr>
              <a:t>标准化事件</a:t>
            </a:r>
          </a:p>
        </p:txBody>
      </p:sp>
      <p:cxnSp>
        <p:nvCxnSpPr>
          <p:cNvPr id="43" name="Connector 42"/>
          <p:cNvCxnSpPr/>
          <p:nvPr/>
        </p:nvCxnSpPr>
        <p:spPr>
          <a:xfrm>
            <a:off x="1572768" y="4590288"/>
            <a:ext cx="1192377" cy="0"/>
          </a:xfrm>
          <a:prstGeom prst="line">
            <a:avLst/>
          </a:prstGeom>
          <a:ln w="11430">
            <a:solidFill>
              <a:srgbClr val="55AA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TextBox 43"/>
          <p:cNvSpPr txBox="1"/>
          <p:nvPr/>
        </p:nvSpPr>
        <p:spPr>
          <a:xfrm>
            <a:off x="1618488" y="4425696"/>
            <a:ext cx="1100937" cy="146304"/>
          </a:xfrm>
          <a:prstGeom prst="rect">
            <a:avLst/>
          </a:prstGeom>
          <a:noFill/>
        </p:spPr>
        <p:txBody>
          <a:bodyPr wrap="none" lIns="38100" rIns="38100" tIns="12700" bIns="12700" anchor="ctr">
            <a:spAutoFit/>
          </a:bodyPr>
          <a:lstStyle/>
          <a:p>
            <a:pPr algn="ctr"/>
            <a:r>
              <a:rPr sz="770" b="0">
                <a:solidFill>
                  <a:srgbClr val="1E2A3A"/>
                </a:solidFill>
                <a:latin typeface="Noto Sans CJK SC"/>
              </a:rPr>
              <a:t>刷新后查询 active_task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960120" y="5248656"/>
            <a:ext cx="2240280" cy="310896"/>
          </a:xfrm>
          <a:prstGeom prst="roundRect">
            <a:avLst/>
          </a:prstGeom>
          <a:solidFill>
            <a:srgbClr val="E9F3FF"/>
          </a:solidFill>
          <a:ln w="10160">
            <a:solidFill>
              <a:srgbClr val="D7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033272" y="5294376"/>
            <a:ext cx="2093976" cy="182880"/>
          </a:xfrm>
          <a:prstGeom prst="rect">
            <a:avLst/>
          </a:prstGeom>
          <a:noFill/>
        </p:spPr>
        <p:txBody>
          <a:bodyPr wrap="none" lIns="38100" rIns="38100" tIns="12700" bIns="12700" anchor="ctr">
            <a:spAutoFit/>
          </a:bodyPr>
          <a:lstStyle/>
          <a:p>
            <a:pPr algn="ctr"/>
            <a:r>
              <a:rPr sz="1019" b="1">
                <a:solidFill>
                  <a:srgbClr val="00459A"/>
                </a:solidFill>
                <a:latin typeface="Noto Sans CJK SC"/>
              </a:rPr>
              <a:t>创建 task_id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3401568" y="5248656"/>
            <a:ext cx="2240280" cy="310896"/>
          </a:xfrm>
          <a:prstGeom prst="roundRect">
            <a:avLst/>
          </a:prstGeom>
          <a:solidFill>
            <a:srgbClr val="FFF7EF"/>
          </a:solidFill>
          <a:ln w="10160">
            <a:solidFill>
              <a:srgbClr val="D7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474720" y="5294376"/>
            <a:ext cx="2093976" cy="182880"/>
          </a:xfrm>
          <a:prstGeom prst="rect">
            <a:avLst/>
          </a:prstGeom>
          <a:noFill/>
        </p:spPr>
        <p:txBody>
          <a:bodyPr wrap="none" lIns="38100" rIns="38100" tIns="12700" bIns="12700" anchor="ctr">
            <a:spAutoFit/>
          </a:bodyPr>
          <a:lstStyle/>
          <a:p>
            <a:pPr algn="ctr"/>
            <a:r>
              <a:rPr sz="1019" b="1">
                <a:solidFill>
                  <a:srgbClr val="00459A"/>
                </a:solidFill>
                <a:latin typeface="Noto Sans CJK SC"/>
              </a:rPr>
              <a:t>流式事件回放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5843016" y="5248656"/>
            <a:ext cx="2240280" cy="310896"/>
          </a:xfrm>
          <a:prstGeom prst="roundRect">
            <a:avLst/>
          </a:prstGeom>
          <a:solidFill>
            <a:srgbClr val="F4FBF7"/>
          </a:solidFill>
          <a:ln w="10160">
            <a:solidFill>
              <a:srgbClr val="D7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5916168" y="5294376"/>
            <a:ext cx="2093976" cy="182880"/>
          </a:xfrm>
          <a:prstGeom prst="rect">
            <a:avLst/>
          </a:prstGeom>
          <a:noFill/>
        </p:spPr>
        <p:txBody>
          <a:bodyPr wrap="none" lIns="38100" rIns="38100" tIns="12700" bIns="12700" anchor="ctr">
            <a:spAutoFit/>
          </a:bodyPr>
          <a:lstStyle/>
          <a:p>
            <a:pPr algn="ctr"/>
            <a:r>
              <a:rPr sz="1019" b="1">
                <a:solidFill>
                  <a:srgbClr val="00459A"/>
                </a:solidFill>
                <a:latin typeface="Noto Sans CJK SC"/>
              </a:rPr>
              <a:t>刷新重新附着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8641080" y="1353312"/>
            <a:ext cx="2834640" cy="12984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055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8769096" y="1426464"/>
            <a:ext cx="2578608" cy="219456"/>
          </a:xfrm>
          <a:prstGeom prst="rect">
            <a:avLst/>
          </a:prstGeom>
          <a:noFill/>
        </p:spPr>
        <p:txBody>
          <a:bodyPr wrap="none" lIns="38100" rIns="38100" tIns="12700" bIns="12700" anchor="ctr">
            <a:spAutoFit/>
          </a:bodyPr>
          <a:lstStyle/>
          <a:p>
            <a:pPr algn="ctr"/>
            <a:r>
              <a:rPr sz="1180" b="1">
                <a:solidFill>
                  <a:srgbClr val="0055AA"/>
                </a:solidFill>
                <a:latin typeface="Noto Sans CJK SC"/>
              </a:rPr>
              <a:t>已实现：任务标识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787384" y="1700784"/>
            <a:ext cx="2542032" cy="859536"/>
          </a:xfrm>
          <a:prstGeom prst="rect">
            <a:avLst/>
          </a:prstGeom>
          <a:noFill/>
        </p:spPr>
        <p:txBody>
          <a:bodyPr wrap="square" lIns="63500" rIns="63500" tIns="38100" bIns="38100" anchor="ctr">
            <a:spAutoFit/>
          </a:bodyPr>
          <a:lstStyle/>
          <a:p>
            <a:pPr algn="l">
              <a:spcAft>
                <a:spcPts val="100"/>
              </a:spcAft>
            </a:pPr>
            <a:r>
              <a:rPr sz="860">
                <a:solidFill>
                  <a:srgbClr val="222222"/>
                </a:solidFill>
                <a:latin typeface="Noto Sans CJK SC"/>
              </a:rPr>
              <a:t>创建任务时生成并登记 task_id，</a:t>
            </a:r>
          </a:p>
          <a:p>
            <a:pPr algn="l">
              <a:spcAft>
                <a:spcPts val="100"/>
              </a:spcAft>
            </a:pPr>
            <a:r>
              <a:rPr sz="860">
                <a:solidFill>
                  <a:srgbClr val="222222"/>
                </a:solidFill>
                <a:latin typeface="Noto Sans CJK SC"/>
              </a:rPr>
              <a:t>queued、running、completed 等状态可追踪。</a:t>
            </a:r>
          </a:p>
          <a:p>
            <a:pPr algn="l">
              <a:spcAft>
                <a:spcPts val="100"/>
              </a:spcAft>
            </a:pPr>
            <a:r>
              <a:rPr sz="860">
                <a:solidFill>
                  <a:srgbClr val="222222"/>
                </a:solidFill>
                <a:latin typeface="Noto Sans CJK SC"/>
              </a:rPr>
              <a:t>流式事件围绕同一任务标识持续推进。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8641080" y="2779776"/>
            <a:ext cx="2834640" cy="12984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55AA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8769096" y="2852928"/>
            <a:ext cx="2578608" cy="219456"/>
          </a:xfrm>
          <a:prstGeom prst="rect">
            <a:avLst/>
          </a:prstGeom>
          <a:noFill/>
        </p:spPr>
        <p:txBody>
          <a:bodyPr wrap="none" lIns="38100" rIns="38100" tIns="12700" bIns="12700" anchor="ctr">
            <a:spAutoFit/>
          </a:bodyPr>
          <a:lstStyle/>
          <a:p>
            <a:pPr algn="ctr"/>
            <a:r>
              <a:rPr sz="1180" b="1">
                <a:solidFill>
                  <a:srgbClr val="55AA66"/>
                </a:solidFill>
                <a:latin typeface="Noto Sans CJK SC"/>
              </a:rPr>
              <a:t>已实现：刷新恢复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787384" y="3127248"/>
            <a:ext cx="2542032" cy="859536"/>
          </a:xfrm>
          <a:prstGeom prst="rect">
            <a:avLst/>
          </a:prstGeom>
          <a:noFill/>
        </p:spPr>
        <p:txBody>
          <a:bodyPr wrap="square" lIns="63500" rIns="63500" tIns="38100" bIns="38100" anchor="ctr">
            <a:spAutoFit/>
          </a:bodyPr>
          <a:lstStyle/>
          <a:p>
            <a:pPr algn="l">
              <a:spcAft>
                <a:spcPts val="100"/>
              </a:spcAft>
            </a:pPr>
            <a:r>
              <a:rPr sz="860">
                <a:solidFill>
                  <a:srgbClr val="222222"/>
                </a:solidFill>
                <a:latin typeface="Noto Sans CJK SC"/>
              </a:rPr>
              <a:t>页面刷新后查询 active_task，</a:t>
            </a:r>
          </a:p>
          <a:p>
            <a:pPr algn="l">
              <a:spcAft>
                <a:spcPts val="100"/>
              </a:spcAft>
            </a:pPr>
            <a:r>
              <a:rPr sz="860">
                <a:solidFill>
                  <a:srgbClr val="222222"/>
                </a:solidFill>
                <a:latin typeface="Noto Sans CJK SC"/>
              </a:rPr>
              <a:t>再根据事件序号重新附着到任务。</a:t>
            </a:r>
          </a:p>
          <a:p>
            <a:pPr algn="l">
              <a:spcAft>
                <a:spcPts val="100"/>
              </a:spcAft>
            </a:pPr>
            <a:r>
              <a:rPr sz="860">
                <a:solidFill>
                  <a:srgbClr val="222222"/>
                </a:solidFill>
                <a:latin typeface="Noto Sans CJK SC"/>
              </a:rPr>
              <a:t>已产生的流式内容可以按序补齐。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8641080" y="4206240"/>
            <a:ext cx="2834640" cy="12984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E82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8769096" y="4279392"/>
            <a:ext cx="2578608" cy="219456"/>
          </a:xfrm>
          <a:prstGeom prst="rect">
            <a:avLst/>
          </a:prstGeom>
          <a:noFill/>
        </p:spPr>
        <p:txBody>
          <a:bodyPr wrap="none" lIns="38100" rIns="38100" tIns="12700" bIns="12700" anchor="ctr">
            <a:spAutoFit/>
          </a:bodyPr>
          <a:lstStyle/>
          <a:p>
            <a:pPr algn="ctr"/>
            <a:r>
              <a:rPr sz="1180" b="1">
                <a:solidFill>
                  <a:srgbClr val="EE822F"/>
                </a:solidFill>
                <a:latin typeface="Noto Sans CJK SC"/>
              </a:rPr>
              <a:t>已实现：并行任务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787384" y="4553712"/>
            <a:ext cx="2542032" cy="859536"/>
          </a:xfrm>
          <a:prstGeom prst="rect">
            <a:avLst/>
          </a:prstGeom>
          <a:noFill/>
        </p:spPr>
        <p:txBody>
          <a:bodyPr wrap="square" lIns="63500" rIns="63500" tIns="38100" bIns="38100" anchor="ctr">
            <a:spAutoFit/>
          </a:bodyPr>
          <a:lstStyle/>
          <a:p>
            <a:pPr algn="l">
              <a:spcAft>
                <a:spcPts val="100"/>
              </a:spcAft>
            </a:pPr>
            <a:r>
              <a:rPr sz="860">
                <a:solidFill>
                  <a:srgbClr val="222222"/>
                </a:solidFill>
                <a:latin typeface="Noto Sans CJK SC"/>
              </a:rPr>
              <a:t>任务状态写入 Redis，</a:t>
            </a:r>
          </a:p>
          <a:p>
            <a:pPr algn="l">
              <a:spcAft>
                <a:spcPts val="100"/>
              </a:spcAft>
            </a:pPr>
            <a:r>
              <a:rPr sz="860">
                <a:solidFill>
                  <a:srgbClr val="222222"/>
                </a:solidFill>
                <a:latin typeface="Noto Sans CJK SC"/>
              </a:rPr>
              <a:t>多个问答任务可独立推进。</a:t>
            </a:r>
          </a:p>
          <a:p>
            <a:pPr algn="l">
              <a:spcAft>
                <a:spcPts val="100"/>
              </a:spcAft>
            </a:pPr>
            <a:r>
              <a:rPr sz="860">
                <a:solidFill>
                  <a:srgbClr val="222222"/>
                </a:solidFill>
                <a:latin typeface="Noto Sans CJK SC"/>
              </a:rPr>
              <a:t>不同会话任务互不覆盖，前端可分别恢复。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3154680" y="6236208"/>
            <a:ext cx="1097280" cy="201168"/>
          </a:xfrm>
          <a:prstGeom prst="rect">
            <a:avLst/>
          </a:prstGeom>
          <a:noFill/>
        </p:spPr>
        <p:txBody>
          <a:bodyPr wrap="none" lIns="25400" rIns="25400" tIns="12700" bIns="12700" anchor="ctr">
            <a:spAutoFit/>
          </a:bodyPr>
          <a:lstStyle/>
          <a:p>
            <a:pPr algn="r"/>
            <a:r>
              <a:rPr sz="1000" b="0">
                <a:solidFill>
                  <a:srgbClr val="0055AA"/>
                </a:solidFill>
                <a:latin typeface="Noto Sans CJK SC"/>
              </a:rPr>
              <a:t>创新成就卓越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4370832" y="6236208"/>
            <a:ext cx="2743200" cy="201168"/>
          </a:xfrm>
          <a:prstGeom prst="rect">
            <a:avLst/>
          </a:prstGeom>
          <a:noFill/>
        </p:spPr>
        <p:txBody>
          <a:bodyPr wrap="none" lIns="25400" rIns="25400" tIns="12700" bIns="12700" anchor="ctr">
            <a:spAutoFit/>
          </a:bodyPr>
          <a:lstStyle/>
          <a:p>
            <a:pPr algn="l"/>
            <a:r>
              <a:rPr sz="1000" b="0">
                <a:solidFill>
                  <a:srgbClr val="666666"/>
                </a:solidFill>
                <a:latin typeface="Noto Sans CJK SC"/>
              </a:rPr>
              <a:t>INNOVATION CREATES EXCELLENCE</a:t>
            </a:r>
          </a:p>
        </p:txBody>
      </p:sp>
      <p:sp>
        <p:nvSpPr>
          <p:cNvPr id="62" name="Rectangle 61"/>
          <p:cNvSpPr/>
          <p:nvPr/>
        </p:nvSpPr>
        <p:spPr>
          <a:xfrm>
            <a:off x="9555480" y="6629400"/>
            <a:ext cx="2651760" cy="36576"/>
          </a:xfrm>
          <a:prstGeom prst="rect">
            <a:avLst/>
          </a:prstGeom>
          <a:solidFill>
            <a:srgbClr val="B6C0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0" y="6702552"/>
            <a:ext cx="12191999" cy="36576"/>
          </a:xfrm>
          <a:prstGeom prst="rect">
            <a:avLst/>
          </a:prstGeom>
          <a:solidFill>
            <a:srgbClr val="EEEF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457200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94944" y="73152"/>
            <a:ext cx="502920" cy="274320"/>
          </a:xfrm>
          <a:prstGeom prst="rect">
            <a:avLst/>
          </a:prstGeom>
          <a:noFill/>
        </p:spPr>
        <p:txBody>
          <a:bodyPr wrap="none" lIns="25400" rIns="25400" tIns="12700" bIns="12700" anchor="ctr">
            <a:spAutoFit/>
          </a:bodyPr>
          <a:lstStyle/>
          <a:p>
            <a:pPr algn="l"/>
            <a:r>
              <a:rPr sz="1700" b="1">
                <a:solidFill>
                  <a:srgbClr val="0055AA"/>
                </a:solidFill>
                <a:latin typeface="Noto Sans CJK SC"/>
              </a:rP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" y="36576"/>
            <a:ext cx="5669280" cy="365760"/>
          </a:xfrm>
          <a:prstGeom prst="rect">
            <a:avLst/>
          </a:prstGeom>
          <a:noFill/>
        </p:spPr>
        <p:txBody>
          <a:bodyPr wrap="none" lIns="25400" rIns="25400" tIns="12700" bIns="12700" anchor="ctr">
            <a:spAutoFit/>
          </a:bodyPr>
          <a:lstStyle/>
          <a:p>
            <a:pPr algn="l"/>
            <a:r>
              <a:rPr sz="2200" b="1">
                <a:solidFill>
                  <a:srgbClr val="0055AA"/>
                </a:solidFill>
                <a:latin typeface="Noto Sans CJK SC"/>
              </a:rPr>
              <a:t>核心实现</a:t>
            </a:r>
          </a:p>
        </p:txBody>
      </p:sp>
      <p:pic>
        <p:nvPicPr>
          <p:cNvPr id="5" name="Picture 4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0"/>
            <a:ext cx="2240280" cy="457200"/>
          </a:xfrm>
          <a:prstGeom prst="rect">
            <a:avLst/>
          </a:prstGeom>
        </p:spPr>
      </p:pic>
      <p:pic>
        <p:nvPicPr>
          <p:cNvPr id="6" name="Picture 5" descr="logo_full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04704" y="91440"/>
            <a:ext cx="1298448" cy="25603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58368" y="658368"/>
            <a:ext cx="6949440" cy="438912"/>
          </a:xfrm>
          <a:prstGeom prst="rect">
            <a:avLst/>
          </a:prstGeom>
          <a:noFill/>
        </p:spPr>
        <p:txBody>
          <a:bodyPr wrap="none" lIns="38100" rIns="38100" tIns="12700" bIns="12700" anchor="ctr">
            <a:spAutoFit/>
          </a:bodyPr>
          <a:lstStyle/>
          <a:p>
            <a:pPr algn="l"/>
            <a:r>
              <a:rPr sz="2400" b="1">
                <a:solidFill>
                  <a:srgbClr val="0055AA"/>
                </a:solidFill>
                <a:latin typeface="Noto Sans CJK SC"/>
              </a:rPr>
              <a:t>实现任务取消、事件回放与消息终态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1078992"/>
            <a:ext cx="6949440" cy="256032"/>
          </a:xfrm>
          <a:prstGeom prst="rect">
            <a:avLst/>
          </a:prstGeom>
          <a:noFill/>
        </p:spPr>
        <p:txBody>
          <a:bodyPr wrap="none" lIns="38100" rIns="38100" tIns="12700" bIns="12700" anchor="ctr">
            <a:spAutoFit/>
          </a:bodyPr>
          <a:lstStyle/>
          <a:p>
            <a:pPr algn="l"/>
            <a:r>
              <a:rPr sz="1150" b="0">
                <a:solidFill>
                  <a:srgbClr val="1E2A3A"/>
                </a:solidFill>
                <a:latin typeface="Noto Sans CJK SC"/>
              </a:rPr>
              <a:t>取消、事件回放和终态落库统一收敛到任务状态与会话消息。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1353312"/>
            <a:ext cx="7818120" cy="4462272"/>
          </a:xfrm>
          <a:prstGeom prst="rect">
            <a:avLst/>
          </a:prstGeom>
          <a:solidFill>
            <a:srgbClr val="F9FBFE"/>
          </a:solidFill>
          <a:ln w="10160">
            <a:solidFill>
              <a:srgbClr val="D7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68680" y="1517904"/>
            <a:ext cx="7360920" cy="3913632"/>
          </a:xfrm>
          <a:prstGeom prst="rect">
            <a:avLst/>
          </a:prstGeom>
          <a:solidFill>
            <a:srgbClr val="FFFFFF"/>
          </a:solidFill>
          <a:ln w="10160">
            <a:solidFill>
              <a:srgbClr val="D7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124712" y="1719072"/>
            <a:ext cx="1097280" cy="38404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055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79576" y="1792224"/>
            <a:ext cx="987552" cy="201168"/>
          </a:xfrm>
          <a:prstGeom prst="rect">
            <a:avLst/>
          </a:prstGeom>
          <a:noFill/>
        </p:spPr>
        <p:txBody>
          <a:bodyPr wrap="none" lIns="38100" rIns="38100" tIns="12700" bIns="12700" anchor="ctr">
            <a:spAutoFit/>
          </a:bodyPr>
          <a:lstStyle/>
          <a:p>
            <a:pPr algn="ctr"/>
            <a:r>
              <a:rPr sz="880" b="1">
                <a:solidFill>
                  <a:srgbClr val="00459A"/>
                </a:solidFill>
                <a:latin typeface="Noto Sans CJK SC"/>
              </a:rPr>
              <a:t>前端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1673352" y="2121408"/>
            <a:ext cx="0" cy="3035808"/>
          </a:xfrm>
          <a:prstGeom prst="line">
            <a:avLst/>
          </a:prstGeom>
          <a:ln w="8890">
            <a:solidFill>
              <a:srgbClr val="D7DE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2562606" y="1719072"/>
            <a:ext cx="1097280" cy="38404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055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617470" y="1792224"/>
            <a:ext cx="987552" cy="201168"/>
          </a:xfrm>
          <a:prstGeom prst="rect">
            <a:avLst/>
          </a:prstGeom>
          <a:noFill/>
        </p:spPr>
        <p:txBody>
          <a:bodyPr wrap="none" lIns="38100" rIns="38100" tIns="12700" bIns="12700" anchor="ctr">
            <a:spAutoFit/>
          </a:bodyPr>
          <a:lstStyle/>
          <a:p>
            <a:pPr algn="ctr"/>
            <a:r>
              <a:rPr sz="880" b="1">
                <a:solidFill>
                  <a:srgbClr val="00459A"/>
                </a:solidFill>
                <a:latin typeface="Aptos"/>
              </a:rPr>
              <a:t>gateway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3111246" y="2121408"/>
            <a:ext cx="0" cy="3035808"/>
          </a:xfrm>
          <a:prstGeom prst="line">
            <a:avLst/>
          </a:prstGeom>
          <a:ln w="8890">
            <a:solidFill>
              <a:srgbClr val="D7DE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4000500" y="1719072"/>
            <a:ext cx="1097280" cy="38404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055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055363" y="1792224"/>
            <a:ext cx="987552" cy="201168"/>
          </a:xfrm>
          <a:prstGeom prst="rect">
            <a:avLst/>
          </a:prstGeom>
          <a:noFill/>
        </p:spPr>
        <p:txBody>
          <a:bodyPr wrap="none" lIns="38100" rIns="38100" tIns="12700" bIns="12700" anchor="ctr">
            <a:spAutoFit/>
          </a:bodyPr>
          <a:lstStyle/>
          <a:p>
            <a:pPr algn="ctr"/>
            <a:r>
              <a:rPr sz="880" b="1">
                <a:solidFill>
                  <a:srgbClr val="00459A"/>
                </a:solidFill>
                <a:latin typeface="Aptos"/>
              </a:rPr>
              <a:t>Redis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4549140" y="2121408"/>
            <a:ext cx="0" cy="3035808"/>
          </a:xfrm>
          <a:prstGeom prst="line">
            <a:avLst/>
          </a:prstGeom>
          <a:ln w="8890">
            <a:solidFill>
              <a:srgbClr val="D7DE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5438394" y="1719072"/>
            <a:ext cx="1097280" cy="38404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055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93257" y="1792224"/>
            <a:ext cx="987552" cy="201168"/>
          </a:xfrm>
          <a:prstGeom prst="rect">
            <a:avLst/>
          </a:prstGeom>
          <a:noFill/>
        </p:spPr>
        <p:txBody>
          <a:bodyPr wrap="none" lIns="38100" rIns="38100" tIns="12700" bIns="12700" anchor="ctr">
            <a:spAutoFit/>
          </a:bodyPr>
          <a:lstStyle/>
          <a:p>
            <a:pPr algn="ctr"/>
            <a:r>
              <a:rPr sz="880" b="1">
                <a:solidFill>
                  <a:srgbClr val="00459A"/>
                </a:solidFill>
                <a:latin typeface="Noto Sans CJK SC"/>
              </a:rPr>
              <a:t>QA 服务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5987033" y="2121408"/>
            <a:ext cx="0" cy="3035808"/>
          </a:xfrm>
          <a:prstGeom prst="line">
            <a:avLst/>
          </a:prstGeom>
          <a:ln w="8890">
            <a:solidFill>
              <a:srgbClr val="D7DE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6876288" y="1719072"/>
            <a:ext cx="1097280" cy="38404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055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931151" y="1792224"/>
            <a:ext cx="987552" cy="201168"/>
          </a:xfrm>
          <a:prstGeom prst="rect">
            <a:avLst/>
          </a:prstGeom>
          <a:noFill/>
        </p:spPr>
        <p:txBody>
          <a:bodyPr wrap="none" lIns="38100" rIns="38100" tIns="12700" bIns="12700" anchor="ctr">
            <a:spAutoFit/>
          </a:bodyPr>
          <a:lstStyle/>
          <a:p>
            <a:pPr algn="ctr"/>
            <a:r>
              <a:rPr sz="880" b="1">
                <a:solidFill>
                  <a:srgbClr val="00459A"/>
                </a:solidFill>
                <a:latin typeface="Aptos"/>
              </a:rPr>
              <a:t>public-service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7424927" y="2121408"/>
            <a:ext cx="0" cy="3035808"/>
          </a:xfrm>
          <a:prstGeom prst="line">
            <a:avLst/>
          </a:prstGeom>
          <a:ln w="8890">
            <a:solidFill>
              <a:srgbClr val="D7DE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1673352" y="2340864"/>
            <a:ext cx="1437894" cy="0"/>
          </a:xfrm>
          <a:prstGeom prst="line">
            <a:avLst/>
          </a:prstGeom>
          <a:ln w="11430">
            <a:solidFill>
              <a:srgbClr val="0055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1719072" y="2176272"/>
            <a:ext cx="1346454" cy="146304"/>
          </a:xfrm>
          <a:prstGeom prst="rect">
            <a:avLst/>
          </a:prstGeom>
          <a:noFill/>
        </p:spPr>
        <p:txBody>
          <a:bodyPr wrap="none" lIns="38100" rIns="38100" tIns="12700" bIns="12700" anchor="ctr">
            <a:spAutoFit/>
          </a:bodyPr>
          <a:lstStyle/>
          <a:p>
            <a:pPr algn="ctr"/>
            <a:r>
              <a:rPr sz="770" b="0">
                <a:solidFill>
                  <a:srgbClr val="1E2A3A"/>
                </a:solidFill>
                <a:latin typeface="Noto Sans CJK SC"/>
              </a:rPr>
              <a:t>点击停止 task_id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3111246" y="2743200"/>
            <a:ext cx="1437894" cy="0"/>
          </a:xfrm>
          <a:prstGeom prst="line">
            <a:avLst/>
          </a:prstGeom>
          <a:ln w="11430">
            <a:solidFill>
              <a:srgbClr val="EE82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3156966" y="2578608"/>
            <a:ext cx="1346453" cy="146304"/>
          </a:xfrm>
          <a:prstGeom prst="rect">
            <a:avLst/>
          </a:prstGeom>
          <a:noFill/>
        </p:spPr>
        <p:txBody>
          <a:bodyPr wrap="none" lIns="38100" rIns="38100" tIns="12700" bIns="12700" anchor="ctr">
            <a:spAutoFit/>
          </a:bodyPr>
          <a:lstStyle/>
          <a:p>
            <a:pPr algn="ctr"/>
            <a:r>
              <a:rPr sz="770" b="0">
                <a:solidFill>
                  <a:srgbClr val="1E2A3A"/>
                </a:solidFill>
                <a:latin typeface="Noto Sans CJK SC"/>
              </a:rPr>
              <a:t>写 cancel flag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3111246" y="3145536"/>
            <a:ext cx="2875787" cy="0"/>
          </a:xfrm>
          <a:prstGeom prst="line">
            <a:avLst/>
          </a:prstGeom>
          <a:ln w="11430">
            <a:solidFill>
              <a:srgbClr val="EE82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3156966" y="2980944"/>
            <a:ext cx="2784347" cy="146304"/>
          </a:xfrm>
          <a:prstGeom prst="rect">
            <a:avLst/>
          </a:prstGeom>
          <a:noFill/>
        </p:spPr>
        <p:txBody>
          <a:bodyPr wrap="none" lIns="38100" rIns="38100" tIns="12700" bIns="12700" anchor="ctr">
            <a:spAutoFit/>
          </a:bodyPr>
          <a:lstStyle/>
          <a:p>
            <a:pPr algn="ctr"/>
            <a:r>
              <a:rPr sz="770" b="0">
                <a:solidFill>
                  <a:srgbClr val="1E2A3A"/>
                </a:solidFill>
                <a:latin typeface="Noto Sans CJK SC"/>
              </a:rPr>
              <a:t>传播取消信号</a:t>
            </a:r>
          </a:p>
        </p:txBody>
      </p:sp>
      <p:cxnSp>
        <p:nvCxnSpPr>
          <p:cNvPr id="32" name="Connector 31"/>
          <p:cNvCxnSpPr/>
          <p:nvPr/>
        </p:nvCxnSpPr>
        <p:spPr>
          <a:xfrm flipH="1">
            <a:off x="3111246" y="3547872"/>
            <a:ext cx="2875787" cy="0"/>
          </a:xfrm>
          <a:prstGeom prst="line">
            <a:avLst/>
          </a:prstGeom>
          <a:ln w="11430">
            <a:solidFill>
              <a:srgbClr val="4E82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3156966" y="3383279"/>
            <a:ext cx="2784347" cy="146304"/>
          </a:xfrm>
          <a:prstGeom prst="rect">
            <a:avLst/>
          </a:prstGeom>
          <a:noFill/>
        </p:spPr>
        <p:txBody>
          <a:bodyPr wrap="none" lIns="38100" rIns="38100" tIns="12700" bIns="12700" anchor="ctr">
            <a:spAutoFit/>
          </a:bodyPr>
          <a:lstStyle/>
          <a:p>
            <a:pPr algn="ctr"/>
            <a:r>
              <a:rPr sz="770" b="0">
                <a:solidFill>
                  <a:srgbClr val="1E2A3A"/>
                </a:solidFill>
                <a:latin typeface="Noto Sans CJK SC"/>
              </a:rPr>
              <a:t>返回终态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3111246" y="3950208"/>
            <a:ext cx="1437894" cy="0"/>
          </a:xfrm>
          <a:prstGeom prst="line">
            <a:avLst/>
          </a:prstGeom>
          <a:ln w="11430">
            <a:solidFill>
              <a:srgbClr val="30C0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3156966" y="3785616"/>
            <a:ext cx="1346453" cy="146304"/>
          </a:xfrm>
          <a:prstGeom prst="rect">
            <a:avLst/>
          </a:prstGeom>
          <a:noFill/>
        </p:spPr>
        <p:txBody>
          <a:bodyPr wrap="none" lIns="38100" rIns="38100" tIns="12700" bIns="12700" anchor="ctr">
            <a:spAutoFit/>
          </a:bodyPr>
          <a:lstStyle/>
          <a:p>
            <a:pPr algn="ctr"/>
            <a:r>
              <a:rPr sz="770" b="0">
                <a:solidFill>
                  <a:srgbClr val="1E2A3A"/>
                </a:solidFill>
                <a:latin typeface="Noto Sans CJK SC"/>
              </a:rPr>
              <a:t>更新 cancelled / last_seq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3111246" y="4352544"/>
            <a:ext cx="4313681" cy="0"/>
          </a:xfrm>
          <a:prstGeom prst="line">
            <a:avLst/>
          </a:prstGeom>
          <a:ln w="11430">
            <a:solidFill>
              <a:srgbClr val="55AA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3156966" y="4187952"/>
            <a:ext cx="4222242" cy="146304"/>
          </a:xfrm>
          <a:prstGeom prst="rect">
            <a:avLst/>
          </a:prstGeom>
          <a:noFill/>
        </p:spPr>
        <p:txBody>
          <a:bodyPr wrap="none" lIns="38100" rIns="38100" tIns="12700" bIns="12700" anchor="ctr">
            <a:spAutoFit/>
          </a:bodyPr>
          <a:lstStyle/>
          <a:p>
            <a:pPr algn="ctr"/>
            <a:r>
              <a:rPr sz="770" b="0">
                <a:solidFill>
                  <a:srgbClr val="1E2A3A"/>
                </a:solidFill>
                <a:latin typeface="Noto Sans CJK SC"/>
              </a:rPr>
              <a:t>写入终态消息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1673352" y="4754880"/>
            <a:ext cx="1437894" cy="0"/>
          </a:xfrm>
          <a:prstGeom prst="line">
            <a:avLst/>
          </a:prstGeom>
          <a:ln w="11430">
            <a:solidFill>
              <a:srgbClr val="4E82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TextBox 38"/>
          <p:cNvSpPr txBox="1"/>
          <p:nvPr/>
        </p:nvSpPr>
        <p:spPr>
          <a:xfrm>
            <a:off x="1719072" y="4590288"/>
            <a:ext cx="1346454" cy="146304"/>
          </a:xfrm>
          <a:prstGeom prst="rect">
            <a:avLst/>
          </a:prstGeom>
          <a:noFill/>
        </p:spPr>
        <p:txBody>
          <a:bodyPr wrap="none" lIns="38100" rIns="38100" tIns="12700" bIns="12700" anchor="ctr">
            <a:spAutoFit/>
          </a:bodyPr>
          <a:lstStyle/>
          <a:p>
            <a:pPr algn="ctr"/>
            <a:r>
              <a:rPr sz="770" b="0">
                <a:solidFill>
                  <a:srgbClr val="1E2A3A"/>
                </a:solidFill>
                <a:latin typeface="Noto Sans CJK SC"/>
              </a:rPr>
              <a:t>刷新后查询终态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960120" y="5248656"/>
            <a:ext cx="2240280" cy="310896"/>
          </a:xfrm>
          <a:prstGeom prst="roundRect">
            <a:avLst/>
          </a:prstGeom>
          <a:solidFill>
            <a:srgbClr val="FFF7EF"/>
          </a:solidFill>
          <a:ln w="10160">
            <a:solidFill>
              <a:srgbClr val="D7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033272" y="5294376"/>
            <a:ext cx="2093976" cy="182880"/>
          </a:xfrm>
          <a:prstGeom prst="rect">
            <a:avLst/>
          </a:prstGeom>
          <a:noFill/>
        </p:spPr>
        <p:txBody>
          <a:bodyPr wrap="none" lIns="38100" rIns="38100" tIns="12700" bIns="12700" anchor="ctr">
            <a:spAutoFit/>
          </a:bodyPr>
          <a:lstStyle/>
          <a:p>
            <a:pPr algn="ctr"/>
            <a:r>
              <a:rPr sz="1019" b="1">
                <a:solidFill>
                  <a:srgbClr val="00459A"/>
                </a:solidFill>
                <a:latin typeface="Noto Sans CJK SC"/>
              </a:rPr>
              <a:t>取消真实任务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3401568" y="5248656"/>
            <a:ext cx="2240280" cy="310896"/>
          </a:xfrm>
          <a:prstGeom prst="roundRect">
            <a:avLst/>
          </a:prstGeom>
          <a:solidFill>
            <a:srgbClr val="E9F3FF"/>
          </a:solidFill>
          <a:ln w="10160">
            <a:solidFill>
              <a:srgbClr val="D7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474720" y="5294376"/>
            <a:ext cx="2093976" cy="182880"/>
          </a:xfrm>
          <a:prstGeom prst="rect">
            <a:avLst/>
          </a:prstGeom>
          <a:noFill/>
        </p:spPr>
        <p:txBody>
          <a:bodyPr wrap="none" lIns="38100" rIns="38100" tIns="12700" bIns="12700" anchor="ctr">
            <a:spAutoFit/>
          </a:bodyPr>
          <a:lstStyle/>
          <a:p>
            <a:pPr algn="ctr"/>
            <a:r>
              <a:rPr sz="1019" b="1">
                <a:solidFill>
                  <a:srgbClr val="00459A"/>
                </a:solidFill>
                <a:latin typeface="Noto Sans CJK SC"/>
              </a:rPr>
              <a:t>状态可回放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5843016" y="5248656"/>
            <a:ext cx="2240280" cy="310896"/>
          </a:xfrm>
          <a:prstGeom prst="roundRect">
            <a:avLst/>
          </a:prstGeom>
          <a:solidFill>
            <a:srgbClr val="F4FBF7"/>
          </a:solidFill>
          <a:ln w="10160">
            <a:solidFill>
              <a:srgbClr val="D7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916168" y="5294376"/>
            <a:ext cx="2093976" cy="182880"/>
          </a:xfrm>
          <a:prstGeom prst="rect">
            <a:avLst/>
          </a:prstGeom>
          <a:noFill/>
        </p:spPr>
        <p:txBody>
          <a:bodyPr wrap="none" lIns="38100" rIns="38100" tIns="12700" bIns="12700" anchor="ctr">
            <a:spAutoFit/>
          </a:bodyPr>
          <a:lstStyle/>
          <a:p>
            <a:pPr algn="ctr"/>
            <a:r>
              <a:rPr sz="1019" b="1">
                <a:solidFill>
                  <a:srgbClr val="00459A"/>
                </a:solidFill>
                <a:latin typeface="Noto Sans CJK SC"/>
              </a:rPr>
              <a:t>消息有终态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8641080" y="1353312"/>
            <a:ext cx="2834640" cy="12984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E82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769096" y="1426464"/>
            <a:ext cx="2578608" cy="219456"/>
          </a:xfrm>
          <a:prstGeom prst="rect">
            <a:avLst/>
          </a:prstGeom>
          <a:noFill/>
        </p:spPr>
        <p:txBody>
          <a:bodyPr wrap="none" lIns="38100" rIns="38100" tIns="12700" bIns="12700" anchor="ctr">
            <a:spAutoFit/>
          </a:bodyPr>
          <a:lstStyle/>
          <a:p>
            <a:pPr algn="ctr"/>
            <a:r>
              <a:rPr sz="1180" b="1">
                <a:solidFill>
                  <a:srgbClr val="EE822F"/>
                </a:solidFill>
                <a:latin typeface="Noto Sans CJK SC"/>
              </a:rPr>
              <a:t>已实现：任务取消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787384" y="1700784"/>
            <a:ext cx="2542032" cy="859536"/>
          </a:xfrm>
          <a:prstGeom prst="rect">
            <a:avLst/>
          </a:prstGeom>
          <a:noFill/>
        </p:spPr>
        <p:txBody>
          <a:bodyPr wrap="square" lIns="63500" rIns="63500" tIns="38100" bIns="38100" anchor="ctr">
            <a:spAutoFit/>
          </a:bodyPr>
          <a:lstStyle/>
          <a:p>
            <a:pPr algn="l">
              <a:spcAft>
                <a:spcPts val="100"/>
              </a:spcAft>
            </a:pPr>
            <a:r>
              <a:rPr sz="860">
                <a:solidFill>
                  <a:srgbClr val="222222"/>
                </a:solidFill>
                <a:latin typeface="Noto Sans CJK SC"/>
              </a:rPr>
              <a:t>停止请求写入 cancel flag，</a:t>
            </a:r>
          </a:p>
          <a:p>
            <a:pPr algn="l">
              <a:spcAft>
                <a:spcPts val="100"/>
              </a:spcAft>
            </a:pPr>
            <a:r>
              <a:rPr sz="860">
                <a:solidFill>
                  <a:srgbClr val="222222"/>
                </a:solidFill>
                <a:latin typeface="Noto Sans CJK SC"/>
              </a:rPr>
              <a:t>并向执行服务传播取消信号。</a:t>
            </a:r>
          </a:p>
          <a:p>
            <a:pPr algn="l">
              <a:spcAft>
                <a:spcPts val="100"/>
              </a:spcAft>
            </a:pPr>
            <a:r>
              <a:rPr sz="860">
                <a:solidFill>
                  <a:srgbClr val="222222"/>
                </a:solidFill>
                <a:latin typeface="Noto Sans CJK SC"/>
              </a:rPr>
              <a:t>任务停止与前端按钮状态保持一致。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8641080" y="2779776"/>
            <a:ext cx="2834640" cy="12984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55AA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769096" y="2852928"/>
            <a:ext cx="2578608" cy="219456"/>
          </a:xfrm>
          <a:prstGeom prst="rect">
            <a:avLst/>
          </a:prstGeom>
          <a:noFill/>
        </p:spPr>
        <p:txBody>
          <a:bodyPr wrap="none" lIns="38100" rIns="38100" tIns="12700" bIns="12700" anchor="ctr">
            <a:spAutoFit/>
          </a:bodyPr>
          <a:lstStyle/>
          <a:p>
            <a:pPr algn="ctr"/>
            <a:r>
              <a:rPr sz="1180" b="1">
                <a:solidFill>
                  <a:srgbClr val="55AA66"/>
                </a:solidFill>
                <a:latin typeface="Noto Sans CJK SC"/>
              </a:rPr>
              <a:t>已实现：事件回放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787384" y="3127248"/>
            <a:ext cx="2542032" cy="859536"/>
          </a:xfrm>
          <a:prstGeom prst="rect">
            <a:avLst/>
          </a:prstGeom>
          <a:noFill/>
        </p:spPr>
        <p:txBody>
          <a:bodyPr wrap="square" lIns="63500" rIns="63500" tIns="38100" bIns="38100" anchor="ctr">
            <a:spAutoFit/>
          </a:bodyPr>
          <a:lstStyle/>
          <a:p>
            <a:pPr algn="l">
              <a:spcAft>
                <a:spcPts val="100"/>
              </a:spcAft>
            </a:pPr>
            <a:r>
              <a:rPr sz="860">
                <a:solidFill>
                  <a:srgbClr val="222222"/>
                </a:solidFill>
                <a:latin typeface="Noto Sans CJK SC"/>
              </a:rPr>
              <a:t>Redis 保存 last_seq 与任务状态，</a:t>
            </a:r>
          </a:p>
          <a:p>
            <a:pPr algn="l">
              <a:spcAft>
                <a:spcPts val="100"/>
              </a:spcAft>
            </a:pPr>
            <a:r>
              <a:rPr sz="860">
                <a:solidFill>
                  <a:srgbClr val="222222"/>
                </a:solidFill>
                <a:latin typeface="Noto Sans CJK SC"/>
              </a:rPr>
              <a:t>刷新后可补齐遗漏事件。</a:t>
            </a:r>
          </a:p>
          <a:p>
            <a:pPr algn="l">
              <a:spcAft>
                <a:spcPts val="100"/>
              </a:spcAft>
            </a:pPr>
            <a:r>
              <a:rPr sz="860">
                <a:solidFill>
                  <a:srgbClr val="222222"/>
                </a:solidFill>
                <a:latin typeface="Noto Sans CJK SC"/>
              </a:rPr>
              <a:t>前端可根据最新序号继续接收后续事件。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8641080" y="4206240"/>
            <a:ext cx="2834640" cy="12984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055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8769096" y="4279392"/>
            <a:ext cx="2578608" cy="219456"/>
          </a:xfrm>
          <a:prstGeom prst="rect">
            <a:avLst/>
          </a:prstGeom>
          <a:noFill/>
        </p:spPr>
        <p:txBody>
          <a:bodyPr wrap="none" lIns="38100" rIns="38100" tIns="12700" bIns="12700" anchor="ctr">
            <a:spAutoFit/>
          </a:bodyPr>
          <a:lstStyle/>
          <a:p>
            <a:pPr algn="ctr"/>
            <a:r>
              <a:rPr sz="1180" b="1">
                <a:solidFill>
                  <a:srgbClr val="0055AA"/>
                </a:solidFill>
                <a:latin typeface="Noto Sans CJK SC"/>
              </a:rPr>
              <a:t>已实现：终态落库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787384" y="4553712"/>
            <a:ext cx="2542032" cy="859536"/>
          </a:xfrm>
          <a:prstGeom prst="rect">
            <a:avLst/>
          </a:prstGeom>
          <a:noFill/>
        </p:spPr>
        <p:txBody>
          <a:bodyPr wrap="square" lIns="63500" rIns="63500" tIns="38100" bIns="38100" anchor="ctr">
            <a:spAutoFit/>
          </a:bodyPr>
          <a:lstStyle/>
          <a:p>
            <a:pPr algn="l">
              <a:spcAft>
                <a:spcPts val="100"/>
              </a:spcAft>
            </a:pPr>
            <a:r>
              <a:rPr sz="860">
                <a:solidFill>
                  <a:srgbClr val="222222"/>
                </a:solidFill>
                <a:latin typeface="Noto Sans CJK SC"/>
              </a:rPr>
              <a:t>完成、失败、取消统一写入 public-service，</a:t>
            </a:r>
          </a:p>
          <a:p>
            <a:pPr algn="l">
              <a:spcAft>
                <a:spcPts val="100"/>
              </a:spcAft>
            </a:pPr>
            <a:r>
              <a:rPr sz="860">
                <a:solidFill>
                  <a:srgbClr val="222222"/>
                </a:solidFill>
                <a:latin typeface="Noto Sans CJK SC"/>
              </a:rPr>
              <a:t>会话历史保持明确终态。</a:t>
            </a:r>
          </a:p>
          <a:p>
            <a:pPr algn="l">
              <a:spcAft>
                <a:spcPts val="100"/>
              </a:spcAft>
            </a:pPr>
            <a:r>
              <a:rPr sz="860">
                <a:solidFill>
                  <a:srgbClr val="222222"/>
                </a:solidFill>
                <a:latin typeface="Noto Sans CJK SC"/>
              </a:rPr>
              <a:t>刷新后展示结果与后端状态一致。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3154680" y="6236208"/>
            <a:ext cx="1097280" cy="201168"/>
          </a:xfrm>
          <a:prstGeom prst="rect">
            <a:avLst/>
          </a:prstGeom>
          <a:noFill/>
        </p:spPr>
        <p:txBody>
          <a:bodyPr wrap="none" lIns="25400" rIns="25400" tIns="12700" bIns="12700" anchor="ctr">
            <a:spAutoFit/>
          </a:bodyPr>
          <a:lstStyle/>
          <a:p>
            <a:pPr algn="r"/>
            <a:r>
              <a:rPr sz="1000" b="0">
                <a:solidFill>
                  <a:srgbClr val="0055AA"/>
                </a:solidFill>
                <a:latin typeface="Noto Sans CJK SC"/>
              </a:rPr>
              <a:t>创新成就卓越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370832" y="6236208"/>
            <a:ext cx="2743200" cy="201168"/>
          </a:xfrm>
          <a:prstGeom prst="rect">
            <a:avLst/>
          </a:prstGeom>
          <a:noFill/>
        </p:spPr>
        <p:txBody>
          <a:bodyPr wrap="none" lIns="25400" rIns="25400" tIns="12700" bIns="12700" anchor="ctr">
            <a:spAutoFit/>
          </a:bodyPr>
          <a:lstStyle/>
          <a:p>
            <a:pPr algn="l"/>
            <a:r>
              <a:rPr sz="1000" b="0">
                <a:solidFill>
                  <a:srgbClr val="666666"/>
                </a:solidFill>
                <a:latin typeface="Noto Sans CJK SC"/>
              </a:rPr>
              <a:t>INNOVATION CREATES EXCELLENCE</a:t>
            </a:r>
          </a:p>
        </p:txBody>
      </p:sp>
      <p:sp>
        <p:nvSpPr>
          <p:cNvPr id="57" name="Rectangle 56"/>
          <p:cNvSpPr/>
          <p:nvPr/>
        </p:nvSpPr>
        <p:spPr>
          <a:xfrm>
            <a:off x="9555480" y="6629400"/>
            <a:ext cx="2651760" cy="36576"/>
          </a:xfrm>
          <a:prstGeom prst="rect">
            <a:avLst/>
          </a:prstGeom>
          <a:solidFill>
            <a:srgbClr val="B6C0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0" y="6702552"/>
            <a:ext cx="12191999" cy="36576"/>
          </a:xfrm>
          <a:prstGeom prst="rect">
            <a:avLst/>
          </a:prstGeom>
          <a:solidFill>
            <a:srgbClr val="EEEF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457200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94944" y="73152"/>
            <a:ext cx="502920" cy="274320"/>
          </a:xfrm>
          <a:prstGeom prst="rect">
            <a:avLst/>
          </a:prstGeom>
          <a:noFill/>
        </p:spPr>
        <p:txBody>
          <a:bodyPr wrap="none" lIns="25400" rIns="25400" tIns="12700" bIns="12700" anchor="ctr">
            <a:spAutoFit/>
          </a:bodyPr>
          <a:lstStyle/>
          <a:p>
            <a:pPr algn="l"/>
            <a:r>
              <a:rPr sz="1700" b="1">
                <a:solidFill>
                  <a:srgbClr val="0055AA"/>
                </a:solidFill>
                <a:latin typeface="Noto Sans CJK SC"/>
              </a:rP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" y="36576"/>
            <a:ext cx="5669280" cy="365760"/>
          </a:xfrm>
          <a:prstGeom prst="rect">
            <a:avLst/>
          </a:prstGeom>
          <a:noFill/>
        </p:spPr>
        <p:txBody>
          <a:bodyPr wrap="none" lIns="25400" rIns="25400" tIns="12700" bIns="12700" anchor="ctr">
            <a:spAutoFit/>
          </a:bodyPr>
          <a:lstStyle/>
          <a:p>
            <a:pPr algn="l"/>
            <a:r>
              <a:rPr sz="2200" b="1">
                <a:solidFill>
                  <a:srgbClr val="0055AA"/>
                </a:solidFill>
                <a:latin typeface="Noto Sans CJK SC"/>
              </a:rPr>
              <a:t>核心实现</a:t>
            </a:r>
          </a:p>
        </p:txBody>
      </p:sp>
      <p:pic>
        <p:nvPicPr>
          <p:cNvPr id="5" name="Picture 4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0"/>
            <a:ext cx="2240280" cy="457200"/>
          </a:xfrm>
          <a:prstGeom prst="rect">
            <a:avLst/>
          </a:prstGeom>
        </p:spPr>
      </p:pic>
      <p:pic>
        <p:nvPicPr>
          <p:cNvPr id="6" name="Picture 5" descr="logo_full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04704" y="91440"/>
            <a:ext cx="1298448" cy="25603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58368" y="658368"/>
            <a:ext cx="6949440" cy="438912"/>
          </a:xfrm>
          <a:prstGeom prst="rect">
            <a:avLst/>
          </a:prstGeom>
          <a:noFill/>
        </p:spPr>
        <p:txBody>
          <a:bodyPr wrap="none" lIns="38100" rIns="38100" tIns="12700" bIns="12700" anchor="ctr">
            <a:spAutoFit/>
          </a:bodyPr>
          <a:lstStyle/>
          <a:p>
            <a:pPr algn="l"/>
            <a:r>
              <a:rPr sz="2400" b="1">
                <a:solidFill>
                  <a:srgbClr val="0055AA"/>
                </a:solidFill>
                <a:latin typeface="Noto Sans CJK SC"/>
              </a:rPr>
              <a:t>实现消息落库与多存储协同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1078992"/>
            <a:ext cx="6949440" cy="256032"/>
          </a:xfrm>
          <a:prstGeom prst="rect">
            <a:avLst/>
          </a:prstGeom>
          <a:noFill/>
        </p:spPr>
        <p:txBody>
          <a:bodyPr wrap="none" lIns="38100" rIns="38100" tIns="12700" bIns="12700" anchor="ctr">
            <a:spAutoFit/>
          </a:bodyPr>
          <a:lstStyle/>
          <a:p>
            <a:pPr algn="l"/>
            <a:r>
              <a:rPr sz="1150" b="0">
                <a:solidFill>
                  <a:srgbClr val="1E2A3A"/>
                </a:solidFill>
                <a:latin typeface="Noto Sans CJK SC"/>
              </a:rPr>
              <a:t>用户消息、占位消息、过程事件和终态消息形成可恢复的会话记录。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1353312"/>
            <a:ext cx="7818120" cy="4462272"/>
          </a:xfrm>
          <a:prstGeom prst="rect">
            <a:avLst/>
          </a:prstGeom>
          <a:solidFill>
            <a:srgbClr val="F9FBFE"/>
          </a:solidFill>
          <a:ln w="10160">
            <a:solidFill>
              <a:srgbClr val="D7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960120" y="1755648"/>
            <a:ext cx="1298448" cy="53035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055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14984" y="1828800"/>
            <a:ext cx="1188719" cy="201168"/>
          </a:xfrm>
          <a:prstGeom prst="rect">
            <a:avLst/>
          </a:prstGeom>
          <a:noFill/>
        </p:spPr>
        <p:txBody>
          <a:bodyPr wrap="none" lIns="38100" rIns="38100" tIns="12700" bIns="12700" anchor="ctr">
            <a:spAutoFit/>
          </a:bodyPr>
          <a:lstStyle/>
          <a:p>
            <a:pPr algn="ctr"/>
            <a:r>
              <a:rPr sz="960" b="1">
                <a:solidFill>
                  <a:srgbClr val="00459A"/>
                </a:solidFill>
                <a:latin typeface="Aptos"/>
              </a:rPr>
              <a:t>user turn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3272" y="2148840"/>
            <a:ext cx="1152144" cy="146304"/>
          </a:xfrm>
          <a:prstGeom prst="rect">
            <a:avLst/>
          </a:prstGeom>
          <a:noFill/>
        </p:spPr>
        <p:txBody>
          <a:bodyPr wrap="none" lIns="38100" rIns="38100" tIns="12700" bIns="12700" anchor="ctr">
            <a:spAutoFit/>
          </a:bodyPr>
          <a:lstStyle/>
          <a:p>
            <a:pPr algn="ctr"/>
            <a:r>
              <a:rPr sz="840" b="0">
                <a:solidFill>
                  <a:srgbClr val="222222"/>
                </a:solidFill>
                <a:latin typeface="Noto Sans CJK SC"/>
              </a:rPr>
              <a:t>用户消息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2258568" y="2020824"/>
            <a:ext cx="420623" cy="0"/>
          </a:xfrm>
          <a:prstGeom prst="line">
            <a:avLst/>
          </a:prstGeom>
          <a:ln w="12700">
            <a:solidFill>
              <a:srgbClr val="4E82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2724912" y="1755648"/>
            <a:ext cx="1298448" cy="53035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4E82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779776" y="1828800"/>
            <a:ext cx="1188719" cy="201168"/>
          </a:xfrm>
          <a:prstGeom prst="rect">
            <a:avLst/>
          </a:prstGeom>
          <a:noFill/>
        </p:spPr>
        <p:txBody>
          <a:bodyPr wrap="none" lIns="38100" rIns="38100" tIns="12700" bIns="12700" anchor="ctr">
            <a:spAutoFit/>
          </a:bodyPr>
          <a:lstStyle/>
          <a:p>
            <a:pPr algn="ctr"/>
            <a:r>
              <a:rPr sz="960" b="1">
                <a:solidFill>
                  <a:srgbClr val="00459A"/>
                </a:solidFill>
                <a:latin typeface="Aptos"/>
              </a:rPr>
              <a:t>placeholder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98064" y="2148840"/>
            <a:ext cx="1152144" cy="146304"/>
          </a:xfrm>
          <a:prstGeom prst="rect">
            <a:avLst/>
          </a:prstGeom>
          <a:noFill/>
        </p:spPr>
        <p:txBody>
          <a:bodyPr wrap="none" lIns="38100" rIns="38100" tIns="12700" bIns="12700" anchor="ctr">
            <a:spAutoFit/>
          </a:bodyPr>
          <a:lstStyle/>
          <a:p>
            <a:pPr algn="ctr"/>
            <a:r>
              <a:rPr sz="840" b="0">
                <a:solidFill>
                  <a:srgbClr val="222222"/>
                </a:solidFill>
                <a:latin typeface="Noto Sans CJK SC"/>
              </a:rPr>
              <a:t>占位消息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4023360" y="2020824"/>
            <a:ext cx="420623" cy="0"/>
          </a:xfrm>
          <a:prstGeom prst="line">
            <a:avLst/>
          </a:prstGeom>
          <a:ln w="12700">
            <a:solidFill>
              <a:srgbClr val="4E82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4489704" y="1755648"/>
            <a:ext cx="1298448" cy="53035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E82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44568" y="1828800"/>
            <a:ext cx="1188719" cy="201168"/>
          </a:xfrm>
          <a:prstGeom prst="rect">
            <a:avLst/>
          </a:prstGeom>
          <a:noFill/>
        </p:spPr>
        <p:txBody>
          <a:bodyPr wrap="none" lIns="38100" rIns="38100" tIns="12700" bIns="12700" anchor="ctr">
            <a:spAutoFit/>
          </a:bodyPr>
          <a:lstStyle/>
          <a:p>
            <a:pPr algn="ctr"/>
            <a:r>
              <a:rPr sz="960" b="1">
                <a:solidFill>
                  <a:srgbClr val="00459A"/>
                </a:solidFill>
                <a:latin typeface="Aptos"/>
              </a:rPr>
              <a:t>progress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62856" y="2148840"/>
            <a:ext cx="1152144" cy="146304"/>
          </a:xfrm>
          <a:prstGeom prst="rect">
            <a:avLst/>
          </a:prstGeom>
          <a:noFill/>
        </p:spPr>
        <p:txBody>
          <a:bodyPr wrap="none" lIns="38100" rIns="38100" tIns="12700" bIns="12700" anchor="ctr">
            <a:spAutoFit/>
          </a:bodyPr>
          <a:lstStyle/>
          <a:p>
            <a:pPr algn="ctr"/>
            <a:r>
              <a:rPr sz="840" b="0">
                <a:solidFill>
                  <a:srgbClr val="222222"/>
                </a:solidFill>
                <a:latin typeface="Noto Sans CJK SC"/>
              </a:rPr>
              <a:t>进度增量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5788152" y="2020824"/>
            <a:ext cx="420624" cy="0"/>
          </a:xfrm>
          <a:prstGeom prst="line">
            <a:avLst/>
          </a:prstGeom>
          <a:ln w="12700">
            <a:solidFill>
              <a:srgbClr val="4E82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6254496" y="1755648"/>
            <a:ext cx="1298448" cy="53035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55AA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09359" y="1828800"/>
            <a:ext cx="1188719" cy="201168"/>
          </a:xfrm>
          <a:prstGeom prst="rect">
            <a:avLst/>
          </a:prstGeom>
          <a:noFill/>
        </p:spPr>
        <p:txBody>
          <a:bodyPr wrap="none" lIns="38100" rIns="38100" tIns="12700" bIns="12700" anchor="ctr">
            <a:spAutoFit/>
          </a:bodyPr>
          <a:lstStyle/>
          <a:p>
            <a:pPr algn="ctr"/>
            <a:r>
              <a:rPr sz="960" b="1">
                <a:solidFill>
                  <a:srgbClr val="00459A"/>
                </a:solidFill>
                <a:latin typeface="Aptos"/>
              </a:rPr>
              <a:t>terminal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27648" y="2148840"/>
            <a:ext cx="1152144" cy="146304"/>
          </a:xfrm>
          <a:prstGeom prst="rect">
            <a:avLst/>
          </a:prstGeom>
          <a:noFill/>
        </p:spPr>
        <p:txBody>
          <a:bodyPr wrap="none" lIns="38100" rIns="38100" tIns="12700" bIns="12700" anchor="ctr">
            <a:spAutoFit/>
          </a:bodyPr>
          <a:lstStyle/>
          <a:p>
            <a:pPr algn="ctr"/>
            <a:r>
              <a:rPr sz="840" b="0">
                <a:solidFill>
                  <a:srgbClr val="222222"/>
                </a:solidFill>
                <a:latin typeface="Noto Sans CJK SC"/>
              </a:rPr>
              <a:t>完成 / 失败 / 取消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148840" y="2880360"/>
            <a:ext cx="4434840" cy="566928"/>
          </a:xfrm>
          <a:prstGeom prst="roundRect">
            <a:avLst/>
          </a:prstGeom>
          <a:solidFill>
            <a:srgbClr val="E9F3FF"/>
          </a:solidFill>
          <a:ln w="15240">
            <a:solidFill>
              <a:srgbClr val="0055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00459A"/>
                </a:solidFill>
                <a:latin typeface="Noto Sans CJK SC"/>
              </a:rPr>
              <a:t>public-service 会话 authority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4370832" y="3447288"/>
            <a:ext cx="0" cy="374903"/>
          </a:xfrm>
          <a:prstGeom prst="line">
            <a:avLst/>
          </a:prstGeom>
          <a:ln w="12700">
            <a:solidFill>
              <a:srgbClr val="4E82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1572768" y="3822191"/>
            <a:ext cx="5486400" cy="0"/>
          </a:xfrm>
          <a:prstGeom prst="line">
            <a:avLst/>
          </a:prstGeom>
          <a:ln w="12700">
            <a:solidFill>
              <a:srgbClr val="4E82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932688" y="4096512"/>
            <a:ext cx="1353312" cy="5486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055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87552" y="4169664"/>
            <a:ext cx="1243584" cy="201168"/>
          </a:xfrm>
          <a:prstGeom prst="rect">
            <a:avLst/>
          </a:prstGeom>
          <a:noFill/>
        </p:spPr>
        <p:txBody>
          <a:bodyPr wrap="none" lIns="38100" rIns="38100" tIns="12700" bIns="12700" anchor="ctr">
            <a:spAutoFit/>
          </a:bodyPr>
          <a:lstStyle/>
          <a:p>
            <a:pPr algn="ctr"/>
            <a:r>
              <a:rPr sz="950" b="1">
                <a:solidFill>
                  <a:srgbClr val="00459A"/>
                </a:solidFill>
                <a:latin typeface="Aptos"/>
              </a:rPr>
              <a:t>MySQL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05840" y="4489704"/>
            <a:ext cx="1207008" cy="146304"/>
          </a:xfrm>
          <a:prstGeom prst="rect">
            <a:avLst/>
          </a:prstGeom>
          <a:noFill/>
        </p:spPr>
        <p:txBody>
          <a:bodyPr wrap="none" lIns="38100" rIns="38100" tIns="12700" bIns="12700" anchor="ctr">
            <a:spAutoFit/>
          </a:bodyPr>
          <a:lstStyle/>
          <a:p>
            <a:pPr algn="ctr"/>
            <a:r>
              <a:rPr sz="840" b="0">
                <a:solidFill>
                  <a:srgbClr val="222222"/>
                </a:solidFill>
                <a:latin typeface="Noto Sans CJK SC"/>
              </a:rPr>
              <a:t>用户 / 会话 / 元数据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1609344" y="3822191"/>
            <a:ext cx="0" cy="274321"/>
          </a:xfrm>
          <a:prstGeom prst="line">
            <a:avLst/>
          </a:prstGeom>
          <a:ln w="12700">
            <a:solidFill>
              <a:srgbClr val="4E82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ounded Rectangle 31"/>
          <p:cNvSpPr/>
          <p:nvPr/>
        </p:nvSpPr>
        <p:spPr>
          <a:xfrm>
            <a:off x="2907792" y="4096512"/>
            <a:ext cx="1353312" cy="5486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4E82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962656" y="4169664"/>
            <a:ext cx="1243584" cy="201168"/>
          </a:xfrm>
          <a:prstGeom prst="rect">
            <a:avLst/>
          </a:prstGeom>
          <a:noFill/>
        </p:spPr>
        <p:txBody>
          <a:bodyPr wrap="none" lIns="38100" rIns="38100" tIns="12700" bIns="12700" anchor="ctr">
            <a:spAutoFit/>
          </a:bodyPr>
          <a:lstStyle/>
          <a:p>
            <a:pPr algn="ctr"/>
            <a:r>
              <a:rPr sz="950" b="1">
                <a:solidFill>
                  <a:srgbClr val="00459A"/>
                </a:solidFill>
                <a:latin typeface="Noto Sans CJK SC"/>
              </a:rPr>
              <a:t>JSON 文档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980944" y="4489704"/>
            <a:ext cx="1207008" cy="146304"/>
          </a:xfrm>
          <a:prstGeom prst="rect">
            <a:avLst/>
          </a:prstGeom>
          <a:noFill/>
        </p:spPr>
        <p:txBody>
          <a:bodyPr wrap="none" lIns="38100" rIns="38100" tIns="12700" bIns="12700" anchor="ctr">
            <a:spAutoFit/>
          </a:bodyPr>
          <a:lstStyle/>
          <a:p>
            <a:pPr algn="ctr"/>
            <a:r>
              <a:rPr sz="840" b="0">
                <a:solidFill>
                  <a:srgbClr val="222222"/>
                </a:solidFill>
                <a:latin typeface="Noto Sans CJK SC"/>
              </a:rPr>
              <a:t>历史回放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3584448" y="3822191"/>
            <a:ext cx="0" cy="274321"/>
          </a:xfrm>
          <a:prstGeom prst="line">
            <a:avLst/>
          </a:prstGeom>
          <a:ln w="12700">
            <a:solidFill>
              <a:srgbClr val="4E82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ounded Rectangle 35"/>
          <p:cNvSpPr/>
          <p:nvPr/>
        </p:nvSpPr>
        <p:spPr>
          <a:xfrm>
            <a:off x="4882896" y="4096512"/>
            <a:ext cx="1353312" cy="5486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55AA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937759" y="4169664"/>
            <a:ext cx="1243584" cy="201168"/>
          </a:xfrm>
          <a:prstGeom prst="rect">
            <a:avLst/>
          </a:prstGeom>
          <a:noFill/>
        </p:spPr>
        <p:txBody>
          <a:bodyPr wrap="none" lIns="38100" rIns="38100" tIns="12700" bIns="12700" anchor="ctr">
            <a:spAutoFit/>
          </a:bodyPr>
          <a:lstStyle/>
          <a:p>
            <a:pPr algn="ctr"/>
            <a:r>
              <a:rPr sz="950" b="1">
                <a:solidFill>
                  <a:srgbClr val="00459A"/>
                </a:solidFill>
                <a:latin typeface="Aptos"/>
              </a:rPr>
              <a:t>MinIO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956048" y="4489704"/>
            <a:ext cx="1207008" cy="146304"/>
          </a:xfrm>
          <a:prstGeom prst="rect">
            <a:avLst/>
          </a:prstGeom>
          <a:noFill/>
        </p:spPr>
        <p:txBody>
          <a:bodyPr wrap="none" lIns="38100" rIns="38100" tIns="12700" bIns="12700" anchor="ctr">
            <a:spAutoFit/>
          </a:bodyPr>
          <a:lstStyle/>
          <a:p>
            <a:pPr algn="ctr"/>
            <a:r>
              <a:rPr sz="840" b="0">
                <a:solidFill>
                  <a:srgbClr val="222222"/>
                </a:solidFill>
                <a:latin typeface="Noto Sans CJK SC"/>
              </a:rPr>
              <a:t>文件对象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5559552" y="3822191"/>
            <a:ext cx="0" cy="274321"/>
          </a:xfrm>
          <a:prstGeom prst="line">
            <a:avLst/>
          </a:prstGeom>
          <a:ln w="12700">
            <a:solidFill>
              <a:srgbClr val="4E82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Rounded Rectangle 39"/>
          <p:cNvSpPr/>
          <p:nvPr/>
        </p:nvSpPr>
        <p:spPr>
          <a:xfrm>
            <a:off x="6492240" y="4096512"/>
            <a:ext cx="1353312" cy="5486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E82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547103" y="4169664"/>
            <a:ext cx="1243584" cy="201168"/>
          </a:xfrm>
          <a:prstGeom prst="rect">
            <a:avLst/>
          </a:prstGeom>
          <a:noFill/>
        </p:spPr>
        <p:txBody>
          <a:bodyPr wrap="none" lIns="38100" rIns="38100" tIns="12700" bIns="12700" anchor="ctr">
            <a:spAutoFit/>
          </a:bodyPr>
          <a:lstStyle/>
          <a:p>
            <a:pPr algn="ctr"/>
            <a:r>
              <a:rPr sz="950" b="1">
                <a:solidFill>
                  <a:srgbClr val="00459A"/>
                </a:solidFill>
                <a:latin typeface="Aptos"/>
              </a:rPr>
              <a:t>Redis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565392" y="4489704"/>
            <a:ext cx="1207008" cy="146304"/>
          </a:xfrm>
          <a:prstGeom prst="rect">
            <a:avLst/>
          </a:prstGeom>
          <a:noFill/>
        </p:spPr>
        <p:txBody>
          <a:bodyPr wrap="none" lIns="38100" rIns="38100" tIns="12700" bIns="12700" anchor="ctr">
            <a:spAutoFit/>
          </a:bodyPr>
          <a:lstStyle/>
          <a:p>
            <a:pPr algn="ctr"/>
            <a:r>
              <a:rPr sz="840" b="0">
                <a:solidFill>
                  <a:srgbClr val="222222"/>
                </a:solidFill>
                <a:latin typeface="Noto Sans CJK SC"/>
              </a:rPr>
              <a:t>状态 / 队列 / 缓存</a:t>
            </a:r>
          </a:p>
        </p:txBody>
      </p:sp>
      <p:cxnSp>
        <p:nvCxnSpPr>
          <p:cNvPr id="43" name="Connector 42"/>
          <p:cNvCxnSpPr/>
          <p:nvPr/>
        </p:nvCxnSpPr>
        <p:spPr>
          <a:xfrm>
            <a:off x="7168896" y="3822191"/>
            <a:ext cx="0" cy="274321"/>
          </a:xfrm>
          <a:prstGeom prst="line">
            <a:avLst/>
          </a:prstGeom>
          <a:ln w="12700">
            <a:solidFill>
              <a:srgbClr val="4E82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Rounded Rectangle 43"/>
          <p:cNvSpPr/>
          <p:nvPr/>
        </p:nvSpPr>
        <p:spPr>
          <a:xfrm>
            <a:off x="8641080" y="1353312"/>
            <a:ext cx="2834640" cy="12984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055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769096" y="1426464"/>
            <a:ext cx="2578608" cy="219456"/>
          </a:xfrm>
          <a:prstGeom prst="rect">
            <a:avLst/>
          </a:prstGeom>
          <a:noFill/>
        </p:spPr>
        <p:txBody>
          <a:bodyPr wrap="none" lIns="38100" rIns="38100" tIns="12700" bIns="12700" anchor="ctr">
            <a:spAutoFit/>
          </a:bodyPr>
          <a:lstStyle/>
          <a:p>
            <a:pPr algn="ctr"/>
            <a:r>
              <a:rPr sz="1180" b="1">
                <a:solidFill>
                  <a:srgbClr val="0055AA"/>
                </a:solidFill>
                <a:latin typeface="Noto Sans CJK SC"/>
              </a:rPr>
              <a:t>已实现：会话权威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787384" y="1700784"/>
            <a:ext cx="2542032" cy="859536"/>
          </a:xfrm>
          <a:prstGeom prst="rect">
            <a:avLst/>
          </a:prstGeom>
          <a:noFill/>
        </p:spPr>
        <p:txBody>
          <a:bodyPr wrap="square" lIns="63500" rIns="63500" tIns="38100" bIns="38100" anchor="ctr">
            <a:spAutoFit/>
          </a:bodyPr>
          <a:lstStyle/>
          <a:p>
            <a:pPr algn="l">
              <a:spcAft>
                <a:spcPts val="100"/>
              </a:spcAft>
            </a:pPr>
            <a:r>
              <a:rPr sz="860">
                <a:solidFill>
                  <a:srgbClr val="222222"/>
                </a:solidFill>
                <a:latin typeface="Noto Sans CJK SC"/>
              </a:rPr>
              <a:t>public-service 统一写入用户消息、</a:t>
            </a:r>
          </a:p>
          <a:p>
            <a:pPr algn="l">
              <a:spcAft>
                <a:spcPts val="100"/>
              </a:spcAft>
            </a:pPr>
            <a:r>
              <a:rPr sz="860">
                <a:solidFill>
                  <a:srgbClr val="222222"/>
                </a:solidFill>
                <a:latin typeface="Noto Sans CJK SC"/>
              </a:rPr>
              <a:t>assistant 占位消息、进度增量和终态消息。</a:t>
            </a:r>
          </a:p>
          <a:p>
            <a:pPr algn="l">
              <a:spcAft>
                <a:spcPts val="100"/>
              </a:spcAft>
            </a:pPr>
            <a:r>
              <a:rPr sz="860">
                <a:solidFill>
                  <a:srgbClr val="222222"/>
                </a:solidFill>
                <a:latin typeface="Noto Sans CJK SC"/>
              </a:rPr>
              <a:t>前端历史回放以公共服务记录为准。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8641080" y="2779776"/>
            <a:ext cx="2834640" cy="12984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55AA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769096" y="2852928"/>
            <a:ext cx="2578608" cy="219456"/>
          </a:xfrm>
          <a:prstGeom prst="rect">
            <a:avLst/>
          </a:prstGeom>
          <a:noFill/>
        </p:spPr>
        <p:txBody>
          <a:bodyPr wrap="none" lIns="38100" rIns="38100" tIns="12700" bIns="12700" anchor="ctr">
            <a:spAutoFit/>
          </a:bodyPr>
          <a:lstStyle/>
          <a:p>
            <a:pPr algn="ctr"/>
            <a:r>
              <a:rPr sz="1180" b="1">
                <a:solidFill>
                  <a:srgbClr val="55AA66"/>
                </a:solidFill>
                <a:latin typeface="Noto Sans CJK SC"/>
              </a:rPr>
              <a:t>已实现：存储落点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787384" y="3127248"/>
            <a:ext cx="2542032" cy="859536"/>
          </a:xfrm>
          <a:prstGeom prst="rect">
            <a:avLst/>
          </a:prstGeom>
          <a:noFill/>
        </p:spPr>
        <p:txBody>
          <a:bodyPr wrap="square" lIns="63500" rIns="63500" tIns="38100" bIns="38100" anchor="ctr">
            <a:spAutoFit/>
          </a:bodyPr>
          <a:lstStyle/>
          <a:p>
            <a:pPr algn="l">
              <a:spcAft>
                <a:spcPts val="100"/>
              </a:spcAft>
            </a:pPr>
            <a:r>
              <a:rPr sz="860">
                <a:solidFill>
                  <a:srgbClr val="222222"/>
                </a:solidFill>
                <a:latin typeface="Noto Sans CJK SC"/>
              </a:rPr>
              <a:t>MySQL 保存用户、会话和元数据，</a:t>
            </a:r>
          </a:p>
          <a:p>
            <a:pPr algn="l">
              <a:spcAft>
                <a:spcPts val="100"/>
              </a:spcAft>
            </a:pPr>
            <a:r>
              <a:rPr sz="860">
                <a:solidFill>
                  <a:srgbClr val="222222"/>
                </a:solidFill>
                <a:latin typeface="Noto Sans CJK SC"/>
              </a:rPr>
              <a:t>JSON 记录支撑历史回放，MinIO 保存文件与原文对象。</a:t>
            </a:r>
          </a:p>
          <a:p>
            <a:pPr algn="l">
              <a:spcAft>
                <a:spcPts val="100"/>
              </a:spcAft>
            </a:pPr>
            <a:r>
              <a:rPr sz="860">
                <a:solidFill>
                  <a:srgbClr val="222222"/>
                </a:solidFill>
                <a:latin typeface="Noto Sans CJK SC"/>
              </a:rPr>
              <a:t>业务记录和对象引用可以相互对应。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8641080" y="4206240"/>
            <a:ext cx="2834640" cy="12984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E82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8769096" y="4279392"/>
            <a:ext cx="2578608" cy="219456"/>
          </a:xfrm>
          <a:prstGeom prst="rect">
            <a:avLst/>
          </a:prstGeom>
          <a:noFill/>
        </p:spPr>
        <p:txBody>
          <a:bodyPr wrap="none" lIns="38100" rIns="38100" tIns="12700" bIns="12700" anchor="ctr">
            <a:spAutoFit/>
          </a:bodyPr>
          <a:lstStyle/>
          <a:p>
            <a:pPr algn="ctr"/>
            <a:r>
              <a:rPr sz="1180" b="1">
                <a:solidFill>
                  <a:srgbClr val="EE822F"/>
                </a:solidFill>
                <a:latin typeface="Noto Sans CJK SC"/>
              </a:rPr>
              <a:t>已实现：运行状态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787384" y="4553712"/>
            <a:ext cx="2542032" cy="859536"/>
          </a:xfrm>
          <a:prstGeom prst="rect">
            <a:avLst/>
          </a:prstGeom>
          <a:noFill/>
        </p:spPr>
        <p:txBody>
          <a:bodyPr wrap="square" lIns="63500" rIns="63500" tIns="38100" bIns="38100" anchor="ctr">
            <a:spAutoFit/>
          </a:bodyPr>
          <a:lstStyle/>
          <a:p>
            <a:pPr algn="l">
              <a:spcAft>
                <a:spcPts val="100"/>
              </a:spcAft>
            </a:pPr>
            <a:r>
              <a:rPr sz="860">
                <a:solidFill>
                  <a:srgbClr val="222222"/>
                </a:solidFill>
                <a:latin typeface="Noto Sans CJK SC"/>
              </a:rPr>
              <a:t>Redis 承接任务状态、队列和短期缓存，</a:t>
            </a:r>
          </a:p>
          <a:p>
            <a:pPr algn="l">
              <a:spcAft>
                <a:spcPts val="100"/>
              </a:spcAft>
            </a:pPr>
            <a:r>
              <a:rPr sz="860">
                <a:solidFill>
                  <a:srgbClr val="222222"/>
                </a:solidFill>
                <a:latin typeface="Noto Sans CJK SC"/>
              </a:rPr>
              <a:t>用于刷新恢复、并行任务和事件回放。</a:t>
            </a:r>
          </a:p>
          <a:p>
            <a:pPr algn="l">
              <a:spcAft>
                <a:spcPts val="100"/>
              </a:spcAft>
            </a:pPr>
            <a:r>
              <a:rPr sz="860">
                <a:solidFill>
                  <a:srgbClr val="222222"/>
                </a:solidFill>
                <a:latin typeface="Noto Sans CJK SC"/>
              </a:rPr>
              <a:t>任务排队、状态维护、消息终态统一协同。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3154680" y="6236208"/>
            <a:ext cx="1097280" cy="201168"/>
          </a:xfrm>
          <a:prstGeom prst="rect">
            <a:avLst/>
          </a:prstGeom>
          <a:noFill/>
        </p:spPr>
        <p:txBody>
          <a:bodyPr wrap="none" lIns="25400" rIns="25400" tIns="12700" bIns="12700" anchor="ctr">
            <a:spAutoFit/>
          </a:bodyPr>
          <a:lstStyle/>
          <a:p>
            <a:pPr algn="r"/>
            <a:r>
              <a:rPr sz="1000" b="0">
                <a:solidFill>
                  <a:srgbClr val="0055AA"/>
                </a:solidFill>
                <a:latin typeface="Noto Sans CJK SC"/>
              </a:rPr>
              <a:t>创新成就卓越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370832" y="6236208"/>
            <a:ext cx="2743200" cy="201168"/>
          </a:xfrm>
          <a:prstGeom prst="rect">
            <a:avLst/>
          </a:prstGeom>
          <a:noFill/>
        </p:spPr>
        <p:txBody>
          <a:bodyPr wrap="none" lIns="25400" rIns="25400" tIns="12700" bIns="12700" anchor="ctr">
            <a:spAutoFit/>
          </a:bodyPr>
          <a:lstStyle/>
          <a:p>
            <a:pPr algn="l"/>
            <a:r>
              <a:rPr sz="1000" b="0">
                <a:solidFill>
                  <a:srgbClr val="666666"/>
                </a:solidFill>
                <a:latin typeface="Noto Sans CJK SC"/>
              </a:rPr>
              <a:t>INNOVATION CREATES EXCELLENCE</a:t>
            </a:r>
          </a:p>
        </p:txBody>
      </p:sp>
      <p:sp>
        <p:nvSpPr>
          <p:cNvPr id="55" name="Rectangle 54"/>
          <p:cNvSpPr/>
          <p:nvPr/>
        </p:nvSpPr>
        <p:spPr>
          <a:xfrm>
            <a:off x="9555480" y="6629400"/>
            <a:ext cx="2651760" cy="36576"/>
          </a:xfrm>
          <a:prstGeom prst="rect">
            <a:avLst/>
          </a:prstGeom>
          <a:solidFill>
            <a:srgbClr val="B6C0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0" y="6702552"/>
            <a:ext cx="12191999" cy="36576"/>
          </a:xfrm>
          <a:prstGeom prst="rect">
            <a:avLst/>
          </a:prstGeom>
          <a:solidFill>
            <a:srgbClr val="EEEF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457200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94944" y="73152"/>
            <a:ext cx="502920" cy="274320"/>
          </a:xfrm>
          <a:prstGeom prst="rect">
            <a:avLst/>
          </a:prstGeom>
          <a:noFill/>
        </p:spPr>
        <p:txBody>
          <a:bodyPr wrap="none" lIns="25400" rIns="25400" tIns="12700" bIns="12700" anchor="ctr">
            <a:spAutoFit/>
          </a:bodyPr>
          <a:lstStyle/>
          <a:p>
            <a:pPr algn="l"/>
            <a:r>
              <a:rPr sz="1700" b="1">
                <a:solidFill>
                  <a:srgbClr val="0055AA"/>
                </a:solidFill>
                <a:latin typeface="Noto Sans CJK SC"/>
              </a:rP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" y="36576"/>
            <a:ext cx="5669280" cy="365760"/>
          </a:xfrm>
          <a:prstGeom prst="rect">
            <a:avLst/>
          </a:prstGeom>
          <a:noFill/>
        </p:spPr>
        <p:txBody>
          <a:bodyPr wrap="none" lIns="25400" rIns="25400" tIns="12700" bIns="12700" anchor="ctr">
            <a:spAutoFit/>
          </a:bodyPr>
          <a:lstStyle/>
          <a:p>
            <a:pPr algn="l"/>
            <a:r>
              <a:rPr sz="2200" b="1">
                <a:solidFill>
                  <a:srgbClr val="0055AA"/>
                </a:solidFill>
                <a:latin typeface="Noto Sans CJK SC"/>
              </a:rPr>
              <a:t>核心实现</a:t>
            </a:r>
          </a:p>
        </p:txBody>
      </p:sp>
      <p:pic>
        <p:nvPicPr>
          <p:cNvPr id="5" name="Picture 4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0"/>
            <a:ext cx="2240280" cy="457200"/>
          </a:xfrm>
          <a:prstGeom prst="rect">
            <a:avLst/>
          </a:prstGeom>
        </p:spPr>
      </p:pic>
      <p:pic>
        <p:nvPicPr>
          <p:cNvPr id="6" name="Picture 5" descr="logo_full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04704" y="91440"/>
            <a:ext cx="1298448" cy="25603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58368" y="658368"/>
            <a:ext cx="6949440" cy="438912"/>
          </a:xfrm>
          <a:prstGeom prst="rect">
            <a:avLst/>
          </a:prstGeom>
          <a:noFill/>
        </p:spPr>
        <p:txBody>
          <a:bodyPr wrap="none" lIns="38100" rIns="38100" tIns="12700" bIns="12700" anchor="ctr">
            <a:spAutoFit/>
          </a:bodyPr>
          <a:lstStyle/>
          <a:p>
            <a:pPr algn="l"/>
            <a:r>
              <a:rPr sz="2400" b="1">
                <a:solidFill>
                  <a:srgbClr val="0055AA"/>
                </a:solidFill>
                <a:latin typeface="Noto Sans CJK SC"/>
              </a:rPr>
              <a:t>实现文件上传与 MinIO 持久化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1078992"/>
            <a:ext cx="6949440" cy="256032"/>
          </a:xfrm>
          <a:prstGeom prst="rect">
            <a:avLst/>
          </a:prstGeom>
          <a:noFill/>
        </p:spPr>
        <p:txBody>
          <a:bodyPr wrap="none" lIns="38100" rIns="38100" tIns="12700" bIns="12700" anchor="ctr">
            <a:spAutoFit/>
          </a:bodyPr>
          <a:lstStyle/>
          <a:p>
            <a:pPr algn="l"/>
            <a:r>
              <a:rPr sz="1150" b="0">
                <a:solidFill>
                  <a:srgbClr val="1E2A3A"/>
                </a:solidFill>
                <a:latin typeface="Noto Sans CJK SC"/>
              </a:rPr>
              <a:t>文件对象写入 MinIO，业务侧保留 file_id 与 storage_ref 供后续链路复用。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1353312"/>
            <a:ext cx="7818120" cy="4462272"/>
          </a:xfrm>
          <a:prstGeom prst="rect">
            <a:avLst/>
          </a:prstGeom>
          <a:solidFill>
            <a:srgbClr val="F9FBFE"/>
          </a:solidFill>
          <a:ln w="10160">
            <a:solidFill>
              <a:srgbClr val="D7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04672" y="1499616"/>
            <a:ext cx="7498079" cy="3986784"/>
          </a:xfrm>
          <a:prstGeom prst="rect">
            <a:avLst/>
          </a:prstGeom>
          <a:solidFill>
            <a:srgbClr val="FFFFFF"/>
          </a:solidFill>
          <a:ln w="10160">
            <a:solidFill>
              <a:srgbClr val="D7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060704" y="1700784"/>
            <a:ext cx="1024128" cy="38404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055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15568" y="1773936"/>
            <a:ext cx="914400" cy="201168"/>
          </a:xfrm>
          <a:prstGeom prst="rect">
            <a:avLst/>
          </a:prstGeom>
          <a:noFill/>
        </p:spPr>
        <p:txBody>
          <a:bodyPr wrap="none" lIns="38100" rIns="38100" tIns="12700" bIns="12700" anchor="ctr">
            <a:spAutoFit/>
          </a:bodyPr>
          <a:lstStyle/>
          <a:p>
            <a:pPr algn="ctr"/>
            <a:r>
              <a:rPr sz="880" b="1">
                <a:solidFill>
                  <a:srgbClr val="00459A"/>
                </a:solidFill>
                <a:latin typeface="Noto Sans CJK SC"/>
              </a:rPr>
              <a:t>前端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1572768" y="2103120"/>
            <a:ext cx="0" cy="3108960"/>
          </a:xfrm>
          <a:prstGeom prst="line">
            <a:avLst/>
          </a:prstGeom>
          <a:ln w="8890">
            <a:solidFill>
              <a:srgbClr val="D7DE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2253081" y="1700784"/>
            <a:ext cx="1024128" cy="38404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055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307945" y="1773936"/>
            <a:ext cx="914400" cy="201168"/>
          </a:xfrm>
          <a:prstGeom prst="rect">
            <a:avLst/>
          </a:prstGeom>
          <a:noFill/>
        </p:spPr>
        <p:txBody>
          <a:bodyPr wrap="none" lIns="38100" rIns="38100" tIns="12700" bIns="12700" anchor="ctr">
            <a:spAutoFit/>
          </a:bodyPr>
          <a:lstStyle/>
          <a:p>
            <a:pPr algn="ctr"/>
            <a:r>
              <a:rPr sz="880" b="1">
                <a:solidFill>
                  <a:srgbClr val="00459A"/>
                </a:solidFill>
                <a:latin typeface="Aptos"/>
              </a:rPr>
              <a:t>gateway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2765145" y="2103120"/>
            <a:ext cx="0" cy="3108960"/>
          </a:xfrm>
          <a:prstGeom prst="line">
            <a:avLst/>
          </a:prstGeom>
          <a:ln w="8890">
            <a:solidFill>
              <a:srgbClr val="D7DE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3445459" y="1700784"/>
            <a:ext cx="1024128" cy="38404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055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500323" y="1773936"/>
            <a:ext cx="914400" cy="201168"/>
          </a:xfrm>
          <a:prstGeom prst="rect">
            <a:avLst/>
          </a:prstGeom>
          <a:noFill/>
        </p:spPr>
        <p:txBody>
          <a:bodyPr wrap="none" lIns="38100" rIns="38100" tIns="12700" bIns="12700" anchor="ctr">
            <a:spAutoFit/>
          </a:bodyPr>
          <a:lstStyle/>
          <a:p>
            <a:pPr algn="ctr"/>
            <a:r>
              <a:rPr sz="880" b="1">
                <a:solidFill>
                  <a:srgbClr val="00459A"/>
                </a:solidFill>
                <a:latin typeface="Aptos"/>
              </a:rPr>
              <a:t>public-service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3957523" y="2103120"/>
            <a:ext cx="0" cy="3108960"/>
          </a:xfrm>
          <a:prstGeom prst="line">
            <a:avLst/>
          </a:prstGeom>
          <a:ln w="8890">
            <a:solidFill>
              <a:srgbClr val="D7DE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4637836" y="1700784"/>
            <a:ext cx="1024128" cy="38404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055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692700" y="1773936"/>
            <a:ext cx="914400" cy="201168"/>
          </a:xfrm>
          <a:prstGeom prst="rect">
            <a:avLst/>
          </a:prstGeom>
          <a:noFill/>
        </p:spPr>
        <p:txBody>
          <a:bodyPr wrap="none" lIns="38100" rIns="38100" tIns="12700" bIns="12700" anchor="ctr">
            <a:spAutoFit/>
          </a:bodyPr>
          <a:lstStyle/>
          <a:p>
            <a:pPr algn="ctr"/>
            <a:r>
              <a:rPr sz="880" b="1">
                <a:solidFill>
                  <a:srgbClr val="00459A"/>
                </a:solidFill>
                <a:latin typeface="Aptos"/>
              </a:rPr>
              <a:t>MinIO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5149900" y="2103120"/>
            <a:ext cx="0" cy="3108960"/>
          </a:xfrm>
          <a:prstGeom prst="line">
            <a:avLst/>
          </a:prstGeom>
          <a:ln w="8890">
            <a:solidFill>
              <a:srgbClr val="D7DE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5830214" y="1700784"/>
            <a:ext cx="1024128" cy="38404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055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885078" y="1773936"/>
            <a:ext cx="914400" cy="201168"/>
          </a:xfrm>
          <a:prstGeom prst="rect">
            <a:avLst/>
          </a:prstGeom>
          <a:noFill/>
        </p:spPr>
        <p:txBody>
          <a:bodyPr wrap="none" lIns="38100" rIns="38100" tIns="12700" bIns="12700" anchor="ctr">
            <a:spAutoFit/>
          </a:bodyPr>
          <a:lstStyle/>
          <a:p>
            <a:pPr algn="ctr"/>
            <a:r>
              <a:rPr sz="880" b="1">
                <a:solidFill>
                  <a:srgbClr val="00459A"/>
                </a:solidFill>
                <a:latin typeface="Aptos"/>
              </a:rPr>
              <a:t>MySQL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6342278" y="2103120"/>
            <a:ext cx="0" cy="3108960"/>
          </a:xfrm>
          <a:prstGeom prst="line">
            <a:avLst/>
          </a:prstGeom>
          <a:ln w="8890">
            <a:solidFill>
              <a:srgbClr val="D7DE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7022591" y="1700784"/>
            <a:ext cx="1024128" cy="38404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055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077455" y="1773936"/>
            <a:ext cx="914400" cy="201168"/>
          </a:xfrm>
          <a:prstGeom prst="rect">
            <a:avLst/>
          </a:prstGeom>
          <a:noFill/>
        </p:spPr>
        <p:txBody>
          <a:bodyPr wrap="none" lIns="38100" rIns="38100" tIns="12700" bIns="12700" anchor="ctr">
            <a:spAutoFit/>
          </a:bodyPr>
          <a:lstStyle/>
          <a:p>
            <a:pPr algn="ctr"/>
            <a:r>
              <a:rPr sz="880" b="1">
                <a:solidFill>
                  <a:srgbClr val="00459A"/>
                </a:solidFill>
                <a:latin typeface="Noto Sans CJK SC"/>
              </a:rPr>
              <a:t>QA 服务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7534655" y="2103120"/>
            <a:ext cx="0" cy="3108960"/>
          </a:xfrm>
          <a:prstGeom prst="line">
            <a:avLst/>
          </a:prstGeom>
          <a:ln w="8890">
            <a:solidFill>
              <a:srgbClr val="D7DE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1572768" y="2286000"/>
            <a:ext cx="1192377" cy="0"/>
          </a:xfrm>
          <a:prstGeom prst="line">
            <a:avLst/>
          </a:prstGeom>
          <a:ln w="11430">
            <a:solidFill>
              <a:srgbClr val="0055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1618488" y="2121408"/>
            <a:ext cx="1100937" cy="146304"/>
          </a:xfrm>
          <a:prstGeom prst="rect">
            <a:avLst/>
          </a:prstGeom>
          <a:noFill/>
        </p:spPr>
        <p:txBody>
          <a:bodyPr wrap="none" lIns="38100" rIns="38100" tIns="12700" bIns="12700" anchor="ctr">
            <a:spAutoFit/>
          </a:bodyPr>
          <a:lstStyle/>
          <a:p>
            <a:pPr algn="ctr"/>
            <a:r>
              <a:rPr sz="770" b="0">
                <a:solidFill>
                  <a:srgbClr val="1E2A3A"/>
                </a:solidFill>
                <a:latin typeface="Noto Sans CJK SC"/>
              </a:rPr>
              <a:t>上传 PDF / Excel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2765145" y="2651760"/>
            <a:ext cx="1192378" cy="0"/>
          </a:xfrm>
          <a:prstGeom prst="line">
            <a:avLst/>
          </a:prstGeom>
          <a:ln w="11430">
            <a:solidFill>
              <a:srgbClr val="4E82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2810865" y="2487168"/>
            <a:ext cx="1100937" cy="146304"/>
          </a:xfrm>
          <a:prstGeom prst="rect">
            <a:avLst/>
          </a:prstGeom>
          <a:noFill/>
        </p:spPr>
        <p:txBody>
          <a:bodyPr wrap="none" lIns="38100" rIns="38100" tIns="12700" bIns="12700" anchor="ctr">
            <a:spAutoFit/>
          </a:bodyPr>
          <a:lstStyle/>
          <a:p>
            <a:pPr algn="ctr"/>
            <a:r>
              <a:rPr sz="770" b="0">
                <a:solidFill>
                  <a:srgbClr val="1E2A3A"/>
                </a:solidFill>
                <a:latin typeface="Noto Sans CJK SC"/>
              </a:rPr>
              <a:t>代理上传接口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3957523" y="3017520"/>
            <a:ext cx="1192377" cy="0"/>
          </a:xfrm>
          <a:prstGeom prst="line">
            <a:avLst/>
          </a:prstGeom>
          <a:ln w="11430">
            <a:solidFill>
              <a:srgbClr val="55AA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4003243" y="2852927"/>
            <a:ext cx="1100937" cy="146304"/>
          </a:xfrm>
          <a:prstGeom prst="rect">
            <a:avLst/>
          </a:prstGeom>
          <a:noFill/>
        </p:spPr>
        <p:txBody>
          <a:bodyPr wrap="none" lIns="38100" rIns="38100" tIns="12700" bIns="12700" anchor="ctr">
            <a:spAutoFit/>
          </a:bodyPr>
          <a:lstStyle/>
          <a:p>
            <a:pPr algn="ctr"/>
            <a:r>
              <a:rPr sz="770" b="0">
                <a:solidFill>
                  <a:srgbClr val="1E2A3A"/>
                </a:solidFill>
                <a:latin typeface="Noto Sans CJK SC"/>
              </a:rPr>
              <a:t>put object / storage_ref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3957523" y="3383280"/>
            <a:ext cx="2384755" cy="0"/>
          </a:xfrm>
          <a:prstGeom prst="line">
            <a:avLst/>
          </a:prstGeom>
          <a:ln w="11430">
            <a:solidFill>
              <a:srgbClr val="30C0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4003243" y="3218688"/>
            <a:ext cx="2293315" cy="146304"/>
          </a:xfrm>
          <a:prstGeom prst="rect">
            <a:avLst/>
          </a:prstGeom>
          <a:noFill/>
        </p:spPr>
        <p:txBody>
          <a:bodyPr wrap="none" lIns="38100" rIns="38100" tIns="12700" bIns="12700" anchor="ctr">
            <a:spAutoFit/>
          </a:bodyPr>
          <a:lstStyle/>
          <a:p>
            <a:pPr algn="ctr"/>
            <a:r>
              <a:rPr sz="770" b="0">
                <a:solidFill>
                  <a:srgbClr val="1E2A3A"/>
                </a:solidFill>
                <a:latin typeface="Noto Sans CJK SC"/>
              </a:rPr>
              <a:t>登记文件元数据</a:t>
            </a:r>
          </a:p>
        </p:txBody>
      </p:sp>
      <p:cxnSp>
        <p:nvCxnSpPr>
          <p:cNvPr id="37" name="Connector 36"/>
          <p:cNvCxnSpPr/>
          <p:nvPr/>
        </p:nvCxnSpPr>
        <p:spPr>
          <a:xfrm flipH="1">
            <a:off x="1572768" y="3749039"/>
            <a:ext cx="2384755" cy="0"/>
          </a:xfrm>
          <a:prstGeom prst="line">
            <a:avLst/>
          </a:prstGeom>
          <a:ln w="11430">
            <a:solidFill>
              <a:srgbClr val="4E82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1618488" y="3584447"/>
            <a:ext cx="2293315" cy="146304"/>
          </a:xfrm>
          <a:prstGeom prst="rect">
            <a:avLst/>
          </a:prstGeom>
          <a:noFill/>
        </p:spPr>
        <p:txBody>
          <a:bodyPr wrap="none" lIns="38100" rIns="38100" tIns="12700" bIns="12700" anchor="ctr">
            <a:spAutoFit/>
          </a:bodyPr>
          <a:lstStyle/>
          <a:p>
            <a:pPr algn="ctr"/>
            <a:r>
              <a:rPr sz="770" b="0">
                <a:solidFill>
                  <a:srgbClr val="1E2A3A"/>
                </a:solidFill>
                <a:latin typeface="Noto Sans CJK SC"/>
              </a:rPr>
              <a:t>返回 file_id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1572768" y="4114800"/>
            <a:ext cx="1192377" cy="0"/>
          </a:xfrm>
          <a:prstGeom prst="line">
            <a:avLst/>
          </a:prstGeom>
          <a:ln w="11430">
            <a:solidFill>
              <a:srgbClr val="0055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TextBox 39"/>
          <p:cNvSpPr txBox="1"/>
          <p:nvPr/>
        </p:nvSpPr>
        <p:spPr>
          <a:xfrm>
            <a:off x="1618488" y="3950208"/>
            <a:ext cx="1100937" cy="146304"/>
          </a:xfrm>
          <a:prstGeom prst="rect">
            <a:avLst/>
          </a:prstGeom>
          <a:noFill/>
        </p:spPr>
        <p:txBody>
          <a:bodyPr wrap="none" lIns="38100" rIns="38100" tIns="12700" bIns="12700" anchor="ctr">
            <a:spAutoFit/>
          </a:bodyPr>
          <a:lstStyle/>
          <a:p>
            <a:pPr algn="ctr"/>
            <a:r>
              <a:rPr sz="770" b="0">
                <a:solidFill>
                  <a:srgbClr val="1E2A3A"/>
                </a:solidFill>
                <a:latin typeface="Noto Sans CJK SC"/>
              </a:rPr>
              <a:t>带文件上下文问答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2765145" y="4480559"/>
            <a:ext cx="4769510" cy="0"/>
          </a:xfrm>
          <a:prstGeom prst="line">
            <a:avLst/>
          </a:prstGeom>
          <a:ln w="11430">
            <a:solidFill>
              <a:srgbClr val="EE82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TextBox 41"/>
          <p:cNvSpPr txBox="1"/>
          <p:nvPr/>
        </p:nvSpPr>
        <p:spPr>
          <a:xfrm>
            <a:off x="2810865" y="4315968"/>
            <a:ext cx="4678070" cy="146304"/>
          </a:xfrm>
          <a:prstGeom prst="rect">
            <a:avLst/>
          </a:prstGeom>
          <a:noFill/>
        </p:spPr>
        <p:txBody>
          <a:bodyPr wrap="none" lIns="38100" rIns="38100" tIns="12700" bIns="12700" anchor="ctr">
            <a:spAutoFit/>
          </a:bodyPr>
          <a:lstStyle/>
          <a:p>
            <a:pPr algn="ctr"/>
            <a:r>
              <a:rPr sz="770" b="0">
                <a:solidFill>
                  <a:srgbClr val="1E2A3A"/>
                </a:solidFill>
                <a:latin typeface="Noto Sans CJK SC"/>
              </a:rPr>
              <a:t>传递文件引用</a:t>
            </a:r>
          </a:p>
        </p:txBody>
      </p:sp>
      <p:cxnSp>
        <p:nvCxnSpPr>
          <p:cNvPr id="43" name="Connector 42"/>
          <p:cNvCxnSpPr/>
          <p:nvPr/>
        </p:nvCxnSpPr>
        <p:spPr>
          <a:xfrm flipH="1">
            <a:off x="5149900" y="4846320"/>
            <a:ext cx="2384755" cy="0"/>
          </a:xfrm>
          <a:prstGeom prst="line">
            <a:avLst/>
          </a:prstGeom>
          <a:ln w="11430">
            <a:solidFill>
              <a:srgbClr val="55AA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TextBox 43"/>
          <p:cNvSpPr txBox="1"/>
          <p:nvPr/>
        </p:nvSpPr>
        <p:spPr>
          <a:xfrm>
            <a:off x="5195620" y="4681728"/>
            <a:ext cx="2293315" cy="146304"/>
          </a:xfrm>
          <a:prstGeom prst="rect">
            <a:avLst/>
          </a:prstGeom>
          <a:noFill/>
        </p:spPr>
        <p:txBody>
          <a:bodyPr wrap="none" lIns="38100" rIns="38100" tIns="12700" bIns="12700" anchor="ctr">
            <a:spAutoFit/>
          </a:bodyPr>
          <a:lstStyle/>
          <a:p>
            <a:pPr algn="ctr"/>
            <a:r>
              <a:rPr sz="770" b="0">
                <a:solidFill>
                  <a:srgbClr val="1E2A3A"/>
                </a:solidFill>
                <a:latin typeface="Noto Sans CJK SC"/>
              </a:rPr>
              <a:t>按 storage_ref 读取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8641080" y="1353312"/>
            <a:ext cx="2834640" cy="12984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55AA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769096" y="1426464"/>
            <a:ext cx="2578608" cy="219456"/>
          </a:xfrm>
          <a:prstGeom prst="rect">
            <a:avLst/>
          </a:prstGeom>
          <a:noFill/>
        </p:spPr>
        <p:txBody>
          <a:bodyPr wrap="none" lIns="38100" rIns="38100" tIns="12700" bIns="12700" anchor="ctr">
            <a:spAutoFit/>
          </a:bodyPr>
          <a:lstStyle/>
          <a:p>
            <a:pPr algn="ctr"/>
            <a:r>
              <a:rPr sz="1180" b="1">
                <a:solidFill>
                  <a:srgbClr val="55AA66"/>
                </a:solidFill>
                <a:latin typeface="Noto Sans CJK SC"/>
              </a:rPr>
              <a:t>已实现：对象写入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787384" y="1700784"/>
            <a:ext cx="2542032" cy="859536"/>
          </a:xfrm>
          <a:prstGeom prst="rect">
            <a:avLst/>
          </a:prstGeom>
          <a:noFill/>
        </p:spPr>
        <p:txBody>
          <a:bodyPr wrap="square" lIns="63500" rIns="63500" tIns="38100" bIns="38100" anchor="ctr">
            <a:spAutoFit/>
          </a:bodyPr>
          <a:lstStyle/>
          <a:p>
            <a:pPr algn="l">
              <a:spcAft>
                <a:spcPts val="100"/>
              </a:spcAft>
            </a:pPr>
            <a:r>
              <a:rPr sz="860">
                <a:solidFill>
                  <a:srgbClr val="222222"/>
                </a:solidFill>
                <a:latin typeface="Noto Sans CJK SC"/>
              </a:rPr>
              <a:t>上传文件写入 MinIO，</a:t>
            </a:r>
          </a:p>
          <a:p>
            <a:pPr algn="l">
              <a:spcAft>
                <a:spcPts val="100"/>
              </a:spcAft>
            </a:pPr>
            <a:r>
              <a:rPr sz="860">
                <a:solidFill>
                  <a:srgbClr val="222222"/>
                </a:solidFill>
                <a:latin typeface="Noto Sans CJK SC"/>
              </a:rPr>
              <a:t>并在 MySQL 登记 file_id 与 storage_ref。</a:t>
            </a:r>
          </a:p>
          <a:p>
            <a:pPr algn="l">
              <a:spcAft>
                <a:spcPts val="100"/>
              </a:spcAft>
            </a:pPr>
            <a:r>
              <a:rPr sz="860">
                <a:solidFill>
                  <a:srgbClr val="222222"/>
                </a:solidFill>
                <a:latin typeface="Noto Sans CJK SC"/>
              </a:rPr>
              <a:t>文件对象可在后续会话和任务中复用。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8641080" y="2779776"/>
            <a:ext cx="2834640" cy="12984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055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769096" y="2852928"/>
            <a:ext cx="2578608" cy="219456"/>
          </a:xfrm>
          <a:prstGeom prst="rect">
            <a:avLst/>
          </a:prstGeom>
          <a:noFill/>
        </p:spPr>
        <p:txBody>
          <a:bodyPr wrap="none" lIns="38100" rIns="38100" tIns="12700" bIns="12700" anchor="ctr">
            <a:spAutoFit/>
          </a:bodyPr>
          <a:lstStyle/>
          <a:p>
            <a:pPr algn="ctr"/>
            <a:r>
              <a:rPr sz="1180" b="1">
                <a:solidFill>
                  <a:srgbClr val="0055AA"/>
                </a:solidFill>
                <a:latin typeface="Noto Sans CJK SC"/>
              </a:rPr>
              <a:t>已实现：引用读取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787384" y="3127248"/>
            <a:ext cx="2542032" cy="859536"/>
          </a:xfrm>
          <a:prstGeom prst="rect">
            <a:avLst/>
          </a:prstGeom>
          <a:noFill/>
        </p:spPr>
        <p:txBody>
          <a:bodyPr wrap="square" lIns="63500" rIns="63500" tIns="38100" bIns="38100" anchor="ctr">
            <a:spAutoFit/>
          </a:bodyPr>
          <a:lstStyle/>
          <a:p>
            <a:pPr algn="l">
              <a:spcAft>
                <a:spcPts val="100"/>
              </a:spcAft>
            </a:pPr>
            <a:r>
              <a:rPr sz="860">
                <a:solidFill>
                  <a:srgbClr val="222222"/>
                </a:solidFill>
                <a:latin typeface="Noto Sans CJK SC"/>
              </a:rPr>
              <a:t>问答链路传递文件引用，</a:t>
            </a:r>
          </a:p>
          <a:p>
            <a:pPr algn="l">
              <a:spcAft>
                <a:spcPts val="100"/>
              </a:spcAft>
            </a:pPr>
            <a:r>
              <a:rPr sz="860">
                <a:solidFill>
                  <a:srgbClr val="222222"/>
                </a:solidFill>
                <a:latin typeface="Noto Sans CJK SC"/>
              </a:rPr>
              <a:t>执行服务按 storage_ref 读取对象。</a:t>
            </a:r>
          </a:p>
          <a:p>
            <a:pPr algn="l">
              <a:spcAft>
                <a:spcPts val="100"/>
              </a:spcAft>
            </a:pPr>
            <a:r>
              <a:rPr sz="860">
                <a:solidFill>
                  <a:srgbClr val="222222"/>
                </a:solidFill>
                <a:latin typeface="Noto Sans CJK SC"/>
              </a:rPr>
              <a:t>文件上下文通过稳定引用进入执行链路。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8641080" y="4206240"/>
            <a:ext cx="2834640" cy="12984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4E82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8769096" y="4279392"/>
            <a:ext cx="2578608" cy="219456"/>
          </a:xfrm>
          <a:prstGeom prst="rect">
            <a:avLst/>
          </a:prstGeom>
          <a:noFill/>
        </p:spPr>
        <p:txBody>
          <a:bodyPr wrap="none" lIns="38100" rIns="38100" tIns="12700" bIns="12700" anchor="ctr">
            <a:spAutoFit/>
          </a:bodyPr>
          <a:lstStyle/>
          <a:p>
            <a:pPr algn="ctr"/>
            <a:r>
              <a:rPr sz="1180" b="1">
                <a:solidFill>
                  <a:srgbClr val="4E82C7"/>
                </a:solidFill>
                <a:latin typeface="Noto Sans CJK SC"/>
              </a:rPr>
              <a:t>已实现：元数据闭环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787384" y="4553712"/>
            <a:ext cx="2542032" cy="859536"/>
          </a:xfrm>
          <a:prstGeom prst="rect">
            <a:avLst/>
          </a:prstGeom>
          <a:noFill/>
        </p:spPr>
        <p:txBody>
          <a:bodyPr wrap="square" lIns="63500" rIns="63500" tIns="38100" bIns="38100" anchor="ctr">
            <a:spAutoFit/>
          </a:bodyPr>
          <a:lstStyle/>
          <a:p>
            <a:pPr algn="l">
              <a:spcAft>
                <a:spcPts val="100"/>
              </a:spcAft>
            </a:pPr>
            <a:r>
              <a:rPr sz="860">
                <a:solidFill>
                  <a:srgbClr val="222222"/>
                </a:solidFill>
                <a:latin typeface="Noto Sans CJK SC"/>
              </a:rPr>
              <a:t>前端获得 file_id 后参与会话与问答，</a:t>
            </a:r>
          </a:p>
          <a:p>
            <a:pPr algn="l">
              <a:spcAft>
                <a:spcPts val="100"/>
              </a:spcAft>
            </a:pPr>
            <a:r>
              <a:rPr sz="860">
                <a:solidFill>
                  <a:srgbClr val="222222"/>
                </a:solidFill>
                <a:latin typeface="Noto Sans CJK SC"/>
              </a:rPr>
              <a:t>文件对象与业务记录可以对应。</a:t>
            </a:r>
          </a:p>
          <a:p>
            <a:pPr algn="l">
              <a:spcAft>
                <a:spcPts val="100"/>
              </a:spcAft>
            </a:pPr>
            <a:r>
              <a:rPr sz="860">
                <a:solidFill>
                  <a:srgbClr val="222222"/>
                </a:solidFill>
                <a:latin typeface="Noto Sans CJK SC"/>
              </a:rPr>
              <a:t>后续预览、追踪和清理有依据。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3154680" y="6236208"/>
            <a:ext cx="1097280" cy="201168"/>
          </a:xfrm>
          <a:prstGeom prst="rect">
            <a:avLst/>
          </a:prstGeom>
          <a:noFill/>
        </p:spPr>
        <p:txBody>
          <a:bodyPr wrap="none" lIns="25400" rIns="25400" tIns="12700" bIns="12700" anchor="ctr">
            <a:spAutoFit/>
          </a:bodyPr>
          <a:lstStyle/>
          <a:p>
            <a:pPr algn="r"/>
            <a:r>
              <a:rPr sz="1000" b="0">
                <a:solidFill>
                  <a:srgbClr val="0055AA"/>
                </a:solidFill>
                <a:latin typeface="Noto Sans CJK SC"/>
              </a:rPr>
              <a:t>创新成就卓越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370832" y="6236208"/>
            <a:ext cx="2743200" cy="201168"/>
          </a:xfrm>
          <a:prstGeom prst="rect">
            <a:avLst/>
          </a:prstGeom>
          <a:noFill/>
        </p:spPr>
        <p:txBody>
          <a:bodyPr wrap="none" lIns="25400" rIns="25400" tIns="12700" bIns="12700" anchor="ctr">
            <a:spAutoFit/>
          </a:bodyPr>
          <a:lstStyle/>
          <a:p>
            <a:pPr algn="l"/>
            <a:r>
              <a:rPr sz="1000" b="0">
                <a:solidFill>
                  <a:srgbClr val="666666"/>
                </a:solidFill>
                <a:latin typeface="Noto Sans CJK SC"/>
              </a:rPr>
              <a:t>INNOVATION CREATES EXCELLENCE</a:t>
            </a:r>
          </a:p>
        </p:txBody>
      </p:sp>
      <p:sp>
        <p:nvSpPr>
          <p:cNvPr id="56" name="Rectangle 55"/>
          <p:cNvSpPr/>
          <p:nvPr/>
        </p:nvSpPr>
        <p:spPr>
          <a:xfrm>
            <a:off x="9555480" y="6629400"/>
            <a:ext cx="2651760" cy="36576"/>
          </a:xfrm>
          <a:prstGeom prst="rect">
            <a:avLst/>
          </a:prstGeom>
          <a:solidFill>
            <a:srgbClr val="B6C0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0" y="6702552"/>
            <a:ext cx="12191999" cy="36576"/>
          </a:xfrm>
          <a:prstGeom prst="rect">
            <a:avLst/>
          </a:prstGeom>
          <a:solidFill>
            <a:srgbClr val="EEEF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457200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94944" y="73152"/>
            <a:ext cx="502920" cy="274320"/>
          </a:xfrm>
          <a:prstGeom prst="rect">
            <a:avLst/>
          </a:prstGeom>
          <a:noFill/>
        </p:spPr>
        <p:txBody>
          <a:bodyPr wrap="none" lIns="25400" rIns="25400" tIns="12700" bIns="12700" anchor="ctr">
            <a:spAutoFit/>
          </a:bodyPr>
          <a:lstStyle/>
          <a:p>
            <a:pPr algn="l"/>
            <a:r>
              <a:rPr sz="1700" b="1">
                <a:solidFill>
                  <a:srgbClr val="0055AA"/>
                </a:solidFill>
                <a:latin typeface="Noto Sans CJK SC"/>
              </a:rP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" y="36576"/>
            <a:ext cx="5669280" cy="365760"/>
          </a:xfrm>
          <a:prstGeom prst="rect">
            <a:avLst/>
          </a:prstGeom>
          <a:noFill/>
        </p:spPr>
        <p:txBody>
          <a:bodyPr wrap="none" lIns="25400" rIns="25400" tIns="12700" bIns="12700" anchor="ctr">
            <a:spAutoFit/>
          </a:bodyPr>
          <a:lstStyle/>
          <a:p>
            <a:pPr algn="l"/>
            <a:r>
              <a:rPr sz="2200" b="1">
                <a:solidFill>
                  <a:srgbClr val="0055AA"/>
                </a:solidFill>
                <a:latin typeface="Noto Sans CJK SC"/>
              </a:rPr>
              <a:t>核心实现</a:t>
            </a:r>
          </a:p>
        </p:txBody>
      </p:sp>
      <p:pic>
        <p:nvPicPr>
          <p:cNvPr id="5" name="Picture 4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0"/>
            <a:ext cx="2240280" cy="457200"/>
          </a:xfrm>
          <a:prstGeom prst="rect">
            <a:avLst/>
          </a:prstGeom>
        </p:spPr>
      </p:pic>
      <p:pic>
        <p:nvPicPr>
          <p:cNvPr id="6" name="Picture 5" descr="logo_full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04704" y="91440"/>
            <a:ext cx="1298448" cy="25603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58368" y="658368"/>
            <a:ext cx="6949440" cy="438912"/>
          </a:xfrm>
          <a:prstGeom prst="rect">
            <a:avLst/>
          </a:prstGeom>
          <a:noFill/>
        </p:spPr>
        <p:txBody>
          <a:bodyPr wrap="none" lIns="38100" rIns="38100" tIns="12700" bIns="12700" anchor="ctr">
            <a:spAutoFit/>
          </a:bodyPr>
          <a:lstStyle/>
          <a:p>
            <a:pPr algn="l"/>
            <a:r>
              <a:rPr sz="2400" b="1">
                <a:solidFill>
                  <a:srgbClr val="0055AA"/>
                </a:solidFill>
                <a:latin typeface="Noto Sans CJK SC"/>
              </a:rPr>
              <a:t>实现点击查看原文与 MinIO 读取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1078992"/>
            <a:ext cx="6949440" cy="256032"/>
          </a:xfrm>
          <a:prstGeom prst="rect">
            <a:avLst/>
          </a:prstGeom>
          <a:noFill/>
        </p:spPr>
        <p:txBody>
          <a:bodyPr wrap="none" lIns="38100" rIns="38100" tIns="12700" bIns="12700" anchor="ctr">
            <a:spAutoFit/>
          </a:bodyPr>
          <a:lstStyle/>
          <a:p>
            <a:pPr algn="l"/>
            <a:r>
              <a:rPr sz="1150" b="0">
                <a:solidFill>
                  <a:srgbClr val="1E2A3A"/>
                </a:solidFill>
                <a:latin typeface="Noto Sans CJK SC"/>
              </a:rPr>
              <a:t>答案中的原文引用可从 MinIO 读取专利原文对象，并支持打开与定位。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1353312"/>
            <a:ext cx="7818120" cy="4462272"/>
          </a:xfrm>
          <a:prstGeom prst="rect">
            <a:avLst/>
          </a:prstGeom>
          <a:solidFill>
            <a:srgbClr val="F9FBFE"/>
          </a:solidFill>
          <a:ln w="10160">
            <a:solidFill>
              <a:srgbClr val="D7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04672" y="1499616"/>
            <a:ext cx="7498079" cy="3986784"/>
          </a:xfrm>
          <a:prstGeom prst="rect">
            <a:avLst/>
          </a:prstGeom>
          <a:solidFill>
            <a:srgbClr val="FFFFFF"/>
          </a:solidFill>
          <a:ln w="10160">
            <a:solidFill>
              <a:srgbClr val="D7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060704" y="1700784"/>
            <a:ext cx="1024128" cy="38404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055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15568" y="1773936"/>
            <a:ext cx="914400" cy="201168"/>
          </a:xfrm>
          <a:prstGeom prst="rect">
            <a:avLst/>
          </a:prstGeom>
          <a:noFill/>
        </p:spPr>
        <p:txBody>
          <a:bodyPr wrap="none" lIns="38100" rIns="38100" tIns="12700" bIns="12700" anchor="ctr">
            <a:spAutoFit/>
          </a:bodyPr>
          <a:lstStyle/>
          <a:p>
            <a:pPr algn="ctr"/>
            <a:r>
              <a:rPr sz="880" b="1">
                <a:solidFill>
                  <a:srgbClr val="00459A"/>
                </a:solidFill>
                <a:latin typeface="Noto Sans CJK SC"/>
              </a:rPr>
              <a:t>前端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1572768" y="2103120"/>
            <a:ext cx="0" cy="3108960"/>
          </a:xfrm>
          <a:prstGeom prst="line">
            <a:avLst/>
          </a:prstGeom>
          <a:ln w="8890">
            <a:solidFill>
              <a:srgbClr val="D7DE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2253081" y="1700784"/>
            <a:ext cx="1024128" cy="38404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055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307945" y="1773936"/>
            <a:ext cx="914400" cy="201168"/>
          </a:xfrm>
          <a:prstGeom prst="rect">
            <a:avLst/>
          </a:prstGeom>
          <a:noFill/>
        </p:spPr>
        <p:txBody>
          <a:bodyPr wrap="none" lIns="38100" rIns="38100" tIns="12700" bIns="12700" anchor="ctr">
            <a:spAutoFit/>
          </a:bodyPr>
          <a:lstStyle/>
          <a:p>
            <a:pPr algn="ctr"/>
            <a:r>
              <a:rPr sz="880" b="1">
                <a:solidFill>
                  <a:srgbClr val="00459A"/>
                </a:solidFill>
                <a:latin typeface="Aptos"/>
              </a:rPr>
              <a:t>gateway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2765145" y="2103120"/>
            <a:ext cx="0" cy="3108960"/>
          </a:xfrm>
          <a:prstGeom prst="line">
            <a:avLst/>
          </a:prstGeom>
          <a:ln w="8890">
            <a:solidFill>
              <a:srgbClr val="D7DE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3445459" y="1700784"/>
            <a:ext cx="1024128" cy="38404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055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500323" y="1773936"/>
            <a:ext cx="914400" cy="201168"/>
          </a:xfrm>
          <a:prstGeom prst="rect">
            <a:avLst/>
          </a:prstGeom>
          <a:noFill/>
        </p:spPr>
        <p:txBody>
          <a:bodyPr wrap="none" lIns="38100" rIns="38100" tIns="12700" bIns="12700" anchor="ctr">
            <a:spAutoFit/>
          </a:bodyPr>
          <a:lstStyle/>
          <a:p>
            <a:pPr algn="ctr"/>
            <a:r>
              <a:rPr sz="880" b="1">
                <a:solidFill>
                  <a:srgbClr val="00459A"/>
                </a:solidFill>
                <a:latin typeface="Noto Sans CJK SC"/>
              </a:rPr>
              <a:t>patent 原文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3957523" y="2103120"/>
            <a:ext cx="0" cy="3108960"/>
          </a:xfrm>
          <a:prstGeom prst="line">
            <a:avLst/>
          </a:prstGeom>
          <a:ln w="8890">
            <a:solidFill>
              <a:srgbClr val="D7DE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4637836" y="1700784"/>
            <a:ext cx="1024128" cy="38404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055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692700" y="1773936"/>
            <a:ext cx="914400" cy="201168"/>
          </a:xfrm>
          <a:prstGeom prst="rect">
            <a:avLst/>
          </a:prstGeom>
          <a:noFill/>
        </p:spPr>
        <p:txBody>
          <a:bodyPr wrap="none" lIns="38100" rIns="38100" tIns="12700" bIns="12700" anchor="ctr">
            <a:spAutoFit/>
          </a:bodyPr>
          <a:lstStyle/>
          <a:p>
            <a:pPr algn="ctr"/>
            <a:r>
              <a:rPr sz="880" b="1">
                <a:solidFill>
                  <a:srgbClr val="00459A"/>
                </a:solidFill>
                <a:latin typeface="Noto Sans CJK SC"/>
              </a:rPr>
              <a:t>缓存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5149900" y="2103120"/>
            <a:ext cx="0" cy="3108960"/>
          </a:xfrm>
          <a:prstGeom prst="line">
            <a:avLst/>
          </a:prstGeom>
          <a:ln w="8890">
            <a:solidFill>
              <a:srgbClr val="D7DE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5830214" y="1700784"/>
            <a:ext cx="1024128" cy="38404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055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885078" y="1773936"/>
            <a:ext cx="914400" cy="201168"/>
          </a:xfrm>
          <a:prstGeom prst="rect">
            <a:avLst/>
          </a:prstGeom>
          <a:noFill/>
        </p:spPr>
        <p:txBody>
          <a:bodyPr wrap="none" lIns="38100" rIns="38100" tIns="12700" bIns="12700" anchor="ctr">
            <a:spAutoFit/>
          </a:bodyPr>
          <a:lstStyle/>
          <a:p>
            <a:pPr algn="ctr"/>
            <a:r>
              <a:rPr sz="880" b="1">
                <a:solidFill>
                  <a:srgbClr val="00459A"/>
                </a:solidFill>
                <a:latin typeface="Aptos"/>
              </a:rPr>
              <a:t>MinIO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6342278" y="2103120"/>
            <a:ext cx="0" cy="3108960"/>
          </a:xfrm>
          <a:prstGeom prst="line">
            <a:avLst/>
          </a:prstGeom>
          <a:ln w="8890">
            <a:solidFill>
              <a:srgbClr val="D7DE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7022591" y="1700784"/>
            <a:ext cx="1024128" cy="38404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055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077455" y="1773936"/>
            <a:ext cx="914400" cy="201168"/>
          </a:xfrm>
          <a:prstGeom prst="rect">
            <a:avLst/>
          </a:prstGeom>
          <a:noFill/>
        </p:spPr>
        <p:txBody>
          <a:bodyPr wrap="none" lIns="38100" rIns="38100" tIns="12700" bIns="12700" anchor="ctr">
            <a:spAutoFit/>
          </a:bodyPr>
          <a:lstStyle/>
          <a:p>
            <a:pPr algn="ctr"/>
            <a:r>
              <a:rPr sz="880" b="1">
                <a:solidFill>
                  <a:srgbClr val="00459A"/>
                </a:solidFill>
                <a:latin typeface="Noto Sans CJK SC"/>
              </a:rPr>
              <a:t>PDF 预览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7534655" y="2103120"/>
            <a:ext cx="0" cy="3108960"/>
          </a:xfrm>
          <a:prstGeom prst="line">
            <a:avLst/>
          </a:prstGeom>
          <a:ln w="8890">
            <a:solidFill>
              <a:srgbClr val="D7DE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1572768" y="2286000"/>
            <a:ext cx="1192377" cy="0"/>
          </a:xfrm>
          <a:prstGeom prst="line">
            <a:avLst/>
          </a:prstGeom>
          <a:ln w="11430">
            <a:solidFill>
              <a:srgbClr val="0055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1618488" y="2121408"/>
            <a:ext cx="1100937" cy="146304"/>
          </a:xfrm>
          <a:prstGeom prst="rect">
            <a:avLst/>
          </a:prstGeom>
          <a:noFill/>
        </p:spPr>
        <p:txBody>
          <a:bodyPr wrap="none" lIns="38100" rIns="38100" tIns="12700" bIns="12700" anchor="ctr">
            <a:spAutoFit/>
          </a:bodyPr>
          <a:lstStyle/>
          <a:p>
            <a:pPr algn="ctr"/>
            <a:r>
              <a:rPr sz="770" b="0">
                <a:solidFill>
                  <a:srgbClr val="1E2A3A"/>
                </a:solidFill>
                <a:latin typeface="Noto Sans CJK SC"/>
              </a:rPr>
              <a:t>点击查看原文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2765145" y="2651760"/>
            <a:ext cx="1192378" cy="0"/>
          </a:xfrm>
          <a:prstGeom prst="line">
            <a:avLst/>
          </a:prstGeom>
          <a:ln w="11430">
            <a:solidFill>
              <a:srgbClr val="4E82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2810865" y="2487168"/>
            <a:ext cx="1100937" cy="146304"/>
          </a:xfrm>
          <a:prstGeom prst="rect">
            <a:avLst/>
          </a:prstGeom>
          <a:noFill/>
        </p:spPr>
        <p:txBody>
          <a:bodyPr wrap="none" lIns="38100" rIns="38100" tIns="12700" bIns="12700" anchor="ctr">
            <a:spAutoFit/>
          </a:bodyPr>
          <a:lstStyle/>
          <a:p>
            <a:pPr algn="ctr"/>
            <a:r>
              <a:rPr sz="770" b="0">
                <a:solidFill>
                  <a:srgbClr val="1E2A3A"/>
                </a:solidFill>
                <a:latin typeface="Noto Sans CJK SC"/>
              </a:rPr>
              <a:t>请求 original/{id}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3957523" y="3017520"/>
            <a:ext cx="1192377" cy="0"/>
          </a:xfrm>
          <a:prstGeom prst="line">
            <a:avLst/>
          </a:prstGeom>
          <a:ln w="11430">
            <a:solidFill>
              <a:srgbClr val="30C0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4003243" y="2852927"/>
            <a:ext cx="1100937" cy="146304"/>
          </a:xfrm>
          <a:prstGeom prst="rect">
            <a:avLst/>
          </a:prstGeom>
          <a:noFill/>
        </p:spPr>
        <p:txBody>
          <a:bodyPr wrap="none" lIns="38100" rIns="38100" tIns="12700" bIns="12700" anchor="ctr">
            <a:spAutoFit/>
          </a:bodyPr>
          <a:lstStyle/>
          <a:p>
            <a:pPr algn="ctr"/>
            <a:r>
              <a:rPr sz="770" b="0">
                <a:solidFill>
                  <a:srgbClr val="1E2A3A"/>
                </a:solidFill>
                <a:latin typeface="Noto Sans CJK SC"/>
              </a:rPr>
              <a:t>查原文视图缓存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3957523" y="3383280"/>
            <a:ext cx="2384755" cy="0"/>
          </a:xfrm>
          <a:prstGeom prst="line">
            <a:avLst/>
          </a:prstGeom>
          <a:ln w="11430">
            <a:solidFill>
              <a:srgbClr val="55AA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4003243" y="3218688"/>
            <a:ext cx="2293315" cy="146304"/>
          </a:xfrm>
          <a:prstGeom prst="rect">
            <a:avLst/>
          </a:prstGeom>
          <a:noFill/>
        </p:spPr>
        <p:txBody>
          <a:bodyPr wrap="none" lIns="38100" rIns="38100" tIns="12700" bIns="12700" anchor="ctr">
            <a:spAutoFit/>
          </a:bodyPr>
          <a:lstStyle/>
          <a:p>
            <a:pPr algn="ctr"/>
            <a:r>
              <a:rPr sz="770" b="0">
                <a:solidFill>
                  <a:srgbClr val="1E2A3A"/>
                </a:solidFill>
                <a:latin typeface="Noto Sans CJK SC"/>
              </a:rPr>
              <a:t>读 manifest / original.pdf</a:t>
            </a:r>
          </a:p>
        </p:txBody>
      </p:sp>
      <p:cxnSp>
        <p:nvCxnSpPr>
          <p:cNvPr id="37" name="Connector 36"/>
          <p:cNvCxnSpPr/>
          <p:nvPr/>
        </p:nvCxnSpPr>
        <p:spPr>
          <a:xfrm flipH="1">
            <a:off x="3957523" y="3749039"/>
            <a:ext cx="2384755" cy="0"/>
          </a:xfrm>
          <a:prstGeom prst="line">
            <a:avLst/>
          </a:prstGeom>
          <a:ln w="11430">
            <a:solidFill>
              <a:srgbClr val="55AA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4003243" y="3584447"/>
            <a:ext cx="2293315" cy="146304"/>
          </a:xfrm>
          <a:prstGeom prst="rect">
            <a:avLst/>
          </a:prstGeom>
          <a:noFill/>
        </p:spPr>
        <p:txBody>
          <a:bodyPr wrap="none" lIns="38100" rIns="38100" tIns="12700" bIns="12700" anchor="ctr">
            <a:spAutoFit/>
          </a:bodyPr>
          <a:lstStyle/>
          <a:p>
            <a:pPr algn="ctr"/>
            <a:r>
              <a:rPr sz="770" b="0">
                <a:solidFill>
                  <a:srgbClr val="1E2A3A"/>
                </a:solidFill>
                <a:latin typeface="Noto Sans CJK SC"/>
              </a:rPr>
              <a:t>返回对象与元数据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3957523" y="4114800"/>
            <a:ext cx="1192377" cy="0"/>
          </a:xfrm>
          <a:prstGeom prst="line">
            <a:avLst/>
          </a:prstGeom>
          <a:ln w="11430">
            <a:solidFill>
              <a:srgbClr val="30C0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TextBox 39"/>
          <p:cNvSpPr txBox="1"/>
          <p:nvPr/>
        </p:nvSpPr>
        <p:spPr>
          <a:xfrm>
            <a:off x="4003243" y="3950208"/>
            <a:ext cx="1100937" cy="146304"/>
          </a:xfrm>
          <a:prstGeom prst="rect">
            <a:avLst/>
          </a:prstGeom>
          <a:noFill/>
        </p:spPr>
        <p:txBody>
          <a:bodyPr wrap="none" lIns="38100" rIns="38100" tIns="12700" bIns="12700" anchor="ctr">
            <a:spAutoFit/>
          </a:bodyPr>
          <a:lstStyle/>
          <a:p>
            <a:pPr algn="ctr"/>
            <a:r>
              <a:rPr sz="770" b="0">
                <a:solidFill>
                  <a:srgbClr val="1E2A3A"/>
                </a:solidFill>
                <a:latin typeface="Noto Sans CJK SC"/>
              </a:rPr>
              <a:t>写短期缓存 / ETag</a:t>
            </a:r>
          </a:p>
        </p:txBody>
      </p:sp>
      <p:cxnSp>
        <p:nvCxnSpPr>
          <p:cNvPr id="41" name="Connector 40"/>
          <p:cNvCxnSpPr/>
          <p:nvPr/>
        </p:nvCxnSpPr>
        <p:spPr>
          <a:xfrm flipH="1">
            <a:off x="1572768" y="4480559"/>
            <a:ext cx="2384755" cy="0"/>
          </a:xfrm>
          <a:prstGeom prst="line">
            <a:avLst/>
          </a:prstGeom>
          <a:ln w="11430">
            <a:solidFill>
              <a:srgbClr val="4E82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TextBox 41"/>
          <p:cNvSpPr txBox="1"/>
          <p:nvPr/>
        </p:nvSpPr>
        <p:spPr>
          <a:xfrm>
            <a:off x="1618488" y="4315968"/>
            <a:ext cx="2293315" cy="146304"/>
          </a:xfrm>
          <a:prstGeom prst="rect">
            <a:avLst/>
          </a:prstGeom>
          <a:noFill/>
        </p:spPr>
        <p:txBody>
          <a:bodyPr wrap="none" lIns="38100" rIns="38100" tIns="12700" bIns="12700" anchor="ctr">
            <a:spAutoFit/>
          </a:bodyPr>
          <a:lstStyle/>
          <a:p>
            <a:pPr algn="ctr"/>
            <a:r>
              <a:rPr sz="770" b="0">
                <a:solidFill>
                  <a:srgbClr val="1E2A3A"/>
                </a:solidFill>
                <a:latin typeface="Noto Sans CJK SC"/>
              </a:rPr>
              <a:t>返回 PDF/HTML/JSON</a:t>
            </a:r>
          </a:p>
        </p:txBody>
      </p:sp>
      <p:cxnSp>
        <p:nvCxnSpPr>
          <p:cNvPr id="43" name="Connector 42"/>
          <p:cNvCxnSpPr/>
          <p:nvPr/>
        </p:nvCxnSpPr>
        <p:spPr>
          <a:xfrm>
            <a:off x="1572768" y="4846320"/>
            <a:ext cx="5961887" cy="0"/>
          </a:xfrm>
          <a:prstGeom prst="line">
            <a:avLst/>
          </a:prstGeom>
          <a:ln w="11430">
            <a:solidFill>
              <a:srgbClr val="EE82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TextBox 43"/>
          <p:cNvSpPr txBox="1"/>
          <p:nvPr/>
        </p:nvSpPr>
        <p:spPr>
          <a:xfrm>
            <a:off x="1618488" y="4681728"/>
            <a:ext cx="5870447" cy="146304"/>
          </a:xfrm>
          <a:prstGeom prst="rect">
            <a:avLst/>
          </a:prstGeom>
          <a:noFill/>
        </p:spPr>
        <p:txBody>
          <a:bodyPr wrap="none" lIns="38100" rIns="38100" tIns="12700" bIns="12700" anchor="ctr">
            <a:spAutoFit/>
          </a:bodyPr>
          <a:lstStyle/>
          <a:p>
            <a:pPr algn="ctr"/>
            <a:r>
              <a:rPr sz="770" b="0">
                <a:solidFill>
                  <a:srgbClr val="1E2A3A"/>
                </a:solidFill>
                <a:latin typeface="Noto Sans CJK SC"/>
              </a:rPr>
              <a:t>打开并定位 anchor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8641080" y="1353312"/>
            <a:ext cx="2834640" cy="12984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55AA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769096" y="1426464"/>
            <a:ext cx="2578608" cy="219456"/>
          </a:xfrm>
          <a:prstGeom prst="rect">
            <a:avLst/>
          </a:prstGeom>
          <a:noFill/>
        </p:spPr>
        <p:txBody>
          <a:bodyPr wrap="none" lIns="38100" rIns="38100" tIns="12700" bIns="12700" anchor="ctr">
            <a:spAutoFit/>
          </a:bodyPr>
          <a:lstStyle/>
          <a:p>
            <a:pPr algn="ctr"/>
            <a:r>
              <a:rPr sz="1180" b="1">
                <a:solidFill>
                  <a:srgbClr val="55AA66"/>
                </a:solidFill>
                <a:latin typeface="Noto Sans CJK SC"/>
              </a:rPr>
              <a:t>已实现：原文读取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787384" y="1700784"/>
            <a:ext cx="2542032" cy="859536"/>
          </a:xfrm>
          <a:prstGeom prst="rect">
            <a:avLst/>
          </a:prstGeom>
          <a:noFill/>
        </p:spPr>
        <p:txBody>
          <a:bodyPr wrap="square" lIns="63500" rIns="63500" tIns="38100" bIns="38100" anchor="ctr">
            <a:spAutoFit/>
          </a:bodyPr>
          <a:lstStyle/>
          <a:p>
            <a:pPr algn="l">
              <a:spcAft>
                <a:spcPts val="100"/>
              </a:spcAft>
            </a:pPr>
            <a:r>
              <a:rPr sz="860">
                <a:solidFill>
                  <a:srgbClr val="222222"/>
                </a:solidFill>
                <a:latin typeface="Noto Sans CJK SC"/>
              </a:rPr>
              <a:t>点击查看原文后，服务按 original id</a:t>
            </a:r>
          </a:p>
          <a:p>
            <a:pPr algn="l">
              <a:spcAft>
                <a:spcPts val="100"/>
              </a:spcAft>
            </a:pPr>
            <a:r>
              <a:rPr sz="860">
                <a:solidFill>
                  <a:srgbClr val="222222"/>
                </a:solidFill>
                <a:latin typeface="Noto Sans CJK SC"/>
              </a:rPr>
              <a:t>读取 manifest 与原文 PDF。</a:t>
            </a:r>
          </a:p>
          <a:p>
            <a:pPr algn="l">
              <a:spcAft>
                <a:spcPts val="100"/>
              </a:spcAft>
            </a:pPr>
            <a:r>
              <a:rPr sz="860">
                <a:solidFill>
                  <a:srgbClr val="222222"/>
                </a:solidFill>
                <a:latin typeface="Noto Sans CJK SC"/>
              </a:rPr>
              <a:t>原文对象来源统一落到 MinIO。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8641080" y="2779776"/>
            <a:ext cx="2834640" cy="12984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055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769096" y="2852928"/>
            <a:ext cx="2578608" cy="219456"/>
          </a:xfrm>
          <a:prstGeom prst="rect">
            <a:avLst/>
          </a:prstGeom>
          <a:noFill/>
        </p:spPr>
        <p:txBody>
          <a:bodyPr wrap="none" lIns="38100" rIns="38100" tIns="12700" bIns="12700" anchor="ctr">
            <a:spAutoFit/>
          </a:bodyPr>
          <a:lstStyle/>
          <a:p>
            <a:pPr algn="ctr"/>
            <a:r>
              <a:rPr sz="1180" b="1">
                <a:solidFill>
                  <a:srgbClr val="0055AA"/>
                </a:solidFill>
                <a:latin typeface="Noto Sans CJK SC"/>
              </a:rPr>
              <a:t>已实现：预览定位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787384" y="3127248"/>
            <a:ext cx="2542032" cy="859536"/>
          </a:xfrm>
          <a:prstGeom prst="rect">
            <a:avLst/>
          </a:prstGeom>
          <a:noFill/>
        </p:spPr>
        <p:txBody>
          <a:bodyPr wrap="square" lIns="63500" rIns="63500" tIns="38100" bIns="38100" anchor="ctr">
            <a:spAutoFit/>
          </a:bodyPr>
          <a:lstStyle/>
          <a:p>
            <a:pPr algn="l">
              <a:spcAft>
                <a:spcPts val="100"/>
              </a:spcAft>
            </a:pPr>
            <a:r>
              <a:rPr sz="860">
                <a:solidFill>
                  <a:srgbClr val="222222"/>
                </a:solidFill>
                <a:latin typeface="Noto Sans CJK SC"/>
              </a:rPr>
              <a:t>返回 PDF / HTML / JSON 等信息，</a:t>
            </a:r>
          </a:p>
          <a:p>
            <a:pPr algn="l">
              <a:spcAft>
                <a:spcPts val="100"/>
              </a:spcAft>
            </a:pPr>
            <a:r>
              <a:rPr sz="860">
                <a:solidFill>
                  <a:srgbClr val="222222"/>
                </a:solidFill>
                <a:latin typeface="Noto Sans CJK SC"/>
              </a:rPr>
              <a:t>前端打开预览并定位 anchor。</a:t>
            </a:r>
          </a:p>
          <a:p>
            <a:pPr algn="l">
              <a:spcAft>
                <a:spcPts val="100"/>
              </a:spcAft>
            </a:pPr>
            <a:r>
              <a:rPr sz="860">
                <a:solidFill>
                  <a:srgbClr val="222222"/>
                </a:solidFill>
                <a:latin typeface="Noto Sans CJK SC"/>
              </a:rPr>
              <a:t>答案引用可以跳转到对应原文位置。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8641080" y="4206240"/>
            <a:ext cx="2834640" cy="12984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E82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8769096" y="4279392"/>
            <a:ext cx="2578608" cy="219456"/>
          </a:xfrm>
          <a:prstGeom prst="rect">
            <a:avLst/>
          </a:prstGeom>
          <a:noFill/>
        </p:spPr>
        <p:txBody>
          <a:bodyPr wrap="none" lIns="38100" rIns="38100" tIns="12700" bIns="12700" anchor="ctr">
            <a:spAutoFit/>
          </a:bodyPr>
          <a:lstStyle/>
          <a:p>
            <a:pPr algn="ctr"/>
            <a:r>
              <a:rPr sz="1180" b="1">
                <a:solidFill>
                  <a:srgbClr val="EE822F"/>
                </a:solidFill>
                <a:latin typeface="Noto Sans CJK SC"/>
              </a:rPr>
              <a:t>已实现：缓存协同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787384" y="4553712"/>
            <a:ext cx="2542032" cy="859536"/>
          </a:xfrm>
          <a:prstGeom prst="rect">
            <a:avLst/>
          </a:prstGeom>
          <a:noFill/>
        </p:spPr>
        <p:txBody>
          <a:bodyPr wrap="square" lIns="63500" rIns="63500" tIns="38100" bIns="38100" anchor="ctr">
            <a:spAutoFit/>
          </a:bodyPr>
          <a:lstStyle/>
          <a:p>
            <a:pPr algn="l">
              <a:spcAft>
                <a:spcPts val="100"/>
              </a:spcAft>
            </a:pPr>
            <a:r>
              <a:rPr sz="860">
                <a:solidFill>
                  <a:srgbClr val="222222"/>
                </a:solidFill>
                <a:latin typeface="Noto Sans CJK SC"/>
              </a:rPr>
              <a:t>短期缓存与 ETag 支持连续查看，</a:t>
            </a:r>
          </a:p>
          <a:p>
            <a:pPr algn="l">
              <a:spcAft>
                <a:spcPts val="100"/>
              </a:spcAft>
            </a:pPr>
            <a:r>
              <a:rPr sz="860">
                <a:solidFill>
                  <a:srgbClr val="222222"/>
                </a:solidFill>
                <a:latin typeface="Noto Sans CJK SC"/>
              </a:rPr>
              <a:t>MinIO 作为原文对象来源。</a:t>
            </a:r>
          </a:p>
          <a:p>
            <a:pPr algn="l">
              <a:spcAft>
                <a:spcPts val="100"/>
              </a:spcAft>
            </a:pPr>
            <a:r>
              <a:rPr sz="860">
                <a:solidFill>
                  <a:srgbClr val="222222"/>
                </a:solidFill>
                <a:latin typeface="Noto Sans CJK SC"/>
              </a:rPr>
              <a:t>重复打开原文时减少链路重复读取。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3154680" y="6236208"/>
            <a:ext cx="1097280" cy="201168"/>
          </a:xfrm>
          <a:prstGeom prst="rect">
            <a:avLst/>
          </a:prstGeom>
          <a:noFill/>
        </p:spPr>
        <p:txBody>
          <a:bodyPr wrap="none" lIns="25400" rIns="25400" tIns="12700" bIns="12700" anchor="ctr">
            <a:spAutoFit/>
          </a:bodyPr>
          <a:lstStyle/>
          <a:p>
            <a:pPr algn="r"/>
            <a:r>
              <a:rPr sz="1000" b="0">
                <a:solidFill>
                  <a:srgbClr val="0055AA"/>
                </a:solidFill>
                <a:latin typeface="Noto Sans CJK SC"/>
              </a:rPr>
              <a:t>创新成就卓越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370832" y="6236208"/>
            <a:ext cx="2743200" cy="201168"/>
          </a:xfrm>
          <a:prstGeom prst="rect">
            <a:avLst/>
          </a:prstGeom>
          <a:noFill/>
        </p:spPr>
        <p:txBody>
          <a:bodyPr wrap="none" lIns="25400" rIns="25400" tIns="12700" bIns="12700" anchor="ctr">
            <a:spAutoFit/>
          </a:bodyPr>
          <a:lstStyle/>
          <a:p>
            <a:pPr algn="l"/>
            <a:r>
              <a:rPr sz="1000" b="0">
                <a:solidFill>
                  <a:srgbClr val="666666"/>
                </a:solidFill>
                <a:latin typeface="Noto Sans CJK SC"/>
              </a:rPr>
              <a:t>INNOVATION CREATES EXCELLENCE</a:t>
            </a:r>
          </a:p>
        </p:txBody>
      </p:sp>
      <p:sp>
        <p:nvSpPr>
          <p:cNvPr id="56" name="Rectangle 55"/>
          <p:cNvSpPr/>
          <p:nvPr/>
        </p:nvSpPr>
        <p:spPr>
          <a:xfrm>
            <a:off x="9555480" y="6629400"/>
            <a:ext cx="2651760" cy="36576"/>
          </a:xfrm>
          <a:prstGeom prst="rect">
            <a:avLst/>
          </a:prstGeom>
          <a:solidFill>
            <a:srgbClr val="B6C0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0" y="6702552"/>
            <a:ext cx="12191999" cy="36576"/>
          </a:xfrm>
          <a:prstGeom prst="rect">
            <a:avLst/>
          </a:prstGeom>
          <a:solidFill>
            <a:srgbClr val="EEEF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457200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94944" y="73152"/>
            <a:ext cx="502920" cy="274320"/>
          </a:xfrm>
          <a:prstGeom prst="rect">
            <a:avLst/>
          </a:prstGeom>
          <a:noFill/>
        </p:spPr>
        <p:txBody>
          <a:bodyPr wrap="none" lIns="25400" rIns="25400" tIns="12700" bIns="12700" anchor="ctr">
            <a:spAutoFit/>
          </a:bodyPr>
          <a:lstStyle/>
          <a:p>
            <a:pPr algn="l"/>
            <a:r>
              <a:rPr sz="1700" b="1">
                <a:solidFill>
                  <a:srgbClr val="0055AA"/>
                </a:solidFill>
                <a:latin typeface="Noto Sans CJK SC"/>
              </a:rPr>
              <a:t>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" y="36576"/>
            <a:ext cx="5669280" cy="365760"/>
          </a:xfrm>
          <a:prstGeom prst="rect">
            <a:avLst/>
          </a:prstGeom>
          <a:noFill/>
        </p:spPr>
        <p:txBody>
          <a:bodyPr wrap="none" lIns="25400" rIns="25400" tIns="12700" bIns="12700" anchor="ctr">
            <a:spAutoFit/>
          </a:bodyPr>
          <a:lstStyle/>
          <a:p>
            <a:pPr algn="l"/>
            <a:r>
              <a:rPr sz="2200" b="1">
                <a:solidFill>
                  <a:srgbClr val="0055AA"/>
                </a:solidFill>
                <a:latin typeface="Noto Sans CJK SC"/>
              </a:rPr>
              <a:t>交付结果</a:t>
            </a:r>
          </a:p>
        </p:txBody>
      </p:sp>
      <p:pic>
        <p:nvPicPr>
          <p:cNvPr id="5" name="Picture 4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0"/>
            <a:ext cx="2240280" cy="457200"/>
          </a:xfrm>
          <a:prstGeom prst="rect">
            <a:avLst/>
          </a:prstGeom>
        </p:spPr>
      </p:pic>
      <p:pic>
        <p:nvPicPr>
          <p:cNvPr id="6" name="Picture 5" descr="logo_full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04704" y="91440"/>
            <a:ext cx="1298448" cy="25603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58368" y="658368"/>
            <a:ext cx="6949440" cy="438912"/>
          </a:xfrm>
          <a:prstGeom prst="rect">
            <a:avLst/>
          </a:prstGeom>
          <a:noFill/>
        </p:spPr>
        <p:txBody>
          <a:bodyPr wrap="none" lIns="38100" rIns="38100" tIns="12700" bIns="12700" anchor="ctr">
            <a:spAutoFit/>
          </a:bodyPr>
          <a:lstStyle/>
          <a:p>
            <a:pPr algn="l"/>
            <a:r>
              <a:rPr sz="2400" b="1">
                <a:solidFill>
                  <a:srgbClr val="0055AA"/>
                </a:solidFill>
                <a:latin typeface="Noto Sans CJK SC"/>
              </a:rPr>
              <a:t>实现前端配套页面与交互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1078992"/>
            <a:ext cx="6949440" cy="256032"/>
          </a:xfrm>
          <a:prstGeom prst="rect">
            <a:avLst/>
          </a:prstGeom>
          <a:noFill/>
        </p:spPr>
        <p:txBody>
          <a:bodyPr wrap="none" lIns="38100" rIns="38100" tIns="12700" bIns="12700" anchor="ctr">
            <a:spAutoFit/>
          </a:bodyPr>
          <a:lstStyle/>
          <a:p>
            <a:pPr algn="l"/>
            <a:r>
              <a:rPr sz="1150" b="0">
                <a:solidFill>
                  <a:srgbClr val="1E2A3A"/>
                </a:solidFill>
                <a:latin typeface="Noto Sans CJK SC"/>
              </a:rPr>
              <a:t>围绕后端实现补齐页面入口，覆盖管理、任务恢复、文件上传和原文查看。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1353312"/>
            <a:ext cx="7818120" cy="4462272"/>
          </a:xfrm>
          <a:prstGeom prst="rect">
            <a:avLst/>
          </a:prstGeom>
          <a:solidFill>
            <a:srgbClr val="F9FBFE"/>
          </a:solidFill>
          <a:ln w="10160">
            <a:solidFill>
              <a:srgbClr val="D7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960120" y="1783080"/>
            <a:ext cx="3182112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055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88136" y="1856231"/>
            <a:ext cx="2926080" cy="219456"/>
          </a:xfrm>
          <a:prstGeom prst="rect">
            <a:avLst/>
          </a:prstGeom>
          <a:noFill/>
        </p:spPr>
        <p:txBody>
          <a:bodyPr wrap="none" lIns="38100" rIns="38100" tIns="12700" bIns="12700" anchor="ctr">
            <a:spAutoFit/>
          </a:bodyPr>
          <a:lstStyle/>
          <a:p>
            <a:pPr algn="ctr"/>
            <a:r>
              <a:rPr sz="1180" b="1">
                <a:solidFill>
                  <a:srgbClr val="0055AA"/>
                </a:solidFill>
                <a:latin typeface="Noto Sans CJK SC"/>
              </a:rPr>
              <a:t>已实现：问题列表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06424" y="2130552"/>
            <a:ext cx="2889504" cy="521208"/>
          </a:xfrm>
          <a:prstGeom prst="rect">
            <a:avLst/>
          </a:prstGeom>
          <a:noFill/>
        </p:spPr>
        <p:txBody>
          <a:bodyPr wrap="square" lIns="63500" rIns="63500" tIns="38100" bIns="38100" anchor="ctr">
            <a:spAutoFit/>
          </a:bodyPr>
          <a:lstStyle/>
          <a:p>
            <a:pPr algn="l">
              <a:spcAft>
                <a:spcPts val="100"/>
              </a:spcAft>
            </a:pPr>
            <a:r>
              <a:rPr sz="860">
                <a:solidFill>
                  <a:srgbClr val="222222"/>
                </a:solidFill>
                <a:latin typeface="Noto Sans CJK SC"/>
              </a:rPr>
              <a:t>右侧问题列表</a:t>
            </a:r>
          </a:p>
          <a:p>
            <a:pPr algn="l">
              <a:spcAft>
                <a:spcPts val="100"/>
              </a:spcAft>
            </a:pPr>
            <a:r>
              <a:rPr sz="860">
                <a:solidFill>
                  <a:srgbClr val="222222"/>
                </a:solidFill>
                <a:latin typeface="Noto Sans CJK SC"/>
              </a:rPr>
              <a:t>点击定位到对应回答区域</a:t>
            </a:r>
          </a:p>
          <a:p>
            <a:pPr algn="l">
              <a:spcAft>
                <a:spcPts val="100"/>
              </a:spcAft>
            </a:pPr>
            <a:r>
              <a:rPr sz="860">
                <a:solidFill>
                  <a:srgbClr val="222222"/>
                </a:solidFill>
                <a:latin typeface="Noto Sans CJK SC"/>
              </a:rPr>
              <a:t>长会话回看更直接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0" y="1783080"/>
            <a:ext cx="3182112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E82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700016" y="1856231"/>
            <a:ext cx="2926080" cy="219456"/>
          </a:xfrm>
          <a:prstGeom prst="rect">
            <a:avLst/>
          </a:prstGeom>
          <a:noFill/>
        </p:spPr>
        <p:txBody>
          <a:bodyPr wrap="none" lIns="38100" rIns="38100" tIns="12700" bIns="12700" anchor="ctr">
            <a:spAutoFit/>
          </a:bodyPr>
          <a:lstStyle/>
          <a:p>
            <a:pPr algn="ctr"/>
            <a:r>
              <a:rPr sz="1180" b="1">
                <a:solidFill>
                  <a:srgbClr val="EE822F"/>
                </a:solidFill>
                <a:latin typeface="Noto Sans CJK SC"/>
              </a:rPr>
              <a:t>已实现：管理员页面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18304" y="2130552"/>
            <a:ext cx="2889504" cy="521208"/>
          </a:xfrm>
          <a:prstGeom prst="rect">
            <a:avLst/>
          </a:prstGeom>
          <a:noFill/>
        </p:spPr>
        <p:txBody>
          <a:bodyPr wrap="square" lIns="63500" rIns="63500" tIns="38100" bIns="38100" anchor="ctr">
            <a:spAutoFit/>
          </a:bodyPr>
          <a:lstStyle/>
          <a:p>
            <a:pPr algn="l">
              <a:spcAft>
                <a:spcPts val="100"/>
              </a:spcAft>
            </a:pPr>
            <a:r>
              <a:rPr sz="860">
                <a:solidFill>
                  <a:srgbClr val="222222"/>
                </a:solidFill>
                <a:latin typeface="Noto Sans CJK SC"/>
              </a:rPr>
              <a:t>用户 / 部门 / 人员</a:t>
            </a:r>
          </a:p>
          <a:p>
            <a:pPr algn="l">
              <a:spcAft>
                <a:spcPts val="100"/>
              </a:spcAft>
            </a:pPr>
            <a:r>
              <a:rPr sz="860">
                <a:solidFill>
                  <a:srgbClr val="222222"/>
                </a:solidFill>
                <a:latin typeface="Noto Sans CJK SC"/>
              </a:rPr>
              <a:t>绑定关系管理</a:t>
            </a:r>
          </a:p>
          <a:p>
            <a:pPr algn="l">
              <a:spcAft>
                <a:spcPts val="100"/>
              </a:spcAft>
            </a:pPr>
            <a:r>
              <a:rPr sz="860">
                <a:solidFill>
                  <a:srgbClr val="222222"/>
                </a:solidFill>
                <a:latin typeface="Noto Sans CJK SC"/>
              </a:rPr>
              <a:t>批量导入与状态维护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60120" y="3200400"/>
            <a:ext cx="3182112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55AA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8136" y="3273552"/>
            <a:ext cx="2926080" cy="219456"/>
          </a:xfrm>
          <a:prstGeom prst="rect">
            <a:avLst/>
          </a:prstGeom>
          <a:noFill/>
        </p:spPr>
        <p:txBody>
          <a:bodyPr wrap="none" lIns="38100" rIns="38100" tIns="12700" bIns="12700" anchor="ctr">
            <a:spAutoFit/>
          </a:bodyPr>
          <a:lstStyle/>
          <a:p>
            <a:pPr algn="ctr"/>
            <a:r>
              <a:rPr sz="1180" b="1">
                <a:solidFill>
                  <a:srgbClr val="55AA66"/>
                </a:solidFill>
                <a:latin typeface="Noto Sans CJK SC"/>
              </a:rPr>
              <a:t>已实现：注册与个人中心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06424" y="3547872"/>
            <a:ext cx="2889504" cy="521208"/>
          </a:xfrm>
          <a:prstGeom prst="rect">
            <a:avLst/>
          </a:prstGeom>
          <a:noFill/>
        </p:spPr>
        <p:txBody>
          <a:bodyPr wrap="square" lIns="63500" rIns="63500" tIns="38100" bIns="38100" anchor="ctr">
            <a:spAutoFit/>
          </a:bodyPr>
          <a:lstStyle/>
          <a:p>
            <a:pPr algn="l">
              <a:spcAft>
                <a:spcPts val="100"/>
              </a:spcAft>
            </a:pPr>
            <a:r>
              <a:rPr sz="860">
                <a:solidFill>
                  <a:srgbClr val="222222"/>
                </a:solidFill>
                <a:latin typeface="Noto Sans CJK SC"/>
              </a:rPr>
              <a:t>安全问题</a:t>
            </a:r>
          </a:p>
          <a:p>
            <a:pPr algn="l">
              <a:spcAft>
                <a:spcPts val="100"/>
              </a:spcAft>
            </a:pPr>
            <a:r>
              <a:rPr sz="860">
                <a:solidFill>
                  <a:srgbClr val="222222"/>
                </a:solidFill>
                <a:latin typeface="Noto Sans CJK SC"/>
              </a:rPr>
              <a:t>人员绑定</a:t>
            </a:r>
          </a:p>
          <a:p>
            <a:pPr algn="l">
              <a:spcAft>
                <a:spcPts val="100"/>
              </a:spcAft>
            </a:pPr>
            <a:r>
              <a:rPr sz="860">
                <a:solidFill>
                  <a:srgbClr val="222222"/>
                </a:solidFill>
                <a:latin typeface="Noto Sans CJK SC"/>
              </a:rPr>
              <a:t>个人信息补全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0" y="3200400"/>
            <a:ext cx="3182112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0C0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700016" y="3273552"/>
            <a:ext cx="2926080" cy="219456"/>
          </a:xfrm>
          <a:prstGeom prst="rect">
            <a:avLst/>
          </a:prstGeom>
          <a:noFill/>
        </p:spPr>
        <p:txBody>
          <a:bodyPr wrap="none" lIns="38100" rIns="38100" tIns="12700" bIns="12700" anchor="ctr">
            <a:spAutoFit/>
          </a:bodyPr>
          <a:lstStyle/>
          <a:p>
            <a:pPr algn="ctr"/>
            <a:r>
              <a:rPr sz="1180" b="1">
                <a:solidFill>
                  <a:srgbClr val="30C0B4"/>
                </a:solidFill>
                <a:latin typeface="Noto Sans CJK SC"/>
              </a:rPr>
              <a:t>已实现：文件与原文查看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18304" y="3547872"/>
            <a:ext cx="2889504" cy="521208"/>
          </a:xfrm>
          <a:prstGeom prst="rect">
            <a:avLst/>
          </a:prstGeom>
          <a:noFill/>
        </p:spPr>
        <p:txBody>
          <a:bodyPr wrap="square" lIns="63500" rIns="63500" tIns="38100" bIns="38100" anchor="ctr">
            <a:spAutoFit/>
          </a:bodyPr>
          <a:lstStyle/>
          <a:p>
            <a:pPr algn="l">
              <a:spcAft>
                <a:spcPts val="100"/>
              </a:spcAft>
            </a:pPr>
            <a:r>
              <a:rPr sz="860">
                <a:solidFill>
                  <a:srgbClr val="222222"/>
                </a:solidFill>
                <a:latin typeface="Noto Sans CJK SC"/>
              </a:rPr>
              <a:t>文件上传与预览</a:t>
            </a:r>
          </a:p>
          <a:p>
            <a:pPr algn="l">
              <a:spcAft>
                <a:spcPts val="100"/>
              </a:spcAft>
            </a:pPr>
            <a:r>
              <a:rPr sz="860">
                <a:solidFill>
                  <a:srgbClr val="222222"/>
                </a:solidFill>
                <a:latin typeface="Noto Sans CJK SC"/>
              </a:rPr>
              <a:t>答案引用查看原文</a:t>
            </a:r>
          </a:p>
          <a:p>
            <a:pPr algn="l">
              <a:spcAft>
                <a:spcPts val="100"/>
              </a:spcAft>
            </a:pPr>
            <a:r>
              <a:rPr sz="860">
                <a:solidFill>
                  <a:srgbClr val="222222"/>
                </a:solidFill>
                <a:latin typeface="Noto Sans CJK SC"/>
              </a:rPr>
              <a:t>MinIO 链路前端入口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097280" y="4828032"/>
            <a:ext cx="6720840" cy="411480"/>
          </a:xfrm>
          <a:prstGeom prst="roundRect">
            <a:avLst/>
          </a:prstGeom>
          <a:solidFill>
            <a:srgbClr val="E9F3FF"/>
          </a:solidFill>
          <a:ln w="10160">
            <a:solidFill>
              <a:srgbClr val="D7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170432" y="4873752"/>
            <a:ext cx="6574536" cy="182880"/>
          </a:xfrm>
          <a:prstGeom prst="rect">
            <a:avLst/>
          </a:prstGeom>
          <a:noFill/>
        </p:spPr>
        <p:txBody>
          <a:bodyPr wrap="none" lIns="38100" rIns="38100" tIns="12700" bIns="12700" anchor="ctr">
            <a:spAutoFit/>
          </a:bodyPr>
          <a:lstStyle/>
          <a:p>
            <a:pPr algn="ctr"/>
            <a:r>
              <a:rPr sz="1019" b="1">
                <a:solidFill>
                  <a:srgbClr val="00459A"/>
                </a:solidFill>
                <a:latin typeface="Noto Sans CJK SC"/>
              </a:rPr>
              <a:t>实现后：前端页面与后端接口同步落地，管理、任务恢复、文件与原文查看形成完整链路。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641080" y="1353312"/>
            <a:ext cx="2834640" cy="12984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055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769096" y="1426464"/>
            <a:ext cx="2578608" cy="219456"/>
          </a:xfrm>
          <a:prstGeom prst="rect">
            <a:avLst/>
          </a:prstGeom>
          <a:noFill/>
        </p:spPr>
        <p:txBody>
          <a:bodyPr wrap="none" lIns="38100" rIns="38100" tIns="12700" bIns="12700" anchor="ctr">
            <a:spAutoFit/>
          </a:bodyPr>
          <a:lstStyle/>
          <a:p>
            <a:pPr algn="ctr"/>
            <a:r>
              <a:rPr sz="1180" b="1">
                <a:solidFill>
                  <a:srgbClr val="0055AA"/>
                </a:solidFill>
                <a:latin typeface="Noto Sans CJK SC"/>
              </a:rPr>
              <a:t>已实现：问题定位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787384" y="1700784"/>
            <a:ext cx="2542032" cy="859536"/>
          </a:xfrm>
          <a:prstGeom prst="rect">
            <a:avLst/>
          </a:prstGeom>
          <a:noFill/>
        </p:spPr>
        <p:txBody>
          <a:bodyPr wrap="square" lIns="63500" rIns="63500" tIns="38100" bIns="38100" anchor="ctr">
            <a:spAutoFit/>
          </a:bodyPr>
          <a:lstStyle/>
          <a:p>
            <a:pPr algn="l">
              <a:spcAft>
                <a:spcPts val="100"/>
              </a:spcAft>
            </a:pPr>
            <a:r>
              <a:rPr sz="860">
                <a:solidFill>
                  <a:srgbClr val="222222"/>
                </a:solidFill>
                <a:latin typeface="Noto Sans CJK SC"/>
              </a:rPr>
              <a:t>右侧问题列表点击后定位到对应回答区域，</a:t>
            </a:r>
          </a:p>
          <a:p>
            <a:pPr algn="l">
              <a:spcAft>
                <a:spcPts val="100"/>
              </a:spcAft>
            </a:pPr>
            <a:r>
              <a:rPr sz="860">
                <a:solidFill>
                  <a:srgbClr val="222222"/>
                </a:solidFill>
                <a:latin typeface="Noto Sans CJK SC"/>
              </a:rPr>
              <a:t>便于回看长会话。</a:t>
            </a:r>
          </a:p>
          <a:p>
            <a:pPr algn="l">
              <a:spcAft>
                <a:spcPts val="100"/>
              </a:spcAft>
            </a:pPr>
            <a:r>
              <a:rPr sz="860">
                <a:solidFill>
                  <a:srgbClr val="222222"/>
                </a:solidFill>
                <a:latin typeface="Noto Sans CJK SC"/>
              </a:rPr>
              <a:t>长任务刷新恢复后仍可快速定位上下文。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641080" y="2779776"/>
            <a:ext cx="2834640" cy="12984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55AA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769096" y="2852928"/>
            <a:ext cx="2578608" cy="219456"/>
          </a:xfrm>
          <a:prstGeom prst="rect">
            <a:avLst/>
          </a:prstGeom>
          <a:noFill/>
        </p:spPr>
        <p:txBody>
          <a:bodyPr wrap="none" lIns="38100" rIns="38100" tIns="12700" bIns="12700" anchor="ctr">
            <a:spAutoFit/>
          </a:bodyPr>
          <a:lstStyle/>
          <a:p>
            <a:pPr algn="ctr"/>
            <a:r>
              <a:rPr sz="1180" b="1">
                <a:solidFill>
                  <a:srgbClr val="55AA66"/>
                </a:solidFill>
                <a:latin typeface="Noto Sans CJK SC"/>
              </a:rPr>
              <a:t>已实现：管理页面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787384" y="3127248"/>
            <a:ext cx="2542032" cy="859536"/>
          </a:xfrm>
          <a:prstGeom prst="rect">
            <a:avLst/>
          </a:prstGeom>
          <a:noFill/>
        </p:spPr>
        <p:txBody>
          <a:bodyPr wrap="square" lIns="63500" rIns="63500" tIns="38100" bIns="38100" anchor="ctr">
            <a:spAutoFit/>
          </a:bodyPr>
          <a:lstStyle/>
          <a:p>
            <a:pPr algn="l">
              <a:spcAft>
                <a:spcPts val="100"/>
              </a:spcAft>
            </a:pPr>
            <a:r>
              <a:rPr sz="860">
                <a:solidFill>
                  <a:srgbClr val="222222"/>
                </a:solidFill>
                <a:latin typeface="Noto Sans CJK SC"/>
              </a:rPr>
              <a:t>管理员页面、注册页和个人中心</a:t>
            </a:r>
          </a:p>
          <a:p>
            <a:pPr algn="l">
              <a:spcAft>
                <a:spcPts val="100"/>
              </a:spcAft>
            </a:pPr>
            <a:r>
              <a:rPr sz="860">
                <a:solidFill>
                  <a:srgbClr val="222222"/>
                </a:solidFill>
                <a:latin typeface="Noto Sans CJK SC"/>
              </a:rPr>
              <a:t>承接组织人员与账号绑定接口。</a:t>
            </a:r>
          </a:p>
          <a:p>
            <a:pPr algn="l">
              <a:spcAft>
                <a:spcPts val="100"/>
              </a:spcAft>
            </a:pPr>
            <a:r>
              <a:rPr sz="860">
                <a:solidFill>
                  <a:srgbClr val="222222"/>
                </a:solidFill>
                <a:latin typeface="Noto Sans CJK SC"/>
              </a:rPr>
              <a:t>后台实现有对应的前端操作面。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641080" y="4206240"/>
            <a:ext cx="2834640" cy="12984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E82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769096" y="4279392"/>
            <a:ext cx="2578608" cy="219456"/>
          </a:xfrm>
          <a:prstGeom prst="rect">
            <a:avLst/>
          </a:prstGeom>
          <a:noFill/>
        </p:spPr>
        <p:txBody>
          <a:bodyPr wrap="none" lIns="38100" rIns="38100" tIns="12700" bIns="12700" anchor="ctr">
            <a:spAutoFit/>
          </a:bodyPr>
          <a:lstStyle/>
          <a:p>
            <a:pPr algn="ctr"/>
            <a:r>
              <a:rPr sz="1180" b="1">
                <a:solidFill>
                  <a:srgbClr val="EE822F"/>
                </a:solidFill>
                <a:latin typeface="Noto Sans CJK SC"/>
              </a:rPr>
              <a:t>已实现：文件原文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787384" y="4553712"/>
            <a:ext cx="2542032" cy="859536"/>
          </a:xfrm>
          <a:prstGeom prst="rect">
            <a:avLst/>
          </a:prstGeom>
          <a:noFill/>
        </p:spPr>
        <p:txBody>
          <a:bodyPr wrap="square" lIns="63500" rIns="63500" tIns="38100" bIns="38100" anchor="ctr">
            <a:spAutoFit/>
          </a:bodyPr>
          <a:lstStyle/>
          <a:p>
            <a:pPr algn="l">
              <a:spcAft>
                <a:spcPts val="100"/>
              </a:spcAft>
            </a:pPr>
            <a:r>
              <a:rPr sz="860">
                <a:solidFill>
                  <a:srgbClr val="222222"/>
                </a:solidFill>
                <a:latin typeface="Noto Sans CJK SC"/>
              </a:rPr>
              <a:t>上传、预览和查看原文的操作入口</a:t>
            </a:r>
          </a:p>
          <a:p>
            <a:pPr algn="l">
              <a:spcAft>
                <a:spcPts val="100"/>
              </a:spcAft>
            </a:pPr>
            <a:r>
              <a:rPr sz="860">
                <a:solidFill>
                  <a:srgbClr val="222222"/>
                </a:solidFill>
                <a:latin typeface="Noto Sans CJK SC"/>
              </a:rPr>
              <a:t>与后端 MinIO 链路保持一致。</a:t>
            </a:r>
          </a:p>
          <a:p>
            <a:pPr algn="l">
              <a:spcAft>
                <a:spcPts val="100"/>
              </a:spcAft>
            </a:pPr>
            <a:r>
              <a:rPr sz="860">
                <a:solidFill>
                  <a:srgbClr val="222222"/>
                </a:solidFill>
                <a:latin typeface="Noto Sans CJK SC"/>
              </a:rPr>
              <a:t>用户从答案到原文查看形成闭环。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154680" y="6236208"/>
            <a:ext cx="1097280" cy="201168"/>
          </a:xfrm>
          <a:prstGeom prst="rect">
            <a:avLst/>
          </a:prstGeom>
          <a:noFill/>
        </p:spPr>
        <p:txBody>
          <a:bodyPr wrap="none" lIns="25400" rIns="25400" tIns="12700" bIns="12700" anchor="ctr">
            <a:spAutoFit/>
          </a:bodyPr>
          <a:lstStyle/>
          <a:p>
            <a:pPr algn="r"/>
            <a:r>
              <a:rPr sz="1000" b="0">
                <a:solidFill>
                  <a:srgbClr val="0055AA"/>
                </a:solidFill>
                <a:latin typeface="Noto Sans CJK SC"/>
              </a:rPr>
              <a:t>创新成就卓越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370832" y="6236208"/>
            <a:ext cx="2743200" cy="201168"/>
          </a:xfrm>
          <a:prstGeom prst="rect">
            <a:avLst/>
          </a:prstGeom>
          <a:noFill/>
        </p:spPr>
        <p:txBody>
          <a:bodyPr wrap="none" lIns="25400" rIns="25400" tIns="12700" bIns="12700" anchor="ctr">
            <a:spAutoFit/>
          </a:bodyPr>
          <a:lstStyle/>
          <a:p>
            <a:pPr algn="l"/>
            <a:r>
              <a:rPr sz="1000" b="0">
                <a:solidFill>
                  <a:srgbClr val="666666"/>
                </a:solidFill>
                <a:latin typeface="Noto Sans CJK SC"/>
              </a:rPr>
              <a:t>INNOVATION CREATES EXCELLENCE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555480" y="6629400"/>
            <a:ext cx="2651760" cy="36576"/>
          </a:xfrm>
          <a:prstGeom prst="rect">
            <a:avLst/>
          </a:prstGeom>
          <a:solidFill>
            <a:srgbClr val="B6C0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0" y="6702552"/>
            <a:ext cx="12191999" cy="36576"/>
          </a:xfrm>
          <a:prstGeom prst="rect">
            <a:avLst/>
          </a:prstGeom>
          <a:solidFill>
            <a:srgbClr val="EEEF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457200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94944" y="73152"/>
            <a:ext cx="502920" cy="274320"/>
          </a:xfrm>
          <a:prstGeom prst="rect">
            <a:avLst/>
          </a:prstGeom>
          <a:noFill/>
        </p:spPr>
        <p:txBody>
          <a:bodyPr wrap="none" lIns="25400" rIns="25400" tIns="12700" bIns="12700" anchor="ctr">
            <a:spAutoFit/>
          </a:bodyPr>
          <a:lstStyle/>
          <a:p>
            <a:pPr algn="l"/>
            <a:r>
              <a:rPr sz="1700" b="1">
                <a:solidFill>
                  <a:srgbClr val="0055AA"/>
                </a:solidFill>
                <a:latin typeface="Noto Sans CJK SC"/>
              </a:rPr>
              <a:t>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" y="36576"/>
            <a:ext cx="5669280" cy="365760"/>
          </a:xfrm>
          <a:prstGeom prst="rect">
            <a:avLst/>
          </a:prstGeom>
          <a:noFill/>
        </p:spPr>
        <p:txBody>
          <a:bodyPr wrap="none" lIns="25400" rIns="25400" tIns="12700" bIns="12700" anchor="ctr">
            <a:spAutoFit/>
          </a:bodyPr>
          <a:lstStyle/>
          <a:p>
            <a:pPr algn="l"/>
            <a:r>
              <a:rPr sz="2200" b="1">
                <a:solidFill>
                  <a:srgbClr val="0055AA"/>
                </a:solidFill>
                <a:latin typeface="Noto Sans CJK SC"/>
              </a:rPr>
              <a:t>交付结果</a:t>
            </a:r>
          </a:p>
        </p:txBody>
      </p:sp>
      <p:pic>
        <p:nvPicPr>
          <p:cNvPr id="5" name="Picture 4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0"/>
            <a:ext cx="2240280" cy="457200"/>
          </a:xfrm>
          <a:prstGeom prst="rect">
            <a:avLst/>
          </a:prstGeom>
        </p:spPr>
      </p:pic>
      <p:pic>
        <p:nvPicPr>
          <p:cNvPr id="6" name="Picture 5" descr="logo_full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04704" y="91440"/>
            <a:ext cx="1298448" cy="25603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58368" y="658368"/>
            <a:ext cx="6949440" cy="438912"/>
          </a:xfrm>
          <a:prstGeom prst="rect">
            <a:avLst/>
          </a:prstGeom>
          <a:noFill/>
        </p:spPr>
        <p:txBody>
          <a:bodyPr wrap="none" lIns="38100" rIns="38100" tIns="12700" bIns="12700" anchor="ctr">
            <a:spAutoFit/>
          </a:bodyPr>
          <a:lstStyle/>
          <a:p>
            <a:pPr algn="l"/>
            <a:r>
              <a:rPr sz="2400" b="1">
                <a:solidFill>
                  <a:srgbClr val="0055AA"/>
                </a:solidFill>
                <a:latin typeface="Noto Sans CJK SC"/>
              </a:rPr>
              <a:t>实现部署编排与运行检查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1078992"/>
            <a:ext cx="6949440" cy="256032"/>
          </a:xfrm>
          <a:prstGeom prst="rect">
            <a:avLst/>
          </a:prstGeom>
          <a:noFill/>
        </p:spPr>
        <p:txBody>
          <a:bodyPr wrap="none" lIns="38100" rIns="38100" tIns="12700" bIns="12700" anchor="ctr">
            <a:spAutoFit/>
          </a:bodyPr>
          <a:lstStyle/>
          <a:p>
            <a:pPr algn="l"/>
            <a:r>
              <a:rPr sz="1150" b="0">
                <a:solidFill>
                  <a:srgbClr val="1E2A3A"/>
                </a:solidFill>
                <a:latin typeface="Noto Sans CJK SC"/>
              </a:rPr>
              <a:t>部署部分简要说明多服务编排、统一入口和基础设施协同。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1353312"/>
            <a:ext cx="7818120" cy="4462272"/>
          </a:xfrm>
          <a:prstGeom prst="rect">
            <a:avLst/>
          </a:prstGeom>
          <a:solidFill>
            <a:srgbClr val="F9FBFE"/>
          </a:solidFill>
          <a:ln w="10160">
            <a:solidFill>
              <a:srgbClr val="D7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960120" y="1737360"/>
            <a:ext cx="7086600" cy="65836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055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24712" y="1929384"/>
            <a:ext cx="960120" cy="201168"/>
          </a:xfrm>
          <a:prstGeom prst="rect">
            <a:avLst/>
          </a:prstGeom>
          <a:noFill/>
        </p:spPr>
        <p:txBody>
          <a:bodyPr wrap="none" lIns="38100" rIns="38100" tIns="12700" bIns="12700" anchor="ctr">
            <a:spAutoFit/>
          </a:bodyPr>
          <a:lstStyle/>
          <a:p>
            <a:pPr algn="ctr"/>
            <a:r>
              <a:rPr sz="1200" b="1">
                <a:solidFill>
                  <a:srgbClr val="0055AA"/>
                </a:solidFill>
                <a:latin typeface="Noto Sans CJK SC"/>
              </a:rPr>
              <a:t>入口层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404872" y="1938528"/>
            <a:ext cx="1188720" cy="182880"/>
          </a:xfrm>
          <a:prstGeom prst="rect">
            <a:avLst/>
          </a:prstGeom>
          <a:noFill/>
        </p:spPr>
        <p:txBody>
          <a:bodyPr wrap="none" lIns="38100" rIns="38100" tIns="12700" bIns="12700" anchor="ctr">
            <a:spAutoFit/>
          </a:bodyPr>
          <a:lstStyle/>
          <a:p>
            <a:pPr algn="ctr"/>
            <a:r>
              <a:rPr sz="980" b="0">
                <a:solidFill>
                  <a:srgbClr val="1E2A3A"/>
                </a:solidFill>
                <a:latin typeface="Aptos"/>
              </a:rPr>
              <a:t>frontend nginx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39896" y="1938528"/>
            <a:ext cx="1188720" cy="182880"/>
          </a:xfrm>
          <a:prstGeom prst="rect">
            <a:avLst/>
          </a:prstGeom>
          <a:noFill/>
        </p:spPr>
        <p:txBody>
          <a:bodyPr wrap="none" lIns="38100" rIns="38100" tIns="12700" bIns="12700" anchor="ctr">
            <a:spAutoFit/>
          </a:bodyPr>
          <a:lstStyle/>
          <a:p>
            <a:pPr algn="ctr"/>
            <a:r>
              <a:rPr sz="980" b="0">
                <a:solidFill>
                  <a:srgbClr val="1E2A3A"/>
                </a:solidFill>
                <a:latin typeface="Aptos"/>
              </a:rPr>
              <a:t>gateway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4498848" y="2395728"/>
            <a:ext cx="0" cy="374904"/>
          </a:xfrm>
          <a:prstGeom prst="line">
            <a:avLst/>
          </a:prstGeom>
          <a:ln w="12700">
            <a:solidFill>
              <a:srgbClr val="4E82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960120" y="2788920"/>
            <a:ext cx="7086600" cy="65836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4E82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24712" y="2980944"/>
            <a:ext cx="960120" cy="201168"/>
          </a:xfrm>
          <a:prstGeom prst="rect">
            <a:avLst/>
          </a:prstGeom>
          <a:noFill/>
        </p:spPr>
        <p:txBody>
          <a:bodyPr wrap="none" lIns="38100" rIns="38100" tIns="12700" bIns="12700" anchor="ctr">
            <a:spAutoFit/>
          </a:bodyPr>
          <a:lstStyle/>
          <a:p>
            <a:pPr algn="ctr"/>
            <a:r>
              <a:rPr sz="1200" b="1">
                <a:solidFill>
                  <a:srgbClr val="4E82C7"/>
                </a:solidFill>
                <a:latin typeface="Noto Sans CJK SC"/>
              </a:rPr>
              <a:t>服务层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404872" y="2990088"/>
            <a:ext cx="1188720" cy="182880"/>
          </a:xfrm>
          <a:prstGeom prst="rect">
            <a:avLst/>
          </a:prstGeom>
          <a:noFill/>
        </p:spPr>
        <p:txBody>
          <a:bodyPr wrap="none" lIns="38100" rIns="38100" tIns="12700" bIns="12700" anchor="ctr">
            <a:spAutoFit/>
          </a:bodyPr>
          <a:lstStyle/>
          <a:p>
            <a:pPr algn="ctr"/>
            <a:r>
              <a:rPr sz="980" b="0">
                <a:solidFill>
                  <a:srgbClr val="1E2A3A"/>
                </a:solidFill>
                <a:latin typeface="Aptos"/>
              </a:rPr>
              <a:t>public-service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39896" y="2990088"/>
            <a:ext cx="1188720" cy="182880"/>
          </a:xfrm>
          <a:prstGeom prst="rect">
            <a:avLst/>
          </a:prstGeom>
          <a:noFill/>
        </p:spPr>
        <p:txBody>
          <a:bodyPr wrap="none" lIns="38100" rIns="38100" tIns="12700" bIns="12700" anchor="ctr">
            <a:spAutoFit/>
          </a:bodyPr>
          <a:lstStyle/>
          <a:p>
            <a:pPr algn="ctr"/>
            <a:r>
              <a:rPr sz="980" b="0">
                <a:solidFill>
                  <a:srgbClr val="1E2A3A"/>
                </a:solidFill>
                <a:latin typeface="Aptos"/>
              </a:rPr>
              <a:t>fastQA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74920" y="2990088"/>
            <a:ext cx="1188720" cy="182880"/>
          </a:xfrm>
          <a:prstGeom prst="rect">
            <a:avLst/>
          </a:prstGeom>
          <a:noFill/>
        </p:spPr>
        <p:txBody>
          <a:bodyPr wrap="none" lIns="38100" rIns="38100" tIns="12700" bIns="12700" anchor="ctr">
            <a:spAutoFit/>
          </a:bodyPr>
          <a:lstStyle/>
          <a:p>
            <a:pPr algn="ctr"/>
            <a:r>
              <a:rPr sz="980" b="0">
                <a:solidFill>
                  <a:srgbClr val="1E2A3A"/>
                </a:solidFill>
                <a:latin typeface="Aptos"/>
              </a:rPr>
              <a:t>highThinkingQA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9944" y="2990088"/>
            <a:ext cx="1188720" cy="182880"/>
          </a:xfrm>
          <a:prstGeom prst="rect">
            <a:avLst/>
          </a:prstGeom>
          <a:noFill/>
        </p:spPr>
        <p:txBody>
          <a:bodyPr wrap="none" lIns="38100" rIns="38100" tIns="12700" bIns="12700" anchor="ctr">
            <a:spAutoFit/>
          </a:bodyPr>
          <a:lstStyle/>
          <a:p>
            <a:pPr algn="ctr"/>
            <a:r>
              <a:rPr sz="980" b="0">
                <a:solidFill>
                  <a:srgbClr val="1E2A3A"/>
                </a:solidFill>
                <a:latin typeface="Aptos"/>
              </a:rPr>
              <a:t>patent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4498848" y="3447287"/>
            <a:ext cx="0" cy="374904"/>
          </a:xfrm>
          <a:prstGeom prst="line">
            <a:avLst/>
          </a:prstGeom>
          <a:ln w="12700">
            <a:solidFill>
              <a:srgbClr val="4E82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960120" y="3840480"/>
            <a:ext cx="7086600" cy="65836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55AA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124712" y="4032504"/>
            <a:ext cx="960120" cy="201168"/>
          </a:xfrm>
          <a:prstGeom prst="rect">
            <a:avLst/>
          </a:prstGeom>
          <a:noFill/>
        </p:spPr>
        <p:txBody>
          <a:bodyPr wrap="none" lIns="38100" rIns="38100" tIns="12700" bIns="12700" anchor="ctr">
            <a:spAutoFit/>
          </a:bodyPr>
          <a:lstStyle/>
          <a:p>
            <a:pPr algn="ctr"/>
            <a:r>
              <a:rPr sz="1200" b="1">
                <a:solidFill>
                  <a:srgbClr val="55AA66"/>
                </a:solidFill>
                <a:latin typeface="Noto Sans CJK SC"/>
              </a:rPr>
              <a:t>基础设施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404872" y="4041648"/>
            <a:ext cx="1188720" cy="182880"/>
          </a:xfrm>
          <a:prstGeom prst="rect">
            <a:avLst/>
          </a:prstGeom>
          <a:noFill/>
        </p:spPr>
        <p:txBody>
          <a:bodyPr wrap="none" lIns="38100" rIns="38100" tIns="12700" bIns="12700" anchor="ctr">
            <a:spAutoFit/>
          </a:bodyPr>
          <a:lstStyle/>
          <a:p>
            <a:pPr algn="ctr"/>
            <a:r>
              <a:rPr sz="980" b="0">
                <a:solidFill>
                  <a:srgbClr val="1E2A3A"/>
                </a:solidFill>
                <a:latin typeface="Aptos"/>
              </a:rPr>
              <a:t>MySQL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739896" y="4041648"/>
            <a:ext cx="1188720" cy="182880"/>
          </a:xfrm>
          <a:prstGeom prst="rect">
            <a:avLst/>
          </a:prstGeom>
          <a:noFill/>
        </p:spPr>
        <p:txBody>
          <a:bodyPr wrap="none" lIns="38100" rIns="38100" tIns="12700" bIns="12700" anchor="ctr">
            <a:spAutoFit/>
          </a:bodyPr>
          <a:lstStyle/>
          <a:p>
            <a:pPr algn="ctr"/>
            <a:r>
              <a:rPr sz="980" b="0">
                <a:solidFill>
                  <a:srgbClr val="1E2A3A"/>
                </a:solidFill>
                <a:latin typeface="Aptos"/>
              </a:rPr>
              <a:t>Redis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74920" y="4041648"/>
            <a:ext cx="1188720" cy="182880"/>
          </a:xfrm>
          <a:prstGeom prst="rect">
            <a:avLst/>
          </a:prstGeom>
          <a:noFill/>
        </p:spPr>
        <p:txBody>
          <a:bodyPr wrap="none" lIns="38100" rIns="38100" tIns="12700" bIns="12700" anchor="ctr">
            <a:spAutoFit/>
          </a:bodyPr>
          <a:lstStyle/>
          <a:p>
            <a:pPr algn="ctr"/>
            <a:r>
              <a:rPr sz="980" b="0">
                <a:solidFill>
                  <a:srgbClr val="1E2A3A"/>
                </a:solidFill>
                <a:latin typeface="Aptos"/>
              </a:rPr>
              <a:t>MinIO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9944" y="4041648"/>
            <a:ext cx="1188720" cy="182880"/>
          </a:xfrm>
          <a:prstGeom prst="rect">
            <a:avLst/>
          </a:prstGeom>
          <a:noFill/>
        </p:spPr>
        <p:txBody>
          <a:bodyPr wrap="none" lIns="38100" rIns="38100" tIns="12700" bIns="12700" anchor="ctr">
            <a:spAutoFit/>
          </a:bodyPr>
          <a:lstStyle/>
          <a:p>
            <a:pPr algn="ctr"/>
            <a:r>
              <a:rPr sz="980" b="0">
                <a:solidFill>
                  <a:srgbClr val="1E2A3A"/>
                </a:solidFill>
                <a:latin typeface="Aptos"/>
              </a:rPr>
              <a:t>Neo4j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641080" y="1353312"/>
            <a:ext cx="2834640" cy="12984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055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769096" y="1426464"/>
            <a:ext cx="2578608" cy="219456"/>
          </a:xfrm>
          <a:prstGeom prst="rect">
            <a:avLst/>
          </a:prstGeom>
          <a:noFill/>
        </p:spPr>
        <p:txBody>
          <a:bodyPr wrap="none" lIns="38100" rIns="38100" tIns="12700" bIns="12700" anchor="ctr">
            <a:spAutoFit/>
          </a:bodyPr>
          <a:lstStyle/>
          <a:p>
            <a:pPr algn="ctr"/>
            <a:r>
              <a:rPr sz="1180" b="1">
                <a:solidFill>
                  <a:srgbClr val="0055AA"/>
                </a:solidFill>
                <a:latin typeface="Noto Sans CJK SC"/>
              </a:rPr>
              <a:t>已实现：Compose 编排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787384" y="1700784"/>
            <a:ext cx="2542032" cy="859536"/>
          </a:xfrm>
          <a:prstGeom prst="rect">
            <a:avLst/>
          </a:prstGeom>
          <a:noFill/>
        </p:spPr>
        <p:txBody>
          <a:bodyPr wrap="square" lIns="63500" rIns="63500" tIns="38100" bIns="38100" anchor="ctr">
            <a:spAutoFit/>
          </a:bodyPr>
          <a:lstStyle/>
          <a:p>
            <a:pPr algn="l">
              <a:spcAft>
                <a:spcPts val="100"/>
              </a:spcAft>
            </a:pPr>
            <a:r>
              <a:rPr sz="860">
                <a:solidFill>
                  <a:srgbClr val="222222"/>
                </a:solidFill>
                <a:latin typeface="Noto Sans CJK SC"/>
              </a:rPr>
              <a:t>使用 Docker Compose 编排 gateway、</a:t>
            </a:r>
          </a:p>
          <a:p>
            <a:pPr algn="l">
              <a:spcAft>
                <a:spcPts val="100"/>
              </a:spcAft>
            </a:pPr>
            <a:r>
              <a:rPr sz="860">
                <a:solidFill>
                  <a:srgbClr val="222222"/>
                </a:solidFill>
                <a:latin typeface="Noto Sans CJK SC"/>
              </a:rPr>
              <a:t>public-service、QA 服务和基础设施。</a:t>
            </a:r>
          </a:p>
          <a:p>
            <a:pPr algn="l">
              <a:spcAft>
                <a:spcPts val="100"/>
              </a:spcAft>
            </a:pPr>
            <a:r>
              <a:rPr sz="860">
                <a:solidFill>
                  <a:srgbClr val="222222"/>
                </a:solidFill>
                <a:latin typeface="Noto Sans CJK SC"/>
              </a:rPr>
              <a:t>交付时可按服务层次启动与检查。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641080" y="2779776"/>
            <a:ext cx="2834640" cy="12984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55AA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769096" y="2852928"/>
            <a:ext cx="2578608" cy="219456"/>
          </a:xfrm>
          <a:prstGeom prst="rect">
            <a:avLst/>
          </a:prstGeom>
          <a:noFill/>
        </p:spPr>
        <p:txBody>
          <a:bodyPr wrap="none" lIns="38100" rIns="38100" tIns="12700" bIns="12700" anchor="ctr">
            <a:spAutoFit/>
          </a:bodyPr>
          <a:lstStyle/>
          <a:p>
            <a:pPr algn="ctr"/>
            <a:r>
              <a:rPr sz="1180" b="1">
                <a:solidFill>
                  <a:srgbClr val="55AA66"/>
                </a:solidFill>
                <a:latin typeface="Noto Sans CJK SC"/>
              </a:rPr>
              <a:t>已实现：统一入口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787384" y="3127248"/>
            <a:ext cx="2542032" cy="859536"/>
          </a:xfrm>
          <a:prstGeom prst="rect">
            <a:avLst/>
          </a:prstGeom>
          <a:noFill/>
        </p:spPr>
        <p:txBody>
          <a:bodyPr wrap="square" lIns="63500" rIns="63500" tIns="38100" bIns="38100" anchor="ctr">
            <a:spAutoFit/>
          </a:bodyPr>
          <a:lstStyle/>
          <a:p>
            <a:pPr algn="l">
              <a:spcAft>
                <a:spcPts val="100"/>
              </a:spcAft>
            </a:pPr>
            <a:r>
              <a:rPr sz="860">
                <a:solidFill>
                  <a:srgbClr val="222222"/>
                </a:solidFill>
                <a:latin typeface="Noto Sans CJK SC"/>
              </a:rPr>
              <a:t>前端 nginx 与 gateway 对外承接访问，</a:t>
            </a:r>
          </a:p>
          <a:p>
            <a:pPr algn="l">
              <a:spcAft>
                <a:spcPts val="100"/>
              </a:spcAft>
            </a:pPr>
            <a:r>
              <a:rPr sz="860">
                <a:solidFill>
                  <a:srgbClr val="222222"/>
                </a:solidFill>
                <a:latin typeface="Noto Sans CJK SC"/>
              </a:rPr>
              <a:t>后端服务在内部按路由协作。</a:t>
            </a:r>
          </a:p>
          <a:p>
            <a:pPr algn="l">
              <a:spcAft>
                <a:spcPts val="100"/>
              </a:spcAft>
            </a:pPr>
            <a:r>
              <a:rPr sz="860">
                <a:solidFill>
                  <a:srgbClr val="222222"/>
                </a:solidFill>
                <a:latin typeface="Noto Sans CJK SC"/>
              </a:rPr>
              <a:t>外部访问路径保持集中和稳定。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641080" y="4206240"/>
            <a:ext cx="2834640" cy="12984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4E82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769096" y="4279392"/>
            <a:ext cx="2578608" cy="219456"/>
          </a:xfrm>
          <a:prstGeom prst="rect">
            <a:avLst/>
          </a:prstGeom>
          <a:noFill/>
        </p:spPr>
        <p:txBody>
          <a:bodyPr wrap="none" lIns="38100" rIns="38100" tIns="12700" bIns="12700" anchor="ctr">
            <a:spAutoFit/>
          </a:bodyPr>
          <a:lstStyle/>
          <a:p>
            <a:pPr algn="ctr"/>
            <a:r>
              <a:rPr sz="1180" b="1">
                <a:solidFill>
                  <a:srgbClr val="4E82C7"/>
                </a:solidFill>
                <a:latin typeface="Noto Sans CJK SC"/>
              </a:rPr>
              <a:t>已实现：运行检查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787384" y="4553712"/>
            <a:ext cx="2542032" cy="859536"/>
          </a:xfrm>
          <a:prstGeom prst="rect">
            <a:avLst/>
          </a:prstGeom>
          <a:noFill/>
        </p:spPr>
        <p:txBody>
          <a:bodyPr wrap="square" lIns="63500" rIns="63500" tIns="38100" bIns="38100" anchor="ctr">
            <a:spAutoFit/>
          </a:bodyPr>
          <a:lstStyle/>
          <a:p>
            <a:pPr algn="l">
              <a:spcAft>
                <a:spcPts val="100"/>
              </a:spcAft>
            </a:pPr>
            <a:r>
              <a:rPr sz="860">
                <a:solidFill>
                  <a:srgbClr val="222222"/>
                </a:solidFill>
                <a:latin typeface="Noto Sans CJK SC"/>
              </a:rPr>
              <a:t>保留多服务启动、状态检查</a:t>
            </a:r>
          </a:p>
          <a:p>
            <a:pPr algn="l">
              <a:spcAft>
                <a:spcPts val="100"/>
              </a:spcAft>
            </a:pPr>
            <a:r>
              <a:rPr sz="860">
                <a:solidFill>
                  <a:srgbClr val="222222"/>
                </a:solidFill>
                <a:latin typeface="Noto Sans CJK SC"/>
              </a:rPr>
              <a:t>与基础设施连通性校验脚本。</a:t>
            </a:r>
          </a:p>
          <a:p>
            <a:pPr algn="l">
              <a:spcAft>
                <a:spcPts val="100"/>
              </a:spcAft>
            </a:pPr>
            <a:r>
              <a:rPr sz="860">
                <a:solidFill>
                  <a:srgbClr val="222222"/>
                </a:solidFill>
                <a:latin typeface="Noto Sans CJK SC"/>
              </a:rPr>
              <a:t>部署后可快速确认核心服务可用。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154680" y="6236208"/>
            <a:ext cx="1097280" cy="201168"/>
          </a:xfrm>
          <a:prstGeom prst="rect">
            <a:avLst/>
          </a:prstGeom>
          <a:noFill/>
        </p:spPr>
        <p:txBody>
          <a:bodyPr wrap="none" lIns="25400" rIns="25400" tIns="12700" bIns="12700" anchor="ctr">
            <a:spAutoFit/>
          </a:bodyPr>
          <a:lstStyle/>
          <a:p>
            <a:pPr algn="r"/>
            <a:r>
              <a:rPr sz="1000" b="0">
                <a:solidFill>
                  <a:srgbClr val="0055AA"/>
                </a:solidFill>
                <a:latin typeface="Noto Sans CJK SC"/>
              </a:rPr>
              <a:t>创新成就卓越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370832" y="6236208"/>
            <a:ext cx="2743200" cy="201168"/>
          </a:xfrm>
          <a:prstGeom prst="rect">
            <a:avLst/>
          </a:prstGeom>
          <a:noFill/>
        </p:spPr>
        <p:txBody>
          <a:bodyPr wrap="none" lIns="25400" rIns="25400" tIns="12700" bIns="12700" anchor="ctr">
            <a:spAutoFit/>
          </a:bodyPr>
          <a:lstStyle/>
          <a:p>
            <a:pPr algn="l"/>
            <a:r>
              <a:rPr sz="1000" b="0">
                <a:solidFill>
                  <a:srgbClr val="666666"/>
                </a:solidFill>
                <a:latin typeface="Noto Sans CJK SC"/>
              </a:rPr>
              <a:t>INNOVATION CREATES EXCELLENCE</a:t>
            </a:r>
          </a:p>
        </p:txBody>
      </p:sp>
      <p:sp>
        <p:nvSpPr>
          <p:cNvPr id="39" name="Rectangle 38"/>
          <p:cNvSpPr/>
          <p:nvPr/>
        </p:nvSpPr>
        <p:spPr>
          <a:xfrm>
            <a:off x="9555480" y="6629400"/>
            <a:ext cx="2651760" cy="36576"/>
          </a:xfrm>
          <a:prstGeom prst="rect">
            <a:avLst/>
          </a:prstGeom>
          <a:solidFill>
            <a:srgbClr val="B6C0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0" y="6702552"/>
            <a:ext cx="12191999" cy="36576"/>
          </a:xfrm>
          <a:prstGeom prst="rect">
            <a:avLst/>
          </a:prstGeom>
          <a:solidFill>
            <a:srgbClr val="EEEF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457200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94944" y="73152"/>
            <a:ext cx="502920" cy="274320"/>
          </a:xfrm>
          <a:prstGeom prst="rect">
            <a:avLst/>
          </a:prstGeom>
          <a:noFill/>
        </p:spPr>
        <p:txBody>
          <a:bodyPr wrap="none" lIns="25400" rIns="25400" tIns="12700" bIns="12700" anchor="ctr">
            <a:spAutoFit/>
          </a:bodyPr>
          <a:lstStyle/>
          <a:p>
            <a:pPr algn="l"/>
            <a:r>
              <a:rPr sz="1700" b="1">
                <a:solidFill>
                  <a:srgbClr val="0055AA"/>
                </a:solidFill>
                <a:latin typeface="Noto Sans CJK SC"/>
              </a:rPr>
              <a:t>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" y="36576"/>
            <a:ext cx="5669280" cy="365760"/>
          </a:xfrm>
          <a:prstGeom prst="rect">
            <a:avLst/>
          </a:prstGeom>
          <a:noFill/>
        </p:spPr>
        <p:txBody>
          <a:bodyPr wrap="none" lIns="25400" rIns="25400" tIns="12700" bIns="12700" anchor="ctr">
            <a:spAutoFit/>
          </a:bodyPr>
          <a:lstStyle/>
          <a:p>
            <a:pPr algn="l"/>
            <a:r>
              <a:rPr sz="2200" b="1">
                <a:solidFill>
                  <a:srgbClr val="0055AA"/>
                </a:solidFill>
                <a:latin typeface="Noto Sans CJK SC"/>
              </a:rPr>
              <a:t>交付结果</a:t>
            </a:r>
          </a:p>
        </p:txBody>
      </p:sp>
      <p:pic>
        <p:nvPicPr>
          <p:cNvPr id="5" name="Picture 4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0"/>
            <a:ext cx="2240280" cy="457200"/>
          </a:xfrm>
          <a:prstGeom prst="rect">
            <a:avLst/>
          </a:prstGeom>
        </p:spPr>
      </p:pic>
      <p:pic>
        <p:nvPicPr>
          <p:cNvPr id="6" name="Picture 5" descr="logo_full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04704" y="91440"/>
            <a:ext cx="1298448" cy="25603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58368" y="658368"/>
            <a:ext cx="6949440" cy="438912"/>
          </a:xfrm>
          <a:prstGeom prst="rect">
            <a:avLst/>
          </a:prstGeom>
          <a:noFill/>
        </p:spPr>
        <p:txBody>
          <a:bodyPr wrap="none" lIns="38100" rIns="38100" tIns="12700" bIns="12700" anchor="ctr">
            <a:spAutoFit/>
          </a:bodyPr>
          <a:lstStyle/>
          <a:p>
            <a:pPr algn="l"/>
            <a:r>
              <a:rPr sz="2400" b="1">
                <a:solidFill>
                  <a:srgbClr val="0055AA"/>
                </a:solidFill>
                <a:latin typeface="Noto Sans CJK SC"/>
              </a:rPr>
              <a:t>已实现内容汇总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1078992"/>
            <a:ext cx="6949440" cy="256032"/>
          </a:xfrm>
          <a:prstGeom prst="rect">
            <a:avLst/>
          </a:prstGeom>
          <a:noFill/>
        </p:spPr>
        <p:txBody>
          <a:bodyPr wrap="none" lIns="38100" rIns="38100" tIns="12700" bIns="12700" anchor="ctr">
            <a:spAutoFit/>
          </a:bodyPr>
          <a:lstStyle/>
          <a:p>
            <a:pPr algn="l"/>
            <a:r>
              <a:rPr sz="1150" b="0">
                <a:solidFill>
                  <a:srgbClr val="1E2A3A"/>
                </a:solidFill>
                <a:latin typeface="Noto Sans CJK SC"/>
              </a:rPr>
              <a:t>核心服务链路、管理后台和任务模型已形成完整闭环。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1353312"/>
            <a:ext cx="7818120" cy="4462272"/>
          </a:xfrm>
          <a:prstGeom prst="rect">
            <a:avLst/>
          </a:prstGeom>
          <a:solidFill>
            <a:srgbClr val="F9FBFE"/>
          </a:solidFill>
          <a:ln w="10160">
            <a:solidFill>
              <a:srgbClr val="D7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960120" y="1755648"/>
            <a:ext cx="3182112" cy="11155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055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88136" y="1828800"/>
            <a:ext cx="2926080" cy="219456"/>
          </a:xfrm>
          <a:prstGeom prst="rect">
            <a:avLst/>
          </a:prstGeom>
          <a:noFill/>
        </p:spPr>
        <p:txBody>
          <a:bodyPr wrap="none" lIns="38100" rIns="38100" tIns="12700" bIns="12700" anchor="ctr">
            <a:spAutoFit/>
          </a:bodyPr>
          <a:lstStyle/>
          <a:p>
            <a:pPr algn="ctr"/>
            <a:r>
              <a:rPr sz="1180" b="1">
                <a:solidFill>
                  <a:srgbClr val="0055AA"/>
                </a:solidFill>
                <a:latin typeface="Noto Sans CJK SC"/>
              </a:rPr>
              <a:t>服务结构已实现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06424" y="2103120"/>
            <a:ext cx="2889504" cy="676656"/>
          </a:xfrm>
          <a:prstGeom prst="rect">
            <a:avLst/>
          </a:prstGeom>
          <a:noFill/>
        </p:spPr>
        <p:txBody>
          <a:bodyPr wrap="square" lIns="63500" rIns="63500" tIns="38100" bIns="38100" anchor="ctr">
            <a:spAutoFit/>
          </a:bodyPr>
          <a:lstStyle/>
          <a:p>
            <a:pPr algn="l">
              <a:spcAft>
                <a:spcPts val="100"/>
              </a:spcAft>
            </a:pPr>
            <a:r>
              <a:rPr sz="840">
                <a:solidFill>
                  <a:srgbClr val="222222"/>
                </a:solidFill>
                <a:latin typeface="Noto Sans CJK SC"/>
              </a:rPr>
              <a:t>gateway 统一入口与路由</a:t>
            </a:r>
          </a:p>
          <a:p>
            <a:pPr algn="l">
              <a:spcAft>
                <a:spcPts val="100"/>
              </a:spcAft>
            </a:pPr>
            <a:r>
              <a:rPr sz="840">
                <a:solidFill>
                  <a:srgbClr val="222222"/>
                </a:solidFill>
                <a:latin typeface="Noto Sans CJK SC"/>
              </a:rPr>
              <a:t>public-service 公共接口</a:t>
            </a:r>
          </a:p>
          <a:p>
            <a:pPr algn="l">
              <a:spcAft>
                <a:spcPts val="100"/>
              </a:spcAft>
            </a:pPr>
            <a:r>
              <a:rPr sz="840">
                <a:solidFill>
                  <a:srgbClr val="222222"/>
                </a:solidFill>
                <a:latin typeface="Noto Sans CJK SC"/>
              </a:rPr>
              <a:t>fast / thinking / patent 独立执行</a:t>
            </a:r>
          </a:p>
          <a:p>
            <a:pPr algn="l">
              <a:spcAft>
                <a:spcPts val="100"/>
              </a:spcAft>
            </a:pPr>
            <a:r>
              <a:rPr sz="840">
                <a:solidFill>
                  <a:srgbClr val="222222"/>
                </a:solidFill>
                <a:latin typeface="Noto Sans CJK SC"/>
              </a:rPr>
              <a:t>基础设施协同落点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0" y="1755648"/>
            <a:ext cx="3182112" cy="11155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E82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700016" y="1828800"/>
            <a:ext cx="2926080" cy="219456"/>
          </a:xfrm>
          <a:prstGeom prst="rect">
            <a:avLst/>
          </a:prstGeom>
          <a:noFill/>
        </p:spPr>
        <p:txBody>
          <a:bodyPr wrap="none" lIns="38100" rIns="38100" tIns="12700" bIns="12700" anchor="ctr">
            <a:spAutoFit/>
          </a:bodyPr>
          <a:lstStyle/>
          <a:p>
            <a:pPr algn="ctr"/>
            <a:r>
              <a:rPr sz="1180" b="1">
                <a:solidFill>
                  <a:srgbClr val="EE822F"/>
                </a:solidFill>
                <a:latin typeface="Noto Sans CJK SC"/>
              </a:rPr>
              <a:t>管理后台已实现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18304" y="2103120"/>
            <a:ext cx="2889504" cy="676656"/>
          </a:xfrm>
          <a:prstGeom prst="rect">
            <a:avLst/>
          </a:prstGeom>
          <a:noFill/>
        </p:spPr>
        <p:txBody>
          <a:bodyPr wrap="square" lIns="63500" rIns="63500" tIns="38100" bIns="38100" anchor="ctr">
            <a:spAutoFit/>
          </a:bodyPr>
          <a:lstStyle/>
          <a:p>
            <a:pPr algn="l">
              <a:spcAft>
                <a:spcPts val="100"/>
              </a:spcAft>
            </a:pPr>
            <a:r>
              <a:rPr sz="840">
                <a:solidFill>
                  <a:srgbClr val="222222"/>
                </a:solidFill>
                <a:latin typeface="Noto Sans CJK SC"/>
              </a:rPr>
              <a:t>用户 / 部门 / 人员维护</a:t>
            </a:r>
          </a:p>
          <a:p>
            <a:pPr algn="l">
              <a:spcAft>
                <a:spcPts val="100"/>
              </a:spcAft>
            </a:pPr>
            <a:r>
              <a:rPr sz="840">
                <a:solidFill>
                  <a:srgbClr val="222222"/>
                </a:solidFill>
                <a:latin typeface="Noto Sans CJK SC"/>
              </a:rPr>
              <a:t>账号人员绑定与状态控制</a:t>
            </a:r>
          </a:p>
          <a:p>
            <a:pPr algn="l">
              <a:spcAft>
                <a:spcPts val="100"/>
              </a:spcAft>
            </a:pPr>
            <a:r>
              <a:rPr sz="840">
                <a:solidFill>
                  <a:srgbClr val="222222"/>
                </a:solidFill>
                <a:latin typeface="Noto Sans CJK SC"/>
              </a:rPr>
              <a:t>管理员修复和批量导入</a:t>
            </a:r>
          </a:p>
          <a:p>
            <a:pPr algn="l">
              <a:spcAft>
                <a:spcPts val="100"/>
              </a:spcAft>
            </a:pPr>
            <a:r>
              <a:rPr sz="840">
                <a:solidFill>
                  <a:srgbClr val="222222"/>
                </a:solidFill>
                <a:latin typeface="Noto Sans CJK SC"/>
              </a:rPr>
              <a:t>用户侧信息补全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60120" y="3172968"/>
            <a:ext cx="3182112" cy="11155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55AA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8136" y="3246120"/>
            <a:ext cx="2926080" cy="219456"/>
          </a:xfrm>
          <a:prstGeom prst="rect">
            <a:avLst/>
          </a:prstGeom>
          <a:noFill/>
        </p:spPr>
        <p:txBody>
          <a:bodyPr wrap="none" lIns="38100" rIns="38100" tIns="12700" bIns="12700" anchor="ctr">
            <a:spAutoFit/>
          </a:bodyPr>
          <a:lstStyle/>
          <a:p>
            <a:pPr algn="ctr"/>
            <a:r>
              <a:rPr sz="1180" b="1">
                <a:solidFill>
                  <a:srgbClr val="55AA66"/>
                </a:solidFill>
                <a:latin typeface="Noto Sans CJK SC"/>
              </a:rPr>
              <a:t>任务模型已实现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06424" y="3520439"/>
            <a:ext cx="2889504" cy="676656"/>
          </a:xfrm>
          <a:prstGeom prst="rect">
            <a:avLst/>
          </a:prstGeom>
          <a:noFill/>
        </p:spPr>
        <p:txBody>
          <a:bodyPr wrap="square" lIns="63500" rIns="63500" tIns="38100" bIns="38100" anchor="ctr">
            <a:spAutoFit/>
          </a:bodyPr>
          <a:lstStyle/>
          <a:p>
            <a:pPr algn="l">
              <a:spcAft>
                <a:spcPts val="100"/>
              </a:spcAft>
            </a:pPr>
            <a:r>
              <a:rPr sz="840">
                <a:solidFill>
                  <a:srgbClr val="222222"/>
                </a:solidFill>
                <a:latin typeface="Noto Sans CJK SC"/>
              </a:rPr>
              <a:t>task_id 状态生命周期</a:t>
            </a:r>
          </a:p>
          <a:p>
            <a:pPr algn="l">
              <a:spcAft>
                <a:spcPts val="100"/>
              </a:spcAft>
            </a:pPr>
            <a:r>
              <a:rPr sz="840">
                <a:solidFill>
                  <a:srgbClr val="222222"/>
                </a:solidFill>
                <a:latin typeface="Noto Sans CJK SC"/>
              </a:rPr>
              <a:t>刷新恢复与重新附着</a:t>
            </a:r>
          </a:p>
          <a:p>
            <a:pPr algn="l">
              <a:spcAft>
                <a:spcPts val="100"/>
              </a:spcAft>
            </a:pPr>
            <a:r>
              <a:rPr sz="840">
                <a:solidFill>
                  <a:srgbClr val="222222"/>
                </a:solidFill>
                <a:latin typeface="Noto Sans CJK SC"/>
              </a:rPr>
              <a:t>多任务并行和真实取消</a:t>
            </a:r>
          </a:p>
          <a:p>
            <a:pPr algn="l">
              <a:spcAft>
                <a:spcPts val="100"/>
              </a:spcAft>
            </a:pPr>
            <a:r>
              <a:rPr sz="840">
                <a:solidFill>
                  <a:srgbClr val="222222"/>
                </a:solidFill>
                <a:latin typeface="Noto Sans CJK SC"/>
              </a:rPr>
              <a:t>事件回放与终态落库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0" y="3172968"/>
            <a:ext cx="3182112" cy="11155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0C0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700016" y="3246120"/>
            <a:ext cx="2926080" cy="219456"/>
          </a:xfrm>
          <a:prstGeom prst="rect">
            <a:avLst/>
          </a:prstGeom>
          <a:noFill/>
        </p:spPr>
        <p:txBody>
          <a:bodyPr wrap="none" lIns="38100" rIns="38100" tIns="12700" bIns="12700" anchor="ctr">
            <a:spAutoFit/>
          </a:bodyPr>
          <a:lstStyle/>
          <a:p>
            <a:pPr algn="ctr"/>
            <a:r>
              <a:rPr sz="1180" b="1">
                <a:solidFill>
                  <a:srgbClr val="30C0B4"/>
                </a:solidFill>
                <a:latin typeface="Noto Sans CJK SC"/>
              </a:rPr>
              <a:t>存储链路已实现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18304" y="3520439"/>
            <a:ext cx="2889504" cy="676656"/>
          </a:xfrm>
          <a:prstGeom prst="rect">
            <a:avLst/>
          </a:prstGeom>
          <a:noFill/>
        </p:spPr>
        <p:txBody>
          <a:bodyPr wrap="square" lIns="63500" rIns="63500" tIns="38100" bIns="38100" anchor="ctr">
            <a:spAutoFit/>
          </a:bodyPr>
          <a:lstStyle/>
          <a:p>
            <a:pPr algn="l">
              <a:spcAft>
                <a:spcPts val="100"/>
              </a:spcAft>
            </a:pPr>
            <a:r>
              <a:rPr sz="840">
                <a:solidFill>
                  <a:srgbClr val="222222"/>
                </a:solidFill>
                <a:latin typeface="Noto Sans CJK SC"/>
              </a:rPr>
              <a:t>MySQL 会话和元数据</a:t>
            </a:r>
          </a:p>
          <a:p>
            <a:pPr algn="l">
              <a:spcAft>
                <a:spcPts val="100"/>
              </a:spcAft>
            </a:pPr>
            <a:r>
              <a:rPr sz="840">
                <a:solidFill>
                  <a:srgbClr val="222222"/>
                </a:solidFill>
                <a:latin typeface="Noto Sans CJK SC"/>
              </a:rPr>
              <a:t>JSON 历史回放记录</a:t>
            </a:r>
          </a:p>
          <a:p>
            <a:pPr algn="l">
              <a:spcAft>
                <a:spcPts val="100"/>
              </a:spcAft>
            </a:pPr>
            <a:r>
              <a:rPr sz="840">
                <a:solidFill>
                  <a:srgbClr val="222222"/>
                </a:solidFill>
                <a:latin typeface="Noto Sans CJK SC"/>
              </a:rPr>
              <a:t>MinIO 文件与原文对象</a:t>
            </a:r>
          </a:p>
          <a:p>
            <a:pPr algn="l">
              <a:spcAft>
                <a:spcPts val="100"/>
              </a:spcAft>
            </a:pPr>
            <a:r>
              <a:rPr sz="840">
                <a:solidFill>
                  <a:srgbClr val="222222"/>
                </a:solidFill>
                <a:latin typeface="Noto Sans CJK SC"/>
              </a:rPr>
              <a:t>Redis 状态、队列、缓存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005840" y="4809744"/>
            <a:ext cx="6903720" cy="438912"/>
          </a:xfrm>
          <a:prstGeom prst="roundRect">
            <a:avLst/>
          </a:prstGeom>
          <a:solidFill>
            <a:srgbClr val="E9F3FF"/>
          </a:solidFill>
          <a:ln w="15240">
            <a:solidFill>
              <a:srgbClr val="0055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143000" y="4919472"/>
            <a:ext cx="6629400" cy="164592"/>
          </a:xfrm>
          <a:prstGeom prst="rect">
            <a:avLst/>
          </a:prstGeom>
          <a:noFill/>
        </p:spPr>
        <p:txBody>
          <a:bodyPr wrap="none" lIns="38100" rIns="38100" tIns="12700" bIns="12700" anchor="ctr">
            <a:spAutoFit/>
          </a:bodyPr>
          <a:lstStyle/>
          <a:p>
            <a:pPr algn="ctr"/>
            <a:r>
              <a:rPr sz="1130" b="1">
                <a:solidFill>
                  <a:srgbClr val="00459A"/>
                </a:solidFill>
                <a:latin typeface="Noto Sans CJK SC"/>
              </a:rPr>
              <a:t>当前已实现从统一入口、公共服务、任务模型到文件与原文存储的核心链路。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641080" y="1353312"/>
            <a:ext cx="2834640" cy="12984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055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769096" y="1426464"/>
            <a:ext cx="2578608" cy="219456"/>
          </a:xfrm>
          <a:prstGeom prst="rect">
            <a:avLst/>
          </a:prstGeom>
          <a:noFill/>
        </p:spPr>
        <p:txBody>
          <a:bodyPr wrap="none" lIns="38100" rIns="38100" tIns="12700" bIns="12700" anchor="ctr">
            <a:spAutoFit/>
          </a:bodyPr>
          <a:lstStyle/>
          <a:p>
            <a:pPr algn="ctr"/>
            <a:r>
              <a:rPr sz="1180" b="1">
                <a:solidFill>
                  <a:srgbClr val="0055AA"/>
                </a:solidFill>
                <a:latin typeface="Noto Sans CJK SC"/>
              </a:rPr>
              <a:t>已实现：架构闭环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787384" y="1700784"/>
            <a:ext cx="2542032" cy="859536"/>
          </a:xfrm>
          <a:prstGeom prst="rect">
            <a:avLst/>
          </a:prstGeom>
          <a:noFill/>
        </p:spPr>
        <p:txBody>
          <a:bodyPr wrap="square" lIns="63500" rIns="63500" tIns="38100" bIns="38100" anchor="ctr">
            <a:spAutoFit/>
          </a:bodyPr>
          <a:lstStyle/>
          <a:p>
            <a:pPr algn="l">
              <a:spcAft>
                <a:spcPts val="100"/>
              </a:spcAft>
            </a:pPr>
            <a:r>
              <a:rPr sz="860">
                <a:solidFill>
                  <a:srgbClr val="222222"/>
                </a:solidFill>
                <a:latin typeface="Noto Sans CJK SC"/>
              </a:rPr>
              <a:t>frontend-vue、gateway、public-service</a:t>
            </a:r>
          </a:p>
          <a:p>
            <a:pPr algn="l">
              <a:spcAft>
                <a:spcPts val="100"/>
              </a:spcAft>
            </a:pPr>
            <a:r>
              <a:rPr sz="860">
                <a:solidFill>
                  <a:srgbClr val="222222"/>
                </a:solidFill>
                <a:latin typeface="Noto Sans CJK SC"/>
              </a:rPr>
              <a:t>与 QA 服务边界已形成闭环。</a:t>
            </a:r>
          </a:p>
          <a:p>
            <a:pPr algn="l">
              <a:spcAft>
                <a:spcPts val="100"/>
              </a:spcAft>
            </a:pPr>
            <a:r>
              <a:rPr sz="860">
                <a:solidFill>
                  <a:srgbClr val="222222"/>
                </a:solidFill>
                <a:latin typeface="Noto Sans CJK SC"/>
              </a:rPr>
              <a:t>入口、公共服务、执行服务职责清晰。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641080" y="2779776"/>
            <a:ext cx="2834640" cy="12984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55AA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769096" y="2852928"/>
            <a:ext cx="2578608" cy="219456"/>
          </a:xfrm>
          <a:prstGeom prst="rect">
            <a:avLst/>
          </a:prstGeom>
          <a:noFill/>
        </p:spPr>
        <p:txBody>
          <a:bodyPr wrap="none" lIns="38100" rIns="38100" tIns="12700" bIns="12700" anchor="ctr">
            <a:spAutoFit/>
          </a:bodyPr>
          <a:lstStyle/>
          <a:p>
            <a:pPr algn="ctr"/>
            <a:r>
              <a:rPr sz="1180" b="1">
                <a:solidFill>
                  <a:srgbClr val="55AA66"/>
                </a:solidFill>
                <a:latin typeface="Noto Sans CJK SC"/>
              </a:rPr>
              <a:t>已实现：业务闭环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787384" y="3127248"/>
            <a:ext cx="2542032" cy="859536"/>
          </a:xfrm>
          <a:prstGeom prst="rect">
            <a:avLst/>
          </a:prstGeom>
          <a:noFill/>
        </p:spPr>
        <p:txBody>
          <a:bodyPr wrap="square" lIns="63500" rIns="63500" tIns="38100" bIns="38100" anchor="ctr">
            <a:spAutoFit/>
          </a:bodyPr>
          <a:lstStyle/>
          <a:p>
            <a:pPr algn="l">
              <a:spcAft>
                <a:spcPts val="100"/>
              </a:spcAft>
            </a:pPr>
            <a:r>
              <a:rPr sz="860">
                <a:solidFill>
                  <a:srgbClr val="222222"/>
                </a:solidFill>
                <a:latin typeface="Noto Sans CJK SC"/>
              </a:rPr>
              <a:t>管理员、组织人员、任务模型、</a:t>
            </a:r>
          </a:p>
          <a:p>
            <a:pPr algn="l">
              <a:spcAft>
                <a:spcPts val="100"/>
              </a:spcAft>
            </a:pPr>
            <a:r>
              <a:rPr sz="860">
                <a:solidFill>
                  <a:srgbClr val="222222"/>
                </a:solidFill>
                <a:latin typeface="Noto Sans CJK SC"/>
              </a:rPr>
              <a:t>消息持久化与文件原文链路已贯通。</a:t>
            </a:r>
          </a:p>
          <a:p>
            <a:pPr algn="l">
              <a:spcAft>
                <a:spcPts val="100"/>
              </a:spcAft>
            </a:pPr>
            <a:r>
              <a:rPr sz="860">
                <a:solidFill>
                  <a:srgbClr val="222222"/>
                </a:solidFill>
                <a:latin typeface="Noto Sans CJK SC"/>
              </a:rPr>
              <a:t>核心流程可以围绕真实会话连续运行。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641080" y="4206240"/>
            <a:ext cx="2834640" cy="12984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E82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769096" y="4279392"/>
            <a:ext cx="2578608" cy="219456"/>
          </a:xfrm>
          <a:prstGeom prst="rect">
            <a:avLst/>
          </a:prstGeom>
          <a:noFill/>
        </p:spPr>
        <p:txBody>
          <a:bodyPr wrap="none" lIns="38100" rIns="38100" tIns="12700" bIns="12700" anchor="ctr">
            <a:spAutoFit/>
          </a:bodyPr>
          <a:lstStyle/>
          <a:p>
            <a:pPr algn="ctr"/>
            <a:r>
              <a:rPr sz="1180" b="1">
                <a:solidFill>
                  <a:srgbClr val="EE822F"/>
                </a:solidFill>
                <a:latin typeface="Noto Sans CJK SC"/>
              </a:rPr>
              <a:t>已实现：交付闭环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787384" y="4553712"/>
            <a:ext cx="2542032" cy="859536"/>
          </a:xfrm>
          <a:prstGeom prst="rect">
            <a:avLst/>
          </a:prstGeom>
          <a:noFill/>
        </p:spPr>
        <p:txBody>
          <a:bodyPr wrap="square" lIns="63500" rIns="63500" tIns="38100" bIns="38100" anchor="ctr">
            <a:spAutoFit/>
          </a:bodyPr>
          <a:lstStyle/>
          <a:p>
            <a:pPr algn="l">
              <a:spcAft>
                <a:spcPts val="100"/>
              </a:spcAft>
            </a:pPr>
            <a:r>
              <a:rPr sz="860">
                <a:solidFill>
                  <a:srgbClr val="222222"/>
                </a:solidFill>
                <a:latin typeface="Noto Sans CJK SC"/>
              </a:rPr>
              <a:t>部署编排、健康检查</a:t>
            </a:r>
          </a:p>
          <a:p>
            <a:pPr algn="l">
              <a:spcAft>
                <a:spcPts val="100"/>
              </a:spcAft>
            </a:pPr>
            <a:r>
              <a:rPr sz="860">
                <a:solidFill>
                  <a:srgbClr val="222222"/>
                </a:solidFill>
                <a:latin typeface="Noto Sans CJK SC"/>
              </a:rPr>
              <a:t>与基础设施协同已纳入交付资料。</a:t>
            </a:r>
          </a:p>
          <a:p>
            <a:pPr algn="l">
              <a:spcAft>
                <a:spcPts val="100"/>
              </a:spcAft>
            </a:pPr>
            <a:r>
              <a:rPr sz="860">
                <a:solidFill>
                  <a:srgbClr val="222222"/>
                </a:solidFill>
                <a:latin typeface="Noto Sans CJK SC"/>
              </a:rPr>
              <a:t>后续继续补充测试和运维观测。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154680" y="6236208"/>
            <a:ext cx="1097280" cy="201168"/>
          </a:xfrm>
          <a:prstGeom prst="rect">
            <a:avLst/>
          </a:prstGeom>
          <a:noFill/>
        </p:spPr>
        <p:txBody>
          <a:bodyPr wrap="none" lIns="25400" rIns="25400" tIns="12700" bIns="12700" anchor="ctr">
            <a:spAutoFit/>
          </a:bodyPr>
          <a:lstStyle/>
          <a:p>
            <a:pPr algn="r"/>
            <a:r>
              <a:rPr sz="1000" b="0">
                <a:solidFill>
                  <a:srgbClr val="0055AA"/>
                </a:solidFill>
                <a:latin typeface="Noto Sans CJK SC"/>
              </a:rPr>
              <a:t>创新成就卓越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370832" y="6236208"/>
            <a:ext cx="2743200" cy="201168"/>
          </a:xfrm>
          <a:prstGeom prst="rect">
            <a:avLst/>
          </a:prstGeom>
          <a:noFill/>
        </p:spPr>
        <p:txBody>
          <a:bodyPr wrap="none" lIns="25400" rIns="25400" tIns="12700" bIns="12700" anchor="ctr">
            <a:spAutoFit/>
          </a:bodyPr>
          <a:lstStyle/>
          <a:p>
            <a:pPr algn="l"/>
            <a:r>
              <a:rPr sz="1000" b="0">
                <a:solidFill>
                  <a:srgbClr val="666666"/>
                </a:solidFill>
                <a:latin typeface="Noto Sans CJK SC"/>
              </a:rPr>
              <a:t>INNOVATION CREATES EXCELLENCE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555480" y="6629400"/>
            <a:ext cx="2651760" cy="36576"/>
          </a:xfrm>
          <a:prstGeom prst="rect">
            <a:avLst/>
          </a:prstGeom>
          <a:solidFill>
            <a:srgbClr val="B6C0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0" y="6702552"/>
            <a:ext cx="12191999" cy="36576"/>
          </a:xfrm>
          <a:prstGeom prst="rect">
            <a:avLst/>
          </a:prstGeom>
          <a:solidFill>
            <a:srgbClr val="EEEF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457200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94944" y="73152"/>
            <a:ext cx="502920" cy="274320"/>
          </a:xfrm>
          <a:prstGeom prst="rect">
            <a:avLst/>
          </a:prstGeom>
          <a:noFill/>
        </p:spPr>
        <p:txBody>
          <a:bodyPr wrap="none" lIns="25400" rIns="25400" tIns="12700" bIns="12700" anchor="ctr">
            <a:spAutoFit/>
          </a:bodyPr>
          <a:lstStyle/>
          <a:p>
            <a:pPr algn="l"/>
            <a:r>
              <a:rPr sz="1700" b="1">
                <a:solidFill>
                  <a:srgbClr val="0055AA"/>
                </a:solidFill>
                <a:latin typeface="Noto Sans CJK SC"/>
              </a:rPr>
              <a:t>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" y="36576"/>
            <a:ext cx="5669280" cy="365760"/>
          </a:xfrm>
          <a:prstGeom prst="rect">
            <a:avLst/>
          </a:prstGeom>
          <a:noFill/>
        </p:spPr>
        <p:txBody>
          <a:bodyPr wrap="none" lIns="25400" rIns="25400" tIns="12700" bIns="12700" anchor="ctr">
            <a:spAutoFit/>
          </a:bodyPr>
          <a:lstStyle/>
          <a:p>
            <a:pPr algn="l"/>
            <a:r>
              <a:rPr sz="2200" b="1">
                <a:solidFill>
                  <a:srgbClr val="0055AA"/>
                </a:solidFill>
                <a:latin typeface="Noto Sans CJK SC"/>
              </a:rPr>
              <a:t>交付结果</a:t>
            </a:r>
          </a:p>
        </p:txBody>
      </p:sp>
      <p:pic>
        <p:nvPicPr>
          <p:cNvPr id="5" name="Picture 4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0"/>
            <a:ext cx="2240280" cy="457200"/>
          </a:xfrm>
          <a:prstGeom prst="rect">
            <a:avLst/>
          </a:prstGeom>
        </p:spPr>
      </p:pic>
      <p:pic>
        <p:nvPicPr>
          <p:cNvPr id="6" name="Picture 5" descr="logo_full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04704" y="91440"/>
            <a:ext cx="1298448" cy="25603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58368" y="658368"/>
            <a:ext cx="6949440" cy="438912"/>
          </a:xfrm>
          <a:prstGeom prst="rect">
            <a:avLst/>
          </a:prstGeom>
          <a:noFill/>
        </p:spPr>
        <p:txBody>
          <a:bodyPr wrap="none" lIns="38100" rIns="38100" tIns="12700" bIns="12700" anchor="ctr">
            <a:spAutoFit/>
          </a:bodyPr>
          <a:lstStyle/>
          <a:p>
            <a:pPr algn="l"/>
            <a:r>
              <a:rPr sz="2400" b="1">
                <a:solidFill>
                  <a:srgbClr val="0055AA"/>
                </a:solidFill>
                <a:latin typeface="Noto Sans CJK SC"/>
              </a:rPr>
              <a:t>后续完善计划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1078992"/>
            <a:ext cx="6949440" cy="256032"/>
          </a:xfrm>
          <a:prstGeom prst="rect">
            <a:avLst/>
          </a:prstGeom>
          <a:noFill/>
        </p:spPr>
        <p:txBody>
          <a:bodyPr wrap="none" lIns="38100" rIns="38100" tIns="12700" bIns="12700" anchor="ctr">
            <a:spAutoFit/>
          </a:bodyPr>
          <a:lstStyle/>
          <a:p>
            <a:pPr algn="l"/>
            <a:r>
              <a:rPr sz="1150" b="0">
                <a:solidFill>
                  <a:srgbClr val="1E2A3A"/>
                </a:solidFill>
                <a:latin typeface="Noto Sans CJK SC"/>
              </a:rPr>
              <a:t>围绕测试、观测、存储一致性和部署文档继续完善工程化交付。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1353312"/>
            <a:ext cx="7818120" cy="4462272"/>
          </a:xfrm>
          <a:prstGeom prst="rect">
            <a:avLst/>
          </a:prstGeom>
          <a:solidFill>
            <a:srgbClr val="F9FBFE"/>
          </a:solidFill>
          <a:ln w="10160">
            <a:solidFill>
              <a:srgbClr val="D7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987552" y="1645920"/>
            <a:ext cx="6967728" cy="67665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055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43000" y="1874519"/>
            <a:ext cx="1371600" cy="201168"/>
          </a:xfrm>
          <a:prstGeom prst="rect">
            <a:avLst/>
          </a:prstGeom>
          <a:noFill/>
        </p:spPr>
        <p:txBody>
          <a:bodyPr wrap="none" lIns="38100" rIns="38100" tIns="12700" bIns="12700" anchor="ctr">
            <a:spAutoFit/>
          </a:bodyPr>
          <a:lstStyle/>
          <a:p>
            <a:pPr algn="ctr"/>
            <a:r>
              <a:rPr sz="1200" b="1">
                <a:solidFill>
                  <a:srgbClr val="0055AA"/>
                </a:solidFill>
                <a:latin typeface="Noto Sans CJK SC"/>
              </a:rPr>
              <a:t>测试覆盖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88920" y="1755648"/>
            <a:ext cx="4846320" cy="438912"/>
          </a:xfrm>
          <a:prstGeom prst="rect">
            <a:avLst/>
          </a:prstGeom>
          <a:noFill/>
        </p:spPr>
        <p:txBody>
          <a:bodyPr wrap="square" lIns="63500" rIns="63500" tIns="38100" bIns="3810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990">
                <a:solidFill>
                  <a:srgbClr val="1E2A3A"/>
                </a:solidFill>
                <a:latin typeface="Noto Sans CJK SC"/>
              </a:rPr>
              <a:t>补齐登录鉴权、任务恢复、取消、终态消息、</a:t>
            </a:r>
          </a:p>
          <a:p>
            <a:pPr algn="l">
              <a:spcAft>
                <a:spcPts val="0"/>
              </a:spcAft>
            </a:pPr>
            <a:r>
              <a:rPr sz="990">
                <a:solidFill>
                  <a:srgbClr val="1E2A3A"/>
                </a:solidFill>
                <a:latin typeface="Noto Sans CJK SC"/>
              </a:rPr>
              <a:t>MinIO 原文读取等关键链路测试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87552" y="2523744"/>
            <a:ext cx="6967728" cy="67665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4E82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43000" y="2752344"/>
            <a:ext cx="1371600" cy="201168"/>
          </a:xfrm>
          <a:prstGeom prst="rect">
            <a:avLst/>
          </a:prstGeom>
          <a:noFill/>
        </p:spPr>
        <p:txBody>
          <a:bodyPr wrap="none" lIns="38100" rIns="38100" tIns="12700" bIns="12700" anchor="ctr">
            <a:spAutoFit/>
          </a:bodyPr>
          <a:lstStyle/>
          <a:p>
            <a:pPr algn="ctr"/>
            <a:r>
              <a:rPr sz="1200" b="1">
                <a:solidFill>
                  <a:srgbClr val="4E82C7"/>
                </a:solidFill>
                <a:latin typeface="Noto Sans CJK SC"/>
              </a:rPr>
              <a:t>可观测性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88920" y="2633472"/>
            <a:ext cx="4846320" cy="438912"/>
          </a:xfrm>
          <a:prstGeom prst="rect">
            <a:avLst/>
          </a:prstGeom>
          <a:noFill/>
        </p:spPr>
        <p:txBody>
          <a:bodyPr wrap="square" lIns="63500" rIns="63500" tIns="38100" bIns="3810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990">
                <a:solidFill>
                  <a:srgbClr val="1E2A3A"/>
                </a:solidFill>
                <a:latin typeface="Noto Sans CJK SC"/>
              </a:rPr>
              <a:t>完善任务状态、消息落库、对象读取、服务健康</a:t>
            </a:r>
          </a:p>
          <a:p>
            <a:pPr algn="l">
              <a:spcAft>
                <a:spcPts val="0"/>
              </a:spcAft>
            </a:pPr>
            <a:r>
              <a:rPr sz="990">
                <a:solidFill>
                  <a:srgbClr val="1E2A3A"/>
                </a:solidFill>
                <a:latin typeface="Noto Sans CJK SC"/>
              </a:rPr>
              <a:t>等日志与指标观测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87552" y="3401568"/>
            <a:ext cx="6967728" cy="67665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55AA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43000" y="3630168"/>
            <a:ext cx="1371600" cy="201168"/>
          </a:xfrm>
          <a:prstGeom prst="rect">
            <a:avLst/>
          </a:prstGeom>
          <a:noFill/>
        </p:spPr>
        <p:txBody>
          <a:bodyPr wrap="none" lIns="38100" rIns="38100" tIns="12700" bIns="12700" anchor="ctr">
            <a:spAutoFit/>
          </a:bodyPr>
          <a:lstStyle/>
          <a:p>
            <a:pPr algn="ctr"/>
            <a:r>
              <a:rPr sz="1200" b="1">
                <a:solidFill>
                  <a:srgbClr val="55AA66"/>
                </a:solidFill>
                <a:latin typeface="Noto Sans CJK SC"/>
              </a:rPr>
              <a:t>存储一致性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88920" y="3511296"/>
            <a:ext cx="4846320" cy="438912"/>
          </a:xfrm>
          <a:prstGeom prst="rect">
            <a:avLst/>
          </a:prstGeom>
          <a:noFill/>
        </p:spPr>
        <p:txBody>
          <a:bodyPr wrap="square" lIns="63500" rIns="63500" tIns="38100" bIns="3810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990">
                <a:solidFill>
                  <a:srgbClr val="1E2A3A"/>
                </a:solidFill>
                <a:latin typeface="Noto Sans CJK SC"/>
              </a:rPr>
              <a:t>加强 MinIO 对象与 MySQL 元数据之间的</a:t>
            </a:r>
          </a:p>
          <a:p>
            <a:pPr algn="l">
              <a:spcAft>
                <a:spcPts val="0"/>
              </a:spcAft>
            </a:pPr>
            <a:r>
              <a:rPr sz="990">
                <a:solidFill>
                  <a:srgbClr val="1E2A3A"/>
                </a:solidFill>
                <a:latin typeface="Noto Sans CJK SC"/>
              </a:rPr>
              <a:t>一致性校验和异常处理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87552" y="4279392"/>
            <a:ext cx="6967728" cy="67665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E82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43000" y="4507992"/>
            <a:ext cx="1371600" cy="201168"/>
          </a:xfrm>
          <a:prstGeom prst="rect">
            <a:avLst/>
          </a:prstGeom>
          <a:noFill/>
        </p:spPr>
        <p:txBody>
          <a:bodyPr wrap="none" lIns="38100" rIns="38100" tIns="12700" bIns="12700" anchor="ctr">
            <a:spAutoFit/>
          </a:bodyPr>
          <a:lstStyle/>
          <a:p>
            <a:pPr algn="ctr"/>
            <a:r>
              <a:rPr sz="1200" b="1">
                <a:solidFill>
                  <a:srgbClr val="EE822F"/>
                </a:solidFill>
                <a:latin typeface="Noto Sans CJK SC"/>
              </a:rPr>
              <a:t>部署 runbook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788920" y="4389120"/>
            <a:ext cx="4846320" cy="438912"/>
          </a:xfrm>
          <a:prstGeom prst="rect">
            <a:avLst/>
          </a:prstGeom>
          <a:noFill/>
        </p:spPr>
        <p:txBody>
          <a:bodyPr wrap="square" lIns="63500" rIns="63500" tIns="38100" bIns="3810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990">
                <a:solidFill>
                  <a:srgbClr val="1E2A3A"/>
                </a:solidFill>
                <a:latin typeface="Noto Sans CJK SC"/>
              </a:rPr>
              <a:t>整理启动、回滚、配置、排障和健康检查说明，</a:t>
            </a:r>
          </a:p>
          <a:p>
            <a:pPr algn="l">
              <a:spcAft>
                <a:spcPts val="0"/>
              </a:spcAft>
            </a:pPr>
            <a:r>
              <a:rPr sz="990">
                <a:solidFill>
                  <a:srgbClr val="1E2A3A"/>
                </a:solidFill>
                <a:latin typeface="Noto Sans CJK SC"/>
              </a:rPr>
              <a:t>形成可复用交付文档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641080" y="1353312"/>
            <a:ext cx="2834640" cy="12984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055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769096" y="1426464"/>
            <a:ext cx="2578608" cy="219456"/>
          </a:xfrm>
          <a:prstGeom prst="rect">
            <a:avLst/>
          </a:prstGeom>
          <a:noFill/>
        </p:spPr>
        <p:txBody>
          <a:bodyPr wrap="none" lIns="38100" rIns="38100" tIns="12700" bIns="12700" anchor="ctr">
            <a:spAutoFit/>
          </a:bodyPr>
          <a:lstStyle/>
          <a:p>
            <a:pPr algn="ctr"/>
            <a:r>
              <a:rPr sz="1180" b="1">
                <a:solidFill>
                  <a:srgbClr val="0055AA"/>
                </a:solidFill>
                <a:latin typeface="Noto Sans CJK SC"/>
              </a:rPr>
              <a:t>自动化测试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787384" y="1700784"/>
            <a:ext cx="2542032" cy="859536"/>
          </a:xfrm>
          <a:prstGeom prst="rect">
            <a:avLst/>
          </a:prstGeom>
          <a:noFill/>
        </p:spPr>
        <p:txBody>
          <a:bodyPr wrap="square" lIns="63500" rIns="63500" tIns="38100" bIns="38100" anchor="ctr">
            <a:spAutoFit/>
          </a:bodyPr>
          <a:lstStyle/>
          <a:p>
            <a:pPr algn="l">
              <a:spcAft>
                <a:spcPts val="100"/>
              </a:spcAft>
            </a:pPr>
            <a:r>
              <a:rPr sz="860">
                <a:solidFill>
                  <a:srgbClr val="222222"/>
                </a:solidFill>
                <a:latin typeface="Noto Sans CJK SC"/>
              </a:rPr>
              <a:t>围绕登录鉴权、任务状态、消息终态</a:t>
            </a:r>
          </a:p>
          <a:p>
            <a:pPr algn="l">
              <a:spcAft>
                <a:spcPts val="100"/>
              </a:spcAft>
            </a:pPr>
            <a:r>
              <a:rPr sz="860">
                <a:solidFill>
                  <a:srgbClr val="222222"/>
                </a:solidFill>
                <a:latin typeface="Noto Sans CJK SC"/>
              </a:rPr>
              <a:t>和 MinIO 链路补齐测试。</a:t>
            </a:r>
          </a:p>
          <a:p>
            <a:pPr algn="l">
              <a:spcAft>
                <a:spcPts val="100"/>
              </a:spcAft>
            </a:pPr>
            <a:r>
              <a:rPr sz="860">
                <a:solidFill>
                  <a:srgbClr val="222222"/>
                </a:solidFill>
                <a:latin typeface="Noto Sans CJK SC"/>
              </a:rPr>
              <a:t>覆盖刷新恢复、取消和原文读取等关键路径。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641080" y="2779776"/>
            <a:ext cx="2834640" cy="12984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55AA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769096" y="2852928"/>
            <a:ext cx="2578608" cy="219456"/>
          </a:xfrm>
          <a:prstGeom prst="rect">
            <a:avLst/>
          </a:prstGeom>
          <a:noFill/>
        </p:spPr>
        <p:txBody>
          <a:bodyPr wrap="none" lIns="38100" rIns="38100" tIns="12700" bIns="12700" anchor="ctr">
            <a:spAutoFit/>
          </a:bodyPr>
          <a:lstStyle/>
          <a:p>
            <a:pPr algn="ctr"/>
            <a:r>
              <a:rPr sz="1180" b="1">
                <a:solidFill>
                  <a:srgbClr val="55AA66"/>
                </a:solidFill>
                <a:latin typeface="Noto Sans CJK SC"/>
              </a:rPr>
              <a:t>运维可观测性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787384" y="3127248"/>
            <a:ext cx="2542032" cy="859536"/>
          </a:xfrm>
          <a:prstGeom prst="rect">
            <a:avLst/>
          </a:prstGeom>
          <a:noFill/>
        </p:spPr>
        <p:txBody>
          <a:bodyPr wrap="square" lIns="63500" rIns="63500" tIns="38100" bIns="38100" anchor="ctr">
            <a:spAutoFit/>
          </a:bodyPr>
          <a:lstStyle/>
          <a:p>
            <a:pPr algn="l">
              <a:spcAft>
                <a:spcPts val="100"/>
              </a:spcAft>
            </a:pPr>
            <a:r>
              <a:rPr sz="860">
                <a:solidFill>
                  <a:srgbClr val="222222"/>
                </a:solidFill>
                <a:latin typeface="Noto Sans CJK SC"/>
              </a:rPr>
              <a:t>补充任务、消息、存储和服务健康</a:t>
            </a:r>
          </a:p>
          <a:p>
            <a:pPr algn="l">
              <a:spcAft>
                <a:spcPts val="100"/>
              </a:spcAft>
            </a:pPr>
            <a:r>
              <a:rPr sz="860">
                <a:solidFill>
                  <a:srgbClr val="222222"/>
                </a:solidFill>
                <a:latin typeface="Noto Sans CJK SC"/>
              </a:rPr>
              <a:t>的日志与指标观测。</a:t>
            </a:r>
          </a:p>
          <a:p>
            <a:pPr algn="l">
              <a:spcAft>
                <a:spcPts val="100"/>
              </a:spcAft>
            </a:pPr>
            <a:r>
              <a:rPr sz="860">
                <a:solidFill>
                  <a:srgbClr val="222222"/>
                </a:solidFill>
                <a:latin typeface="Noto Sans CJK SC"/>
              </a:rPr>
              <a:t>便于定位长任务执行和对象读取状态。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641080" y="4206240"/>
            <a:ext cx="2834640" cy="12984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4E82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769096" y="4279392"/>
            <a:ext cx="2578608" cy="219456"/>
          </a:xfrm>
          <a:prstGeom prst="rect">
            <a:avLst/>
          </a:prstGeom>
          <a:noFill/>
        </p:spPr>
        <p:txBody>
          <a:bodyPr wrap="none" lIns="38100" rIns="38100" tIns="12700" bIns="12700" anchor="ctr">
            <a:spAutoFit/>
          </a:bodyPr>
          <a:lstStyle/>
          <a:p>
            <a:pPr algn="ctr"/>
            <a:r>
              <a:rPr sz="1180" b="1">
                <a:solidFill>
                  <a:srgbClr val="4E82C7"/>
                </a:solidFill>
                <a:latin typeface="Noto Sans CJK SC"/>
              </a:rPr>
              <a:t>部署文档整理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787384" y="4553712"/>
            <a:ext cx="2542032" cy="859536"/>
          </a:xfrm>
          <a:prstGeom prst="rect">
            <a:avLst/>
          </a:prstGeom>
          <a:noFill/>
        </p:spPr>
        <p:txBody>
          <a:bodyPr wrap="square" lIns="63500" rIns="63500" tIns="38100" bIns="38100" anchor="ctr">
            <a:spAutoFit/>
          </a:bodyPr>
          <a:lstStyle/>
          <a:p>
            <a:pPr algn="l">
              <a:spcAft>
                <a:spcPts val="100"/>
              </a:spcAft>
            </a:pPr>
            <a:r>
              <a:rPr sz="860">
                <a:solidFill>
                  <a:srgbClr val="222222"/>
                </a:solidFill>
                <a:latin typeface="Noto Sans CJK SC"/>
              </a:rPr>
              <a:t>整理启动、回滚、排障和配置说明，</a:t>
            </a:r>
          </a:p>
          <a:p>
            <a:pPr algn="l">
              <a:spcAft>
                <a:spcPts val="100"/>
              </a:spcAft>
            </a:pPr>
            <a:r>
              <a:rPr sz="860">
                <a:solidFill>
                  <a:srgbClr val="222222"/>
                </a:solidFill>
                <a:latin typeface="Noto Sans CJK SC"/>
              </a:rPr>
              <a:t>形成交付 runbook。</a:t>
            </a:r>
          </a:p>
          <a:p>
            <a:pPr algn="l">
              <a:spcAft>
                <a:spcPts val="100"/>
              </a:spcAft>
            </a:pPr>
            <a:r>
              <a:rPr sz="860">
                <a:solidFill>
                  <a:srgbClr val="222222"/>
                </a:solidFill>
                <a:latin typeface="Noto Sans CJK SC"/>
              </a:rPr>
              <a:t>让多服务部署过程可复用、可检查。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154680" y="6236208"/>
            <a:ext cx="1097280" cy="201168"/>
          </a:xfrm>
          <a:prstGeom prst="rect">
            <a:avLst/>
          </a:prstGeom>
          <a:noFill/>
        </p:spPr>
        <p:txBody>
          <a:bodyPr wrap="none" lIns="25400" rIns="25400" tIns="12700" bIns="12700" anchor="ctr">
            <a:spAutoFit/>
          </a:bodyPr>
          <a:lstStyle/>
          <a:p>
            <a:pPr algn="r"/>
            <a:r>
              <a:rPr sz="1000" b="0">
                <a:solidFill>
                  <a:srgbClr val="0055AA"/>
                </a:solidFill>
                <a:latin typeface="Noto Sans CJK SC"/>
              </a:rPr>
              <a:t>创新成就卓越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370832" y="6236208"/>
            <a:ext cx="2743200" cy="201168"/>
          </a:xfrm>
          <a:prstGeom prst="rect">
            <a:avLst/>
          </a:prstGeom>
          <a:noFill/>
        </p:spPr>
        <p:txBody>
          <a:bodyPr wrap="none" lIns="25400" rIns="25400" tIns="12700" bIns="12700" anchor="ctr">
            <a:spAutoFit/>
          </a:bodyPr>
          <a:lstStyle/>
          <a:p>
            <a:pPr algn="l"/>
            <a:r>
              <a:rPr sz="1000" b="0">
                <a:solidFill>
                  <a:srgbClr val="666666"/>
                </a:solidFill>
                <a:latin typeface="Noto Sans CJK SC"/>
              </a:rPr>
              <a:t>INNOVATION CREATES EXCELLENCE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555480" y="6629400"/>
            <a:ext cx="2651760" cy="36576"/>
          </a:xfrm>
          <a:prstGeom prst="rect">
            <a:avLst/>
          </a:prstGeom>
          <a:solidFill>
            <a:srgbClr val="B6C0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0" y="6702552"/>
            <a:ext cx="12191999" cy="36576"/>
          </a:xfrm>
          <a:prstGeom prst="rect">
            <a:avLst/>
          </a:prstGeom>
          <a:solidFill>
            <a:srgbClr val="EEEF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