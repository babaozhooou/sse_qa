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987552"/>
            <a:ext cx="9784080" cy="7498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Noto Sans CJK SC"/>
              </a:rPr>
              <a:t>后端架构重构与平台能力建设汇报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73936"/>
            <a:ext cx="969264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00" b="0">
                <a:solidFill>
                  <a:srgbClr val="889AB2"/>
                </a:solidFill>
                <a:latin typeface="Aptos"/>
              </a:rPr>
              <a:t>Backend Architecture Refactoring &amp; Platform Capability Report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1" y="2487168"/>
            <a:ext cx="4343400" cy="2171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4187952"/>
            <a:ext cx="210312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报告人：xxx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4187952"/>
            <a:ext cx="365760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时  间：2026年xx月xx日</a:t>
            </a: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5175504" cy="694944"/>
          </a:xfrm>
          <a:prstGeom prst="round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713232"/>
            <a:ext cx="713232" cy="713232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49808"/>
            <a:ext cx="19202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900" b="1">
                <a:solidFill>
                  <a:srgbClr val="0055AA"/>
                </a:solidFill>
                <a:latin typeface="Aptos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786384"/>
            <a:ext cx="10058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Noto Sans CJK SC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84831"/>
            <a:ext cx="8686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39696"/>
            <a:ext cx="91440" cy="38404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194560"/>
            <a:ext cx="310896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建设背景与目标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084831"/>
            <a:ext cx="8686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39696"/>
            <a:ext cx="91440" cy="38404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2194560"/>
            <a:ext cx="310896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8686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3758183"/>
            <a:ext cx="91440" cy="38404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3813048"/>
            <a:ext cx="310896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703320"/>
            <a:ext cx="8686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58183"/>
            <a:ext cx="91440" cy="38404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3813048"/>
            <a:ext cx="310896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当前状态与后续计划</a:t>
            </a:r>
          </a:p>
        </p:txBody>
      </p:sp>
      <p:pic>
        <p:nvPicPr>
          <p:cNvPr id="19" name="Picture 18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建设背景与目标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3337560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670048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服务分工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54096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054096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公共能力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38144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3438144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任务连续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22191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3822191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工程支撑</a:t>
            </a: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建设背景与目标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建设背景与目标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1074420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Noto Sans CJK SC"/>
              </a:rPr>
              <a:t>围绕多模式问答、管理员能力、长任务执行和部署交付，后端架构逐步形成更清晰的服务分工和统一支撑能力。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2331720" cy="173736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1122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服务分工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00400"/>
            <a:ext cx="2002536" cy="111556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统一前端入口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gateway 承接接入与路由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服务聚焦执行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697480"/>
            <a:ext cx="2331720" cy="1737360"/>
          </a:xfrm>
          <a:prstGeom prst="roundRect">
            <a:avLst/>
          </a:prstGeom>
          <a:solidFill>
            <a:srgbClr val="F2F7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07208"/>
            <a:ext cx="21122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公共能力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200400"/>
            <a:ext cx="2002536" cy="111556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认证、会话、上传、文档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管理员、部门、人员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配额与系统接口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331720" cy="1737360"/>
          </a:xfrm>
          <a:prstGeom prst="roundRect">
            <a:avLst/>
          </a:prstGeom>
          <a:solidFill>
            <a:srgbClr val="F4FBF8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807208"/>
            <a:ext cx="21122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任务连续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2002536" cy="111556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任务身份 task_id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刷新恢复与事件回放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多任务并行与取消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697480"/>
            <a:ext cx="2331720" cy="1737360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807208"/>
            <a:ext cx="21122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工程支撑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3200400"/>
            <a:ext cx="2002536" cy="111556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统一资源目录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部署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7103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995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681728"/>
            <a:ext cx="1033272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550">
                <a:solidFill>
                  <a:srgbClr val="1E2A3A"/>
                </a:solidFill>
                <a:latin typeface="Noto Sans CJK SC"/>
              </a:rPr>
              <a:t>汇报重点：后端架构设计、公共能力沉淀、任务模型、消息持久化、存储缓存支撑、前端局部能力与部署支撑。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3337560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670048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总体拓扑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54096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054096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38144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3438144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Public-service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22191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3822191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QA 边界</a:t>
            </a: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系统总体架构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" y="1426464"/>
            <a:ext cx="964692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10789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前端入口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8448" y="2249424"/>
            <a:ext cx="9646920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450591"/>
            <a:ext cx="10789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统一网关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" y="3218688"/>
            <a:ext cx="96469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3621024"/>
            <a:ext cx="10789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后端服务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4681728"/>
            <a:ext cx="9646920" cy="80467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4974336"/>
            <a:ext cx="10789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基础设施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508760"/>
            <a:ext cx="2971800" cy="365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frontend-vue  统一前端入口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2331720"/>
            <a:ext cx="3950208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gateway / BFF  接入、路由、任务 API、SSE 转发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1883664"/>
            <a:ext cx="0" cy="438912"/>
          </a:xfrm>
          <a:prstGeom prst="line">
            <a:avLst/>
          </a:prstGeom>
          <a:ln w="1397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82496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6" y="3931920"/>
            <a:ext cx="1874519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公共能力中心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1874519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fast / 文件执行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1874519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thinking 执行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931920"/>
            <a:ext cx="1874519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patent 执行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08192" y="2724912"/>
            <a:ext cx="0" cy="40233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15184" y="3127248"/>
            <a:ext cx="721461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24328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1091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835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182880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285232"/>
            <a:ext cx="201168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用户 / 会话 / 元数据</a:t>
            </a:r>
          </a:p>
        </p:txBody>
      </p:sp>
      <p:sp>
        <p:nvSpPr>
          <p:cNvPr id="35" name="Can 34"/>
          <p:cNvSpPr/>
          <p:nvPr/>
        </p:nvSpPr>
        <p:spPr>
          <a:xfrm>
            <a:off x="416052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285232"/>
            <a:ext cx="201168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任务状态 / 队列 / 缓存</a:t>
            </a:r>
          </a:p>
        </p:txBody>
      </p:sp>
      <p:sp>
        <p:nvSpPr>
          <p:cNvPr id="37" name="Can 36"/>
          <p:cNvSpPr/>
          <p:nvPr/>
        </p:nvSpPr>
        <p:spPr>
          <a:xfrm>
            <a:off x="649224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285232"/>
            <a:ext cx="201168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文件与对象存储</a:t>
            </a:r>
          </a:p>
        </p:txBody>
      </p:sp>
      <p:sp>
        <p:nvSpPr>
          <p:cNvPr id="39" name="Can 38"/>
          <p:cNvSpPr/>
          <p:nvPr/>
        </p:nvSpPr>
        <p:spPr>
          <a:xfrm>
            <a:off x="8823959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Neo4j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5285232"/>
            <a:ext cx="201168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图数据支撑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统一入口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261872"/>
            <a:ext cx="992124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20" b="1">
                <a:solidFill>
                  <a:srgbClr val="00459A"/>
                </a:solidFill>
                <a:latin typeface="Noto Sans CJK SC"/>
              </a:rPr>
              <a:t>统一管理前端到后端的入口协议，让公共能力与 QA 执行服务通过稳定边界协作。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2258568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前端接入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258568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统一承接 frontend-vue 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鉴权透传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258568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保留用户身份与 trace 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3200400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公共接口代理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3200400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auth / conversation / admin 等转发到 public-service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QA 路由决策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200400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按 mode、文件上下文和 route 选择执行服务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4142232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SSE 流式转发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4142232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保持问答流式输出体验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42232"/>
            <a:ext cx="13258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任务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4142232"/>
            <a:ext cx="278892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创建、恢复、取消、事件回放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5084064"/>
            <a:ext cx="9646920" cy="41148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网关不是业务算法层，重点承担入口、协议、路由、任务和流式传输编排。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Public-service 公共能力中心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66420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登录、注册、鉴权、安全问题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6420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conversation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8424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会话、消息、任务状态绑定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198424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PDF / Excel 上传与文件登记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285292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原文查看、翻译、总结支撑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5292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quota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7296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配额模型与用量管理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5292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admin_users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9" y="317296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用户管理、状态、类型、导入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" y="404164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departments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6168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三级部门字典与停启用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4164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personnel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36168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人员主档、绑定、校验码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41648"/>
            <a:ext cx="288036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4361688"/>
            <a:ext cx="27889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健康、运行状态、系统接口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5303520"/>
            <a:ext cx="964692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59A"/>
                </a:solidFill>
                <a:latin typeface="Noto Sans CJK SC"/>
              </a:rPr>
              <a:t>公共能力集中后，gateway 负责代理与编排，QA 服务专注执行链路。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QA 执行服务边界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50592"/>
            <a:ext cx="21031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18836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frontend-vue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773936" cy="52120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会话交互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377440"/>
            <a:ext cx="2331720" cy="13258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487168"/>
            <a:ext cx="21122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2002536" cy="7040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统一路由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554480"/>
            <a:ext cx="2148840" cy="868680"/>
          </a:xfrm>
          <a:prstGeom prst="roundRect">
            <a:avLst/>
          </a:prstGeom>
          <a:solidFill>
            <a:srgbClr val="F5FDFC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664207"/>
            <a:ext cx="192938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fastQA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2057400"/>
            <a:ext cx="1819656" cy="2468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fast / 文件执行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2148840" cy="868680"/>
          </a:xfrm>
          <a:prstGeom prst="roundRect">
            <a:avLst/>
          </a:prstGeom>
          <a:solidFill>
            <a:srgbClr val="FFF8E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52928"/>
            <a:ext cx="192938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highThinkingQA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246120"/>
            <a:ext cx="1819656" cy="2468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thinking 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931920"/>
            <a:ext cx="2148840" cy="868680"/>
          </a:xfrm>
          <a:prstGeom prst="roundRect">
            <a:avLst/>
          </a:prstGeom>
          <a:solidFill>
            <a:srgbClr val="F4FBF5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041648"/>
            <a:ext cx="192938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patent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4434840"/>
            <a:ext cx="1819656" cy="2468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patent 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2542032"/>
            <a:ext cx="2148840" cy="12070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651760"/>
            <a:ext cx="192938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3044952"/>
            <a:ext cx="1819656" cy="58521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认证与会话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文件与消息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管理员能力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52928" y="3017520"/>
            <a:ext cx="64008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24728" y="1783080"/>
            <a:ext cx="667512" cy="1234440"/>
          </a:xfrm>
          <a:prstGeom prst="line">
            <a:avLst/>
          </a:prstGeom>
          <a:ln w="1905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24728" y="3017520"/>
            <a:ext cx="667512" cy="91440"/>
          </a:xfrm>
          <a:prstGeom prst="line">
            <a:avLst/>
          </a:prstGeom>
          <a:ln w="1905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24728" y="3017520"/>
            <a:ext cx="667512" cy="1417320"/>
          </a:xfrm>
          <a:prstGeom prst="line">
            <a:avLst/>
          </a:prstGeom>
          <a:ln w="1905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41080" y="3136392"/>
            <a:ext cx="758952" cy="0"/>
          </a:xfrm>
          <a:prstGeom prst="line">
            <a:avLst/>
          </a:prstGeom>
          <a:ln w="1905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5047488"/>
            <a:ext cx="100584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边界表达：公共能力由 public-service 沉淀，执行服务保留各自模式能力，gateway 负责入口、路由与任务编排。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3337560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670048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管理员能力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54096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054096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38144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3438144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消息存储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22191"/>
            <a:ext cx="32918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3822191"/>
            <a:ext cx="25146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管理员与组织能力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登录鉴权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JWT / 登录状态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9463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安全问题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5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首次设置 / 找回密码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95927" y="2395728"/>
            <a:ext cx="402337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25696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用户管理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新增 / 启停 / 导入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8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部门字典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一级 / 二级 / 三级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08392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9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人员主档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工号 / 姓名 / 状态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64624" y="2395728"/>
            <a:ext cx="402335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94391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5" y="2029968"/>
            <a:ext cx="130759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人员绑定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3" y="2359152"/>
            <a:ext cx="1271016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账号与人员校验绑定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3703320"/>
            <a:ext cx="4800600" cy="123444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459A"/>
                </a:solidFill>
                <a:latin typeface="Noto Sans CJK SC"/>
              </a:rPr>
              <a:t>管理员侧
用户、部门、人员、批量导入等集中管理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3703320"/>
            <a:ext cx="4800600" cy="1234440"/>
          </a:xfrm>
          <a:prstGeom prst="roundRect">
            <a:avLst/>
          </a:prstGeom>
          <a:solidFill>
            <a:srgbClr val="F5FBF7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D7F4F"/>
                </a:solidFill>
                <a:latin typeface="Noto Sans CJK SC"/>
              </a:rPr>
              <a:t>用户侧
注册、个人中心、人员绑定与信息补全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刷新可恢复任务模型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325880" cy="32918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task_id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26464"/>
            <a:ext cx="142646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0055AA"/>
                </a:solidFill>
                <a:latin typeface="Aptos"/>
              </a:rPr>
              <a:t>queued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700784"/>
            <a:ext cx="142646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排队中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26464"/>
            <a:ext cx="142646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4E82C7"/>
                </a:solidFill>
                <a:latin typeface="Aptos"/>
              </a:rPr>
              <a:t>admitted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700784"/>
            <a:ext cx="142646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即将开始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26464"/>
            <a:ext cx="142646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EE822F"/>
                </a:solidFill>
                <a:latin typeface="Aptos"/>
              </a:rPr>
              <a:t>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700784"/>
            <a:ext cx="142646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生成中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426464"/>
            <a:ext cx="1426464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55AA66"/>
                </a:solidFill>
                <a:latin typeface="Aptos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1700784"/>
            <a:ext cx="142646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已完成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127248"/>
            <a:ext cx="204825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刷新恢复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520439"/>
            <a:ext cx="1938528" cy="7955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页面刷新后通过任务摘要发现任务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按 last_seq 继续回放事件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27248"/>
            <a:ext cx="204825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多任务并行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1" y="3520439"/>
            <a:ext cx="1938528" cy="7955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不同会话任务可同时存在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用户侧保留可恢复状态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127248"/>
            <a:ext cx="204825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取消控制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520439"/>
            <a:ext cx="1938528" cy="7955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刷新后停止仍取消真实任务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队列与运行态统一处理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3127248"/>
            <a:ext cx="204825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事件回放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3520439"/>
            <a:ext cx="1938528" cy="7955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事件带 seq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错过内容可补齐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010912"/>
            <a:ext cx="10241280" cy="4389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核心价值：把问答从浏览器请求生命周期中解耦，形成可恢复、可观察、可取消的任务执行模型。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消息持久化与存储支撑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1682496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用户消息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16824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19" b="0">
                <a:solidFill>
                  <a:srgbClr val="889AB2"/>
                </a:solidFill>
                <a:latin typeface="Aptos"/>
              </a:rPr>
              <a:t>user turn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37360"/>
            <a:ext cx="1682496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占位消息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16824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19" b="0">
                <a:solidFill>
                  <a:srgbClr val="889AB2"/>
                </a:solidFill>
                <a:latin typeface="Aptos"/>
              </a:rPr>
              <a:t>assistant placeholder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37360"/>
            <a:ext cx="1682496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执行流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011680"/>
            <a:ext cx="16824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19" b="0">
                <a:solidFill>
                  <a:srgbClr val="889AB2"/>
                </a:solidFill>
                <a:latin typeface="Aptos"/>
              </a:rPr>
              <a:t>QA stream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37360"/>
            <a:ext cx="1682496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终态消息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011680"/>
            <a:ext cx="16824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19" b="0">
                <a:solidFill>
                  <a:srgbClr val="889AB2"/>
                </a:solidFill>
                <a:latin typeface="Aptos"/>
              </a:rPr>
              <a:t>assistant terminal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3182112"/>
            <a:ext cx="2880360" cy="1170432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291840"/>
            <a:ext cx="266090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685032"/>
            <a:ext cx="2551176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会话、消息、文件元数据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task_id 与 active_task 绑定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291840"/>
            <a:ext cx="190195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685032"/>
            <a:ext cx="1792224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3291840"/>
            <a:ext cx="190195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685032"/>
            <a:ext cx="1792224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上传文件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原文与对象存储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3291840"/>
            <a:ext cx="190195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3685032"/>
            <a:ext cx="1792224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任务状态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队列与缓存支撑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892040"/>
            <a:ext cx="10607040" cy="4754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表达边界：Redis 在本页只作为任务状态、队列和缓存支撑，不展开检索相关内容。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前端与部署支撑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737360"/>
            <a:ext cx="467258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前端配套能力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130552"/>
            <a:ext cx="4562855" cy="23225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右侧问题列表：点击定位到对应用户问题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管理员页面：用户、部门、人员与绑定管理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注册 / 个人中心：安全问题、人员绑定、信息补全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 UI：展示排队中、即将开始、生成中等状态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37360"/>
            <a:ext cx="467258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部署支撑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130552"/>
            <a:ext cx="4562855" cy="23225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编排 frontend、gateway 与后端服务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 作为基础设施服务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数据包与 seed job 支撑交付环境初始化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服务脚本支持本地启动、停止与状态检查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017520"/>
            <a:ext cx="52120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5138928"/>
            <a:ext cx="9966960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部署部分保持简述，重点体现多服务运行和基础设施协同。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当前状态与后续计划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325880"/>
            <a:ext cx="10607040" cy="475488"/>
          </a:xfrm>
          <a:prstGeom prst="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2011680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1417320"/>
            <a:ext cx="8138160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801368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20240"/>
            <a:ext cx="201168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当前状态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920240"/>
            <a:ext cx="7955279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gateway、public-service、fastQA、highThinkingQA、patent 健康检查 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2331720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450591"/>
            <a:ext cx="201168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架构链路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450591"/>
            <a:ext cx="7955279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frontend-vue 经 gateway 统一接入，公共能力与 QA 执行服务分层协作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862072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980944"/>
            <a:ext cx="201168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平台能力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2980944"/>
            <a:ext cx="7955279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管理员、部门、人员、任务模型、消息持久化与存储支撑已形成主线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3392424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511296"/>
            <a:ext cx="201168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832" y="3511296"/>
            <a:ext cx="7955279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Docker Compose、多服务镜像、MySQL / Redis / MinIO 等交付要素已整理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078224"/>
            <a:ext cx="10561320" cy="123444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40"/>
            <a:ext cx="201168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459A"/>
                </a:solidFill>
                <a:latin typeface="Noto Sans CJK SC"/>
              </a:rPr>
              <a:t>后续计划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526280"/>
            <a:ext cx="978408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测试与 smoke 校验、监控与日志观测、MinIO 一致性收口、部署 runbook 与运维可观测性。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