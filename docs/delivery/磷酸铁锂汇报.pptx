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6.svg" ContentType="image/svg+xml"/>
  <Override PartName="/ppt/media/image20.svg" ContentType="image/svg+xml"/>
  <Override PartName="/ppt/media/image22.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5"/>
  </p:handoutMasterIdLst>
  <p:sldIdLst>
    <p:sldId id="257" r:id="rId3"/>
    <p:sldId id="258" r:id="rId5"/>
    <p:sldId id="259" r:id="rId6"/>
    <p:sldId id="260" r:id="rId7"/>
    <p:sldId id="274" r:id="rId8"/>
    <p:sldId id="262" r:id="rId9"/>
    <p:sldId id="263" r:id="rId10"/>
    <p:sldId id="264" r:id="rId11"/>
    <p:sldId id="289" r:id="rId12"/>
    <p:sldId id="270" r:id="rId13"/>
    <p:sldId id="280" r:id="rId14"/>
    <p:sldId id="279" r:id="rId15"/>
    <p:sldId id="266" r:id="rId16"/>
    <p:sldId id="267" r:id="rId17"/>
    <p:sldId id="281" r:id="rId18"/>
    <p:sldId id="282" r:id="rId19"/>
    <p:sldId id="283" r:id="rId20"/>
    <p:sldId id="286" r:id="rId21"/>
    <p:sldId id="292" r:id="rId22"/>
    <p:sldId id="287" r:id="rId23"/>
    <p:sldId id="288"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389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cmAuthor id="2" name="admin"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0"/>
        <p:guide pos="389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B078824-98A0-47E9-91BF-DE43E284076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B078824-98A0-47E9-91BF-DE43E284076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B078824-98A0-47E9-91BF-DE43E284076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B078824-98A0-47E9-91BF-DE43E284076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B078824-98A0-47E9-91BF-DE43E284076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B078824-98A0-47E9-91BF-DE43E284076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B078824-98A0-47E9-91BF-DE43E284076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grpSp>
        <p:nvGrpSpPr>
          <p:cNvPr id="10" name="组合 9"/>
          <p:cNvGrpSpPr/>
          <p:nvPr userDrawn="1"/>
        </p:nvGrpSpPr>
        <p:grpSpPr>
          <a:xfrm>
            <a:off x="-6985" y="242570"/>
            <a:ext cx="12207240" cy="431800"/>
            <a:chOff x="-11" y="382"/>
            <a:chExt cx="19224" cy="680"/>
          </a:xfrm>
        </p:grpSpPr>
        <p:sp>
          <p:nvSpPr>
            <p:cNvPr id="11" name="矩形 10"/>
            <p:cNvSpPr/>
            <p:nvPr userDrawn="1"/>
          </p:nvSpPr>
          <p:spPr>
            <a:xfrm>
              <a:off x="-11" y="382"/>
              <a:ext cx="17172" cy="6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descr="未命名-1"/>
            <p:cNvPicPr>
              <a:picLocks noChangeAspect="1"/>
            </p:cNvPicPr>
            <p:nvPr userDrawn="1"/>
          </p:nvPicPr>
          <p:blipFill>
            <a:blip r:embed="rId2"/>
            <a:srcRect r="13264"/>
            <a:stretch>
              <a:fillRect/>
            </a:stretch>
          </p:blipFill>
          <p:spPr>
            <a:xfrm>
              <a:off x="15551" y="382"/>
              <a:ext cx="3662" cy="681"/>
            </a:xfrm>
            <a:prstGeom prst="rect">
              <a:avLst/>
            </a:prstGeom>
          </p:spPr>
        </p:pic>
        <p:pic>
          <p:nvPicPr>
            <p:cNvPr id="13" name="图片 12"/>
            <p:cNvPicPr>
              <a:picLocks noChangeAspect="1"/>
            </p:cNvPicPr>
            <p:nvPr userDrawn="1"/>
          </p:nvPicPr>
          <p:blipFill>
            <a:blip r:embed="rId3"/>
            <a:stretch>
              <a:fillRect/>
            </a:stretch>
          </p:blipFill>
          <p:spPr>
            <a:xfrm>
              <a:off x="16098" y="436"/>
              <a:ext cx="2375" cy="568"/>
            </a:xfrm>
            <a:prstGeom prst="rect">
              <a:avLst/>
            </a:prstGeom>
          </p:spPr>
        </p:pic>
      </p:grpSp>
      <p:grpSp>
        <p:nvGrpSpPr>
          <p:cNvPr id="25" name="组合 24"/>
          <p:cNvGrpSpPr/>
          <p:nvPr userDrawn="1"/>
        </p:nvGrpSpPr>
        <p:grpSpPr>
          <a:xfrm>
            <a:off x="-118533" y="6646546"/>
            <a:ext cx="12488333" cy="53340"/>
            <a:chOff x="-140" y="10467"/>
            <a:chExt cx="14750" cy="84"/>
          </a:xfrm>
        </p:grpSpPr>
        <p:sp>
          <p:nvSpPr>
            <p:cNvPr id="19" name="圆角矩形 18"/>
            <p:cNvSpPr/>
            <p:nvPr userDrawn="1"/>
          </p:nvSpPr>
          <p:spPr>
            <a:xfrm>
              <a:off x="-140" y="10467"/>
              <a:ext cx="12473" cy="8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圆角矩形 19"/>
            <p:cNvSpPr/>
            <p:nvPr userDrawn="1"/>
          </p:nvSpPr>
          <p:spPr>
            <a:xfrm>
              <a:off x="11266" y="10467"/>
              <a:ext cx="3345" cy="85"/>
            </a:xfrm>
            <a:prstGeom prst="roundRect">
              <a:avLst>
                <a:gd name="adj" fmla="val 50000"/>
              </a:avLst>
            </a:prstGeom>
            <a:solidFill>
              <a:srgbClr val="BBC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15" name="文本占位符 13"/>
          <p:cNvSpPr>
            <a:spLocks noGrp="1"/>
          </p:cNvSpPr>
          <p:nvPr>
            <p:ph type="body" idx="13"/>
          </p:nvPr>
        </p:nvSpPr>
        <p:spPr>
          <a:xfrm>
            <a:off x="608291" y="275509"/>
            <a:ext cx="6639560" cy="363400"/>
          </a:xfrm>
        </p:spPr>
        <p:txBody>
          <a:bodyPr>
            <a:noAutofit/>
          </a:bodyPr>
          <a:lstStyle>
            <a:lvl1pPr marL="0" indent="0">
              <a:buNone/>
              <a:defRPr sz="2200" b="1" u="none" strike="noStrike" kern="1200" cap="none" spc="100" normalizeH="0">
                <a:solidFill>
                  <a:srgbClr val="00489D"/>
                </a:solidFill>
                <a:uFillTx/>
                <a:latin typeface="微软雅黑" charset="-122"/>
                <a:ea typeface="微软雅黑"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2" name="日期占位符 1"/>
          <p:cNvSpPr>
            <a:spLocks noGrp="1"/>
          </p:cNvSpPr>
          <p:nvPr>
            <p:ph type="dt" sz="half" idx="14"/>
          </p:nvPr>
        </p:nvSpPr>
        <p:spPr/>
        <p:txBody>
          <a:bodyPr/>
          <a:lstStyle/>
          <a:p>
            <a:endParaRPr lang="zh-CN" altLang="en-US"/>
          </a:p>
        </p:txBody>
      </p:sp>
      <p:sp>
        <p:nvSpPr>
          <p:cNvPr id="3" name="页脚占位符 2"/>
          <p:cNvSpPr>
            <a:spLocks noGrp="1"/>
          </p:cNvSpPr>
          <p:nvPr>
            <p:ph type="ftr" sz="quarter" idx="15"/>
          </p:nvPr>
        </p:nvSpPr>
        <p:spPr/>
        <p:txBody>
          <a:bodyPr/>
          <a:lstStyle/>
          <a:p>
            <a:endParaRPr lang="zh-CN" altLang="en-US"/>
          </a:p>
        </p:txBody>
      </p:sp>
      <p:sp>
        <p:nvSpPr>
          <p:cNvPr id="4" name="灯片编号占位符 3"/>
          <p:cNvSpPr>
            <a:spLocks noGrp="1"/>
          </p:cNvSpPr>
          <p:nvPr>
            <p:ph type="sldNum" sz="quarter" idx="16"/>
          </p:nvPr>
        </p:nvSpPr>
        <p:spPr/>
        <p:txBody>
          <a:bodyPr/>
          <a:lstStyle>
            <a:lvl1pPr>
              <a:defRPr lang="zh-CN" altLang="en-US" sz="1600" kern="1200" smtClean="0">
                <a:solidFill>
                  <a:schemeClr val="tx1">
                    <a:tint val="75000"/>
                  </a:schemeClr>
                </a:solidFill>
                <a:latin typeface="+mn-lt"/>
                <a:ea typeface="+mn-ea"/>
                <a:cs typeface="+mn-cs"/>
              </a:defRPr>
            </a:lvl1pPr>
          </a:lstStyle>
          <a:p>
            <a:fld id="{7D9BB5D0-35E4-459D-AEF3-FE4D7C45CC19}" type="slidenum">
              <a:rPr lang="en-US" altLang="zh-CN"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grpSp>
        <p:nvGrpSpPr>
          <p:cNvPr id="9" name="组合 8"/>
          <p:cNvGrpSpPr/>
          <p:nvPr userDrawn="1"/>
        </p:nvGrpSpPr>
        <p:grpSpPr>
          <a:xfrm>
            <a:off x="-118533" y="6646545"/>
            <a:ext cx="12488333" cy="53340"/>
            <a:chOff x="-140" y="10467"/>
            <a:chExt cx="14750" cy="84"/>
          </a:xfrm>
        </p:grpSpPr>
        <p:sp>
          <p:nvSpPr>
            <p:cNvPr id="19" name="圆角矩形 18"/>
            <p:cNvSpPr/>
            <p:nvPr userDrawn="1"/>
          </p:nvSpPr>
          <p:spPr>
            <a:xfrm>
              <a:off x="-140" y="10467"/>
              <a:ext cx="12473" cy="8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圆角矩形 19"/>
            <p:cNvSpPr/>
            <p:nvPr userDrawn="1"/>
          </p:nvSpPr>
          <p:spPr>
            <a:xfrm>
              <a:off x="11266" y="10467"/>
              <a:ext cx="3345" cy="85"/>
            </a:xfrm>
            <a:prstGeom prst="roundRect">
              <a:avLst>
                <a:gd name="adj" fmla="val 50000"/>
              </a:avLst>
            </a:prstGeom>
            <a:solidFill>
              <a:srgbClr val="BBC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74" name="文本占位符 30"/>
          <p:cNvSpPr>
            <a:spLocks noGrp="1"/>
          </p:cNvSpPr>
          <p:nvPr>
            <p:ph type="body" sz="half" idx="2" hasCustomPrompt="1"/>
          </p:nvPr>
        </p:nvSpPr>
        <p:spPr>
          <a:xfrm>
            <a:off x="1312333" y="2172971"/>
            <a:ext cx="8867987" cy="3811905"/>
          </a:xfrm>
        </p:spPr>
        <p:txBody>
          <a:bodyPr/>
          <a:lstStyle>
            <a:lvl1pPr marL="0" indent="0" eaLnBrk="1" fontAlgn="auto" latinLnBrk="0" hangingPunct="1">
              <a:lnSpc>
                <a:spcPct val="110000"/>
              </a:lnSpc>
              <a:buNone/>
              <a:defRPr sz="2000" u="none" strike="noStrike" kern="1200" cap="none" spc="60" normalizeH="0">
                <a:solidFill>
                  <a:srgbClr val="262626"/>
                </a:solidFill>
                <a:uFillTx/>
                <a:latin typeface="微软雅黑" charset="-122"/>
                <a:ea typeface="微软雅黑" charset="-122"/>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sym typeface="+mn-ea"/>
              </a:rPr>
              <a:t>1、目录标题</a:t>
            </a:r>
            <a:endParaRPr lang="zh-CN" altLang="en-US">
              <a:sym typeface="+mn-ea"/>
            </a:endParaRPr>
          </a:p>
          <a:p>
            <a:pPr lvl="0"/>
            <a:r>
              <a:rPr lang="zh-CN" altLang="en-US"/>
              <a:t>2、</a:t>
            </a:r>
            <a:r>
              <a:rPr lang="zh-CN" altLang="en-US">
                <a:sym typeface="+mn-ea"/>
              </a:rPr>
              <a:t>目录标题</a:t>
            </a:r>
            <a:endParaRPr lang="zh-CN" altLang="en-US">
              <a:sym typeface="+mn-ea"/>
            </a:endParaRPr>
          </a:p>
          <a:p>
            <a:pPr lvl="0"/>
            <a:r>
              <a:rPr lang="zh-CN" altLang="en-US"/>
              <a:t>3、</a:t>
            </a:r>
            <a:r>
              <a:rPr lang="zh-CN" altLang="en-US">
                <a:sym typeface="+mn-ea"/>
              </a:rPr>
              <a:t>目录标题</a:t>
            </a:r>
            <a:endParaRPr lang="zh-CN" altLang="en-US">
              <a:sym typeface="+mn-ea"/>
            </a:endParaRPr>
          </a:p>
          <a:p>
            <a:pPr lvl="0"/>
            <a:r>
              <a:rPr lang="zh-CN" altLang="en-US"/>
              <a:t>4、</a:t>
            </a:r>
            <a:r>
              <a:rPr lang="zh-CN" altLang="en-US">
                <a:sym typeface="+mn-ea"/>
              </a:rPr>
              <a:t>目录标题</a:t>
            </a:r>
            <a:endParaRPr lang="zh-CN" altLang="en-US">
              <a:sym typeface="+mn-ea"/>
            </a:endParaRPr>
          </a:p>
          <a:p>
            <a:pPr lvl="0"/>
            <a:r>
              <a:rPr lang="zh-CN" altLang="en-US">
                <a:sym typeface="+mn-ea"/>
              </a:rPr>
              <a:t>5、目录标题</a:t>
            </a:r>
            <a:endParaRPr lang="zh-CN" altLang="en-US"/>
          </a:p>
        </p:txBody>
      </p:sp>
      <p:grpSp>
        <p:nvGrpSpPr>
          <p:cNvPr id="84" name="组合 83"/>
          <p:cNvGrpSpPr/>
          <p:nvPr userDrawn="1"/>
        </p:nvGrpSpPr>
        <p:grpSpPr>
          <a:xfrm>
            <a:off x="-1237993" y="175541"/>
            <a:ext cx="1178253" cy="6272802"/>
            <a:chOff x="-928495" y="175541"/>
            <a:chExt cx="883690" cy="6272802"/>
          </a:xfrm>
        </p:grpSpPr>
        <p:grpSp>
          <p:nvGrpSpPr>
            <p:cNvPr id="85" name="组合 84"/>
            <p:cNvGrpSpPr/>
            <p:nvPr userDrawn="1"/>
          </p:nvGrpSpPr>
          <p:grpSpPr>
            <a:xfrm>
              <a:off x="-928495" y="175541"/>
              <a:ext cx="883690" cy="6272802"/>
              <a:chOff x="-976984" y="821885"/>
              <a:chExt cx="883690" cy="6272802"/>
            </a:xfrm>
          </p:grpSpPr>
          <p:grpSp>
            <p:nvGrpSpPr>
              <p:cNvPr id="88" name="组合 87"/>
              <p:cNvGrpSpPr/>
              <p:nvPr userDrawn="1"/>
            </p:nvGrpSpPr>
            <p:grpSpPr>
              <a:xfrm>
                <a:off x="-976984" y="821885"/>
                <a:ext cx="883690" cy="6272802"/>
                <a:chOff x="-963129" y="212265"/>
                <a:chExt cx="883690" cy="6272802"/>
              </a:xfrm>
            </p:grpSpPr>
            <p:sp>
              <p:nvSpPr>
                <p:cNvPr id="92" name="矩形 91"/>
                <p:cNvSpPr/>
                <p:nvPr userDrawn="1"/>
              </p:nvSpPr>
              <p:spPr>
                <a:xfrm rot="16200000">
                  <a:off x="-558083" y="2607801"/>
                  <a:ext cx="472607" cy="274320"/>
                </a:xfrm>
                <a:prstGeom prst="rect">
                  <a:avLst/>
                </a:prstGeom>
                <a:solidFill>
                  <a:srgbClr val="0096DC"/>
                </a:solidFill>
                <a:ln w="127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3" name="矩形 92"/>
                <p:cNvSpPr/>
                <p:nvPr userDrawn="1"/>
              </p:nvSpPr>
              <p:spPr>
                <a:xfrm rot="16200000">
                  <a:off x="-558083" y="3158949"/>
                  <a:ext cx="472607" cy="274320"/>
                </a:xfrm>
                <a:prstGeom prst="rect">
                  <a:avLst/>
                </a:prstGeom>
                <a:solidFill>
                  <a:srgbClr val="5B9BD5"/>
                </a:solidFill>
                <a:ln w="127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4" name="矩形 93"/>
                <p:cNvSpPr/>
                <p:nvPr userDrawn="1"/>
              </p:nvSpPr>
              <p:spPr>
                <a:xfrm rot="16200000">
                  <a:off x="-558083" y="3757903"/>
                  <a:ext cx="472607" cy="274320"/>
                </a:xfrm>
                <a:prstGeom prst="rect">
                  <a:avLst/>
                </a:prstGeom>
                <a:solidFill>
                  <a:srgbClr val="8497B0"/>
                </a:solidFill>
                <a:ln w="127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5" name="矩形 94"/>
                <p:cNvSpPr/>
                <p:nvPr userDrawn="1"/>
              </p:nvSpPr>
              <p:spPr>
                <a:xfrm rot="16200000">
                  <a:off x="-558083" y="4341833"/>
                  <a:ext cx="472607" cy="274320"/>
                </a:xfrm>
                <a:prstGeom prst="rect">
                  <a:avLst/>
                </a:prstGeom>
                <a:solidFill>
                  <a:srgbClr val="BBC3CE"/>
                </a:solidFill>
                <a:ln w="127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6" name="矩形 95"/>
                <p:cNvSpPr/>
                <p:nvPr userDrawn="1"/>
              </p:nvSpPr>
              <p:spPr>
                <a:xfrm rot="16200000">
                  <a:off x="-558083" y="2049824"/>
                  <a:ext cx="472607" cy="274320"/>
                </a:xfrm>
                <a:prstGeom prst="rect">
                  <a:avLst/>
                </a:prstGeom>
                <a:solidFill>
                  <a:srgbClr val="00489D"/>
                </a:solidFill>
                <a:ln w="127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7" name="矩形 96"/>
                <p:cNvSpPr/>
                <p:nvPr userDrawn="1"/>
              </p:nvSpPr>
              <p:spPr>
                <a:xfrm rot="16200000">
                  <a:off x="-561258" y="1488972"/>
                  <a:ext cx="472607" cy="270510"/>
                </a:xfrm>
                <a:prstGeom prst="rect">
                  <a:avLst/>
                </a:prstGeom>
                <a:solidFill>
                  <a:schemeClr val="tx1">
                    <a:lumMod val="85000"/>
                    <a:lumOff val="15000"/>
                  </a:schemeClr>
                </a:solidFill>
                <a:ln w="127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8" name="Rectangle 33"/>
                <p:cNvSpPr/>
                <p:nvPr userDrawn="1"/>
              </p:nvSpPr>
              <p:spPr>
                <a:xfrm>
                  <a:off x="-935419" y="212265"/>
                  <a:ext cx="855980" cy="415498"/>
                </a:xfrm>
                <a:prstGeom prst="rect">
                  <a:avLst/>
                </a:prstGeom>
              </p:spPr>
              <p:txBody>
                <a:bodyPr wrap="square">
                  <a:spAutoFit/>
                </a:bodyPr>
                <a:lstStyle/>
                <a:p>
                  <a:pPr>
                    <a:lnSpc>
                      <a:spcPct val="100000"/>
                    </a:lnSpc>
                  </a:pPr>
                  <a:r>
                    <a:rPr lang="zh-CN" altLang="en-US" sz="1050" dirty="0">
                      <a:solidFill>
                        <a:schemeClr val="tx1">
                          <a:lumMod val="85000"/>
                          <a:lumOff val="15000"/>
                        </a:schemeClr>
                      </a:solidFill>
                      <a:latin typeface="微软雅黑" charset="-122"/>
                      <a:ea typeface="微软雅黑" charset="-122"/>
                      <a:cs typeface="Open Sans" panose="020B0606030504020204" pitchFamily="34" charset="0"/>
                    </a:rPr>
                    <a:t>允许颜色</a:t>
                  </a:r>
                  <a:endParaRPr lang="en-US" altLang="zh-CN" sz="1050" dirty="0">
                    <a:solidFill>
                      <a:schemeClr val="tx1">
                        <a:lumMod val="85000"/>
                        <a:lumOff val="15000"/>
                      </a:schemeClr>
                    </a:solidFill>
                    <a:latin typeface="微软雅黑" charset="-122"/>
                    <a:ea typeface="微软雅黑" charset="-122"/>
                    <a:cs typeface="Open Sans" panose="020B0606030504020204" pitchFamily="34" charset="0"/>
                  </a:endParaRPr>
                </a:p>
                <a:p>
                  <a:pPr>
                    <a:lnSpc>
                      <a:spcPct val="100000"/>
                    </a:lnSpc>
                  </a:pPr>
                  <a:r>
                    <a:rPr lang="en-US" altLang="zh-CN" sz="1050" dirty="0">
                      <a:solidFill>
                        <a:schemeClr val="tx1">
                          <a:lumMod val="85000"/>
                          <a:lumOff val="15000"/>
                        </a:schemeClr>
                      </a:solidFill>
                      <a:latin typeface="微软雅黑" charset="-122"/>
                      <a:ea typeface="微软雅黑" charset="-122"/>
                      <a:cs typeface="Open Sans" panose="020B0606030504020204" pitchFamily="34" charset="0"/>
                    </a:rPr>
                    <a:t>Colors allowed</a:t>
                  </a:r>
                  <a:endParaRPr lang="zh-CN" altLang="zh-CN" sz="1050" dirty="0">
                    <a:solidFill>
                      <a:schemeClr val="tx1">
                        <a:lumMod val="85000"/>
                        <a:lumOff val="15000"/>
                      </a:schemeClr>
                    </a:solidFill>
                    <a:latin typeface="微软雅黑" charset="-122"/>
                    <a:ea typeface="微软雅黑" charset="-122"/>
                    <a:cs typeface="Open Sans" panose="020B0606030504020204" pitchFamily="34" charset="0"/>
                  </a:endParaRPr>
                </a:p>
              </p:txBody>
            </p:sp>
            <p:sp>
              <p:nvSpPr>
                <p:cNvPr id="99" name="矩形 98"/>
                <p:cNvSpPr/>
                <p:nvPr userDrawn="1"/>
              </p:nvSpPr>
              <p:spPr>
                <a:xfrm rot="16200000">
                  <a:off x="-549193" y="5514894"/>
                  <a:ext cx="472607" cy="274320"/>
                </a:xfrm>
                <a:prstGeom prst="rect">
                  <a:avLst/>
                </a:prstGeom>
                <a:solidFill>
                  <a:srgbClr val="FFC100"/>
                </a:solidFill>
                <a:ln w="127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0" name="矩形 99"/>
                <p:cNvSpPr/>
                <p:nvPr userDrawn="1"/>
              </p:nvSpPr>
              <p:spPr>
                <a:xfrm rot="16200000">
                  <a:off x="-544228" y="6088579"/>
                  <a:ext cx="472607" cy="274320"/>
                </a:xfrm>
                <a:prstGeom prst="rect">
                  <a:avLst/>
                </a:prstGeom>
                <a:solidFill>
                  <a:srgbClr val="92D050"/>
                </a:solidFill>
                <a:ln w="127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1" name="文本框 14"/>
                <p:cNvSpPr txBox="1"/>
                <p:nvPr userDrawn="1"/>
              </p:nvSpPr>
              <p:spPr>
                <a:xfrm>
                  <a:off x="-962379" y="5429213"/>
                  <a:ext cx="661035" cy="461680"/>
                </a:xfrm>
                <a:prstGeom prst="rect">
                  <a:avLst/>
                </a:prstGeom>
                <a:noFill/>
              </p:spPr>
              <p:txBody>
                <a:bodyPr wrap="square" rtlCol="0">
                  <a:spAutoFit/>
                </a:bodyPr>
                <a:lstStyle/>
                <a:p>
                  <a:pPr lvl="0" algn="l">
                    <a:lnSpc>
                      <a:spcPct val="80000"/>
                    </a:lnSpc>
                  </a:pPr>
                  <a:r>
                    <a:rPr lang="zh-CN" altLang="en-US" sz="1000" dirty="0">
                      <a:sym typeface="+mn-ea"/>
                    </a:rPr>
                    <a:t>R</a:t>
                  </a:r>
                  <a:r>
                    <a:rPr lang="en-US" altLang="zh-CN" sz="1000" dirty="0">
                      <a:sym typeface="+mn-ea"/>
                    </a:rPr>
                    <a:t>: 255</a:t>
                  </a:r>
                  <a:endParaRPr lang="zh-CN" altLang="en-US" sz="1000" dirty="0"/>
                </a:p>
                <a:p>
                  <a:pPr lvl="0" algn="l">
                    <a:lnSpc>
                      <a:spcPct val="80000"/>
                    </a:lnSpc>
                  </a:pPr>
                  <a:r>
                    <a:rPr lang="zh-CN" altLang="en-US" sz="1000" dirty="0">
                      <a:sym typeface="+mn-ea"/>
                    </a:rPr>
                    <a:t>G</a:t>
                  </a:r>
                  <a:r>
                    <a:rPr lang="en-US" altLang="zh-CN" sz="1000" dirty="0">
                      <a:sym typeface="+mn-ea"/>
                    </a:rPr>
                    <a:t>: 193</a:t>
                  </a:r>
                  <a:endParaRPr lang="zh-CN" altLang="en-US" sz="1000" dirty="0"/>
                </a:p>
                <a:p>
                  <a:pPr lvl="0" algn="l">
                    <a:lnSpc>
                      <a:spcPct val="80000"/>
                    </a:lnSpc>
                  </a:pPr>
                  <a:r>
                    <a:rPr lang="zh-CN" altLang="en-US" sz="1000" dirty="0">
                      <a:sym typeface="+mn-ea"/>
                    </a:rPr>
                    <a:t>B</a:t>
                  </a:r>
                  <a:r>
                    <a:rPr lang="en-US" altLang="zh-CN" sz="1000" dirty="0">
                      <a:sym typeface="+mn-ea"/>
                    </a:rPr>
                    <a:t>: </a:t>
                  </a:r>
                  <a:r>
                    <a:rPr lang="zh-CN" altLang="en-US" sz="1000" dirty="0">
                      <a:sym typeface="+mn-ea"/>
                    </a:rPr>
                    <a:t>0</a:t>
                  </a:r>
                  <a:endParaRPr lang="zh-CN" altLang="en-US" sz="1000" dirty="0"/>
                </a:p>
              </p:txBody>
            </p:sp>
            <p:sp>
              <p:nvSpPr>
                <p:cNvPr id="102" name="文本框 15"/>
                <p:cNvSpPr txBox="1"/>
                <p:nvPr userDrawn="1"/>
              </p:nvSpPr>
              <p:spPr>
                <a:xfrm>
                  <a:off x="-962379" y="6023387"/>
                  <a:ext cx="661035" cy="461680"/>
                </a:xfrm>
                <a:prstGeom prst="rect">
                  <a:avLst/>
                </a:prstGeom>
                <a:noFill/>
              </p:spPr>
              <p:txBody>
                <a:bodyPr wrap="square" rtlCol="0">
                  <a:spAutoFit/>
                </a:bodyPr>
                <a:lstStyle/>
                <a:p>
                  <a:pPr lvl="0" algn="l">
                    <a:lnSpc>
                      <a:spcPct val="80000"/>
                    </a:lnSpc>
                  </a:pPr>
                  <a:r>
                    <a:rPr lang="zh-CN" altLang="en-US" sz="1000" dirty="0">
                      <a:sym typeface="+mn-ea"/>
                    </a:rPr>
                    <a:t>R</a:t>
                  </a:r>
                  <a:r>
                    <a:rPr lang="en-US" altLang="zh-CN" sz="1000" dirty="0">
                      <a:sym typeface="+mn-ea"/>
                    </a:rPr>
                    <a:t>: </a:t>
                  </a:r>
                  <a:r>
                    <a:rPr lang="zh-CN" altLang="en-US" sz="1000" dirty="0">
                      <a:sym typeface="+mn-ea"/>
                    </a:rPr>
                    <a:t>146</a:t>
                  </a:r>
                  <a:endParaRPr lang="zh-CN" altLang="en-US" sz="1000" dirty="0"/>
                </a:p>
                <a:p>
                  <a:pPr lvl="0" algn="l">
                    <a:lnSpc>
                      <a:spcPct val="80000"/>
                    </a:lnSpc>
                  </a:pPr>
                  <a:r>
                    <a:rPr lang="zh-CN" altLang="en-US" sz="1000" dirty="0">
                      <a:sym typeface="+mn-ea"/>
                    </a:rPr>
                    <a:t>G</a:t>
                  </a:r>
                  <a:r>
                    <a:rPr lang="en-US" altLang="zh-CN" sz="1000" dirty="0">
                      <a:sym typeface="+mn-ea"/>
                    </a:rPr>
                    <a:t>: </a:t>
                  </a:r>
                  <a:r>
                    <a:rPr lang="zh-CN" altLang="en-US" sz="1000" dirty="0">
                      <a:sym typeface="+mn-ea"/>
                    </a:rPr>
                    <a:t>208</a:t>
                  </a:r>
                  <a:endParaRPr lang="zh-CN" altLang="en-US" sz="1000" dirty="0"/>
                </a:p>
                <a:p>
                  <a:pPr lvl="0" algn="l">
                    <a:lnSpc>
                      <a:spcPct val="80000"/>
                    </a:lnSpc>
                  </a:pPr>
                  <a:r>
                    <a:rPr lang="zh-CN" altLang="en-US" sz="1000" dirty="0">
                      <a:sym typeface="+mn-ea"/>
                    </a:rPr>
                    <a:t>B</a:t>
                  </a:r>
                  <a:r>
                    <a:rPr lang="en-US" altLang="zh-CN" sz="1000" dirty="0">
                      <a:sym typeface="+mn-ea"/>
                    </a:rPr>
                    <a:t>: </a:t>
                  </a:r>
                  <a:r>
                    <a:rPr lang="zh-CN" altLang="en-US" sz="1000" dirty="0">
                      <a:sym typeface="+mn-ea"/>
                    </a:rPr>
                    <a:t>80</a:t>
                  </a:r>
                  <a:endParaRPr lang="zh-CN" altLang="en-US" sz="1000" dirty="0"/>
                </a:p>
              </p:txBody>
            </p:sp>
            <p:sp>
              <p:nvSpPr>
                <p:cNvPr id="103" name="文本框 3"/>
                <p:cNvSpPr txBox="1"/>
                <p:nvPr userDrawn="1"/>
              </p:nvSpPr>
              <p:spPr>
                <a:xfrm>
                  <a:off x="-962379" y="4254982"/>
                  <a:ext cx="661035" cy="461680"/>
                </a:xfrm>
                <a:prstGeom prst="rect">
                  <a:avLst/>
                </a:prstGeom>
                <a:noFill/>
              </p:spPr>
              <p:txBody>
                <a:bodyPr wrap="square" rtlCol="0">
                  <a:spAutoFit/>
                </a:bodyPr>
                <a:lstStyle/>
                <a:p>
                  <a:pPr lvl="0" algn="l">
                    <a:lnSpc>
                      <a:spcPct val="80000"/>
                    </a:lnSpc>
                  </a:pPr>
                  <a:r>
                    <a:rPr lang="zh-CN" altLang="en-US" sz="1000" dirty="0">
                      <a:sym typeface="+mn-ea"/>
                    </a:rPr>
                    <a:t>R</a:t>
                  </a:r>
                  <a:r>
                    <a:rPr lang="en-US" altLang="zh-CN" sz="1000" dirty="0">
                      <a:sym typeface="+mn-ea"/>
                    </a:rPr>
                    <a:t>: 187</a:t>
                  </a:r>
                  <a:endParaRPr lang="en-US" altLang="zh-CN" sz="1000" dirty="0">
                    <a:sym typeface="+mn-ea"/>
                  </a:endParaRPr>
                </a:p>
                <a:p>
                  <a:pPr lvl="0" algn="l">
                    <a:lnSpc>
                      <a:spcPct val="80000"/>
                    </a:lnSpc>
                  </a:pPr>
                  <a:r>
                    <a:rPr lang="zh-CN" altLang="en-US" sz="1000" dirty="0">
                      <a:sym typeface="+mn-ea"/>
                    </a:rPr>
                    <a:t>G</a:t>
                  </a:r>
                  <a:r>
                    <a:rPr lang="en-US" altLang="zh-CN" sz="1000" dirty="0">
                      <a:sym typeface="+mn-ea"/>
                    </a:rPr>
                    <a:t>:</a:t>
                  </a:r>
                  <a:r>
                    <a:rPr lang="en-US" sz="1000" dirty="0">
                      <a:sym typeface="+mn-ea"/>
                    </a:rPr>
                    <a:t>195</a:t>
                  </a:r>
                  <a:endParaRPr lang="en-US" sz="1000" dirty="0">
                    <a:sym typeface="+mn-ea"/>
                  </a:endParaRPr>
                </a:p>
                <a:p>
                  <a:pPr lvl="0" algn="l">
                    <a:lnSpc>
                      <a:spcPct val="80000"/>
                    </a:lnSpc>
                  </a:pPr>
                  <a:r>
                    <a:rPr lang="zh-CN" altLang="en-US" sz="1000" dirty="0">
                      <a:sym typeface="+mn-ea"/>
                    </a:rPr>
                    <a:t>B</a:t>
                  </a:r>
                  <a:r>
                    <a:rPr lang="en-US" altLang="zh-CN" sz="1000" dirty="0">
                      <a:sym typeface="+mn-ea"/>
                    </a:rPr>
                    <a:t>: 206</a:t>
                  </a:r>
                  <a:endParaRPr lang="zh-CN" altLang="en-US" sz="1000" dirty="0"/>
                </a:p>
              </p:txBody>
            </p:sp>
            <p:sp>
              <p:nvSpPr>
                <p:cNvPr id="104" name="文本框 12"/>
                <p:cNvSpPr txBox="1"/>
                <p:nvPr userDrawn="1"/>
              </p:nvSpPr>
              <p:spPr>
                <a:xfrm>
                  <a:off x="-962379" y="3118540"/>
                  <a:ext cx="661035" cy="461680"/>
                </a:xfrm>
                <a:prstGeom prst="rect">
                  <a:avLst/>
                </a:prstGeom>
                <a:noFill/>
              </p:spPr>
              <p:txBody>
                <a:bodyPr wrap="square" rtlCol="0">
                  <a:spAutoFit/>
                </a:bodyPr>
                <a:lstStyle/>
                <a:p>
                  <a:pPr lvl="0" algn="l">
                    <a:lnSpc>
                      <a:spcPct val="80000"/>
                    </a:lnSpc>
                  </a:pPr>
                  <a:r>
                    <a:rPr lang="zh-CN" altLang="en-US" sz="1000" dirty="0">
                      <a:sym typeface="+mn-ea"/>
                    </a:rPr>
                    <a:t>R</a:t>
                  </a:r>
                  <a:r>
                    <a:rPr lang="en-US" altLang="zh-CN" sz="1000" dirty="0">
                      <a:sym typeface="+mn-ea"/>
                    </a:rPr>
                    <a:t>: 91</a:t>
                  </a:r>
                  <a:endParaRPr lang="en-US" altLang="zh-CN" sz="1000" dirty="0">
                    <a:sym typeface="+mn-ea"/>
                  </a:endParaRPr>
                </a:p>
                <a:p>
                  <a:pPr lvl="0" algn="l">
                    <a:lnSpc>
                      <a:spcPct val="80000"/>
                    </a:lnSpc>
                  </a:pPr>
                  <a:r>
                    <a:rPr lang="zh-CN" altLang="en-US" sz="1000" dirty="0">
                      <a:sym typeface="+mn-ea"/>
                    </a:rPr>
                    <a:t>G</a:t>
                  </a:r>
                  <a:r>
                    <a:rPr lang="en-US" altLang="zh-CN" sz="1000" dirty="0">
                      <a:sym typeface="+mn-ea"/>
                    </a:rPr>
                    <a:t>: 155</a:t>
                  </a:r>
                  <a:endParaRPr lang="zh-CN" altLang="en-US" sz="1000" dirty="0"/>
                </a:p>
                <a:p>
                  <a:pPr lvl="0" algn="l">
                    <a:lnSpc>
                      <a:spcPct val="80000"/>
                    </a:lnSpc>
                  </a:pPr>
                  <a:r>
                    <a:rPr lang="zh-CN" altLang="en-US" sz="1000" dirty="0">
                      <a:sym typeface="+mn-ea"/>
                    </a:rPr>
                    <a:t>B</a:t>
                  </a:r>
                  <a:r>
                    <a:rPr lang="en-US" altLang="zh-CN" sz="1000" dirty="0">
                      <a:sym typeface="+mn-ea"/>
                    </a:rPr>
                    <a:t>: 213</a:t>
                  </a:r>
                  <a:endParaRPr lang="zh-CN" altLang="en-US" sz="1000" dirty="0"/>
                </a:p>
              </p:txBody>
            </p:sp>
            <p:sp>
              <p:nvSpPr>
                <p:cNvPr id="105" name="文本框 16"/>
                <p:cNvSpPr txBox="1"/>
                <p:nvPr userDrawn="1"/>
              </p:nvSpPr>
              <p:spPr>
                <a:xfrm>
                  <a:off x="-962379" y="3661492"/>
                  <a:ext cx="661035" cy="461680"/>
                </a:xfrm>
                <a:prstGeom prst="rect">
                  <a:avLst/>
                </a:prstGeom>
                <a:noFill/>
              </p:spPr>
              <p:txBody>
                <a:bodyPr wrap="square" rtlCol="0">
                  <a:spAutoFit/>
                </a:bodyPr>
                <a:lstStyle/>
                <a:p>
                  <a:pPr lvl="0" algn="l">
                    <a:lnSpc>
                      <a:spcPct val="80000"/>
                    </a:lnSpc>
                  </a:pPr>
                  <a:r>
                    <a:rPr lang="zh-CN" altLang="en-US" sz="1000" dirty="0">
                      <a:sym typeface="+mn-ea"/>
                    </a:rPr>
                    <a:t>R</a:t>
                  </a:r>
                  <a:r>
                    <a:rPr lang="en-US" altLang="zh-CN" sz="1000" dirty="0">
                      <a:sym typeface="+mn-ea"/>
                    </a:rPr>
                    <a:t>: </a:t>
                  </a:r>
                  <a:r>
                    <a:rPr lang="zh-CN" altLang="en-US" sz="1000" dirty="0">
                      <a:sym typeface="+mn-ea"/>
                    </a:rPr>
                    <a:t>1</a:t>
                  </a:r>
                  <a:r>
                    <a:rPr lang="en-US" altLang="zh-CN" sz="1000" dirty="0">
                      <a:sym typeface="+mn-ea"/>
                    </a:rPr>
                    <a:t>32</a:t>
                  </a:r>
                  <a:endParaRPr lang="en-US" altLang="zh-CN" sz="1000" dirty="0">
                    <a:sym typeface="+mn-ea"/>
                  </a:endParaRPr>
                </a:p>
                <a:p>
                  <a:pPr lvl="0" algn="l">
                    <a:lnSpc>
                      <a:spcPct val="80000"/>
                    </a:lnSpc>
                  </a:pPr>
                  <a:r>
                    <a:rPr lang="zh-CN" altLang="en-US" sz="1000" dirty="0">
                      <a:sym typeface="+mn-ea"/>
                    </a:rPr>
                    <a:t>G</a:t>
                  </a:r>
                  <a:r>
                    <a:rPr lang="en-US" altLang="zh-CN" sz="1000" dirty="0">
                      <a:sym typeface="+mn-ea"/>
                    </a:rPr>
                    <a:t>: 151</a:t>
                  </a:r>
                  <a:endParaRPr lang="zh-CN" altLang="en-US" sz="1000" dirty="0"/>
                </a:p>
                <a:p>
                  <a:pPr lvl="0" algn="l">
                    <a:lnSpc>
                      <a:spcPct val="80000"/>
                    </a:lnSpc>
                  </a:pPr>
                  <a:r>
                    <a:rPr lang="zh-CN" altLang="en-US" sz="1000" dirty="0">
                      <a:sym typeface="+mn-ea"/>
                    </a:rPr>
                    <a:t>B</a:t>
                  </a:r>
                  <a:r>
                    <a:rPr lang="en-US" altLang="zh-CN" sz="1000" dirty="0">
                      <a:sym typeface="+mn-ea"/>
                    </a:rPr>
                    <a:t>: 176</a:t>
                  </a:r>
                  <a:endParaRPr lang="zh-CN" altLang="en-US" sz="1000" dirty="0"/>
                </a:p>
              </p:txBody>
            </p:sp>
            <p:sp>
              <p:nvSpPr>
                <p:cNvPr id="106" name="文本框 20"/>
                <p:cNvSpPr txBox="1"/>
                <p:nvPr userDrawn="1"/>
              </p:nvSpPr>
              <p:spPr>
                <a:xfrm>
                  <a:off x="-963129" y="1956827"/>
                  <a:ext cx="661035" cy="459631"/>
                </a:xfrm>
                <a:prstGeom prst="rect">
                  <a:avLst/>
                </a:prstGeom>
                <a:noFill/>
              </p:spPr>
              <p:txBody>
                <a:bodyPr wrap="square" rtlCol="0">
                  <a:spAutoFit/>
                </a:bodyPr>
                <a:lstStyle/>
                <a:p>
                  <a:pPr lvl="0" algn="l">
                    <a:lnSpc>
                      <a:spcPct val="80000"/>
                    </a:lnSpc>
                  </a:pPr>
                  <a:r>
                    <a:rPr lang="zh-CN" altLang="en-US" sz="1000" dirty="0">
                      <a:sym typeface="+mn-ea"/>
                    </a:rPr>
                    <a:t>R</a:t>
                  </a:r>
                  <a:r>
                    <a:rPr lang="en-US" altLang="zh-CN" sz="1000" dirty="0">
                      <a:sym typeface="+mn-ea"/>
                    </a:rPr>
                    <a:t>:0</a:t>
                  </a:r>
                  <a:endParaRPr lang="en-US" altLang="zh-CN" sz="1000" dirty="0">
                    <a:sym typeface="+mn-ea"/>
                  </a:endParaRPr>
                </a:p>
                <a:p>
                  <a:pPr lvl="0" algn="l">
                    <a:lnSpc>
                      <a:spcPct val="80000"/>
                    </a:lnSpc>
                  </a:pPr>
                  <a:r>
                    <a:rPr lang="zh-CN" altLang="en-US" sz="1000" dirty="0">
                      <a:sym typeface="+mn-ea"/>
                    </a:rPr>
                    <a:t>G</a:t>
                  </a:r>
                  <a:r>
                    <a:rPr lang="en-US" altLang="zh-CN" sz="1000" dirty="0">
                      <a:sym typeface="+mn-ea"/>
                    </a:rPr>
                    <a:t>: </a:t>
                  </a:r>
                  <a:r>
                    <a:rPr lang="en-US" sz="1000" dirty="0">
                      <a:sym typeface="+mn-ea"/>
                    </a:rPr>
                    <a:t>72</a:t>
                  </a:r>
                  <a:endParaRPr lang="en-US" sz="1000" dirty="0">
                    <a:sym typeface="+mn-ea"/>
                  </a:endParaRPr>
                </a:p>
                <a:p>
                  <a:pPr lvl="0" algn="l">
                    <a:lnSpc>
                      <a:spcPct val="80000"/>
                    </a:lnSpc>
                  </a:pPr>
                  <a:r>
                    <a:rPr lang="zh-CN" altLang="en-US" sz="1000" dirty="0">
                      <a:sym typeface="+mn-ea"/>
                    </a:rPr>
                    <a:t>B</a:t>
                  </a:r>
                  <a:r>
                    <a:rPr lang="en-US" altLang="zh-CN" sz="1000" dirty="0">
                      <a:sym typeface="+mn-ea"/>
                    </a:rPr>
                    <a:t>: 157</a:t>
                  </a:r>
                  <a:endParaRPr lang="zh-CN" altLang="en-US" sz="1000" dirty="0"/>
                </a:p>
              </p:txBody>
            </p:sp>
            <p:sp>
              <p:nvSpPr>
                <p:cNvPr id="107" name="文本框 28"/>
                <p:cNvSpPr txBox="1"/>
                <p:nvPr userDrawn="1"/>
              </p:nvSpPr>
              <p:spPr>
                <a:xfrm>
                  <a:off x="-948524" y="2540757"/>
                  <a:ext cx="661035" cy="461680"/>
                </a:xfrm>
                <a:prstGeom prst="rect">
                  <a:avLst/>
                </a:prstGeom>
                <a:noFill/>
              </p:spPr>
              <p:txBody>
                <a:bodyPr wrap="square" rtlCol="0">
                  <a:spAutoFit/>
                </a:bodyPr>
                <a:lstStyle/>
                <a:p>
                  <a:pPr lvl="0" algn="l">
                    <a:lnSpc>
                      <a:spcPct val="80000"/>
                    </a:lnSpc>
                  </a:pPr>
                  <a:r>
                    <a:rPr lang="zh-CN" altLang="en-US" sz="1000">
                      <a:sym typeface="+mn-ea"/>
                    </a:rPr>
                    <a:t>R</a:t>
                  </a:r>
                  <a:r>
                    <a:rPr lang="en-US" altLang="zh-CN" sz="1000">
                      <a:sym typeface="+mn-ea"/>
                    </a:rPr>
                    <a:t>: 0</a:t>
                  </a:r>
                  <a:endParaRPr lang="zh-CN" altLang="en-US" sz="1000"/>
                </a:p>
                <a:p>
                  <a:pPr lvl="0" algn="l">
                    <a:lnSpc>
                      <a:spcPct val="80000"/>
                    </a:lnSpc>
                  </a:pPr>
                  <a:r>
                    <a:rPr lang="zh-CN" altLang="en-US" sz="1000">
                      <a:sym typeface="+mn-ea"/>
                    </a:rPr>
                    <a:t>G</a:t>
                  </a:r>
                  <a:r>
                    <a:rPr lang="en-US" altLang="zh-CN" sz="1000">
                      <a:sym typeface="+mn-ea"/>
                    </a:rPr>
                    <a:t>: 150</a:t>
                  </a:r>
                  <a:endParaRPr lang="zh-CN" altLang="en-US" sz="1000"/>
                </a:p>
                <a:p>
                  <a:pPr lvl="0" algn="l">
                    <a:lnSpc>
                      <a:spcPct val="80000"/>
                    </a:lnSpc>
                  </a:pPr>
                  <a:r>
                    <a:rPr lang="zh-CN" altLang="en-US" sz="1000">
                      <a:sym typeface="+mn-ea"/>
                    </a:rPr>
                    <a:t>B</a:t>
                  </a:r>
                  <a:r>
                    <a:rPr lang="en-US" altLang="zh-CN" sz="1000">
                      <a:sym typeface="+mn-ea"/>
                    </a:rPr>
                    <a:t>: 220</a:t>
                  </a:r>
                  <a:endParaRPr lang="zh-CN" altLang="en-US" sz="1000"/>
                </a:p>
              </p:txBody>
            </p:sp>
            <p:sp>
              <p:nvSpPr>
                <p:cNvPr id="108" name="文本框 29"/>
                <p:cNvSpPr txBox="1"/>
                <p:nvPr userDrawn="1"/>
              </p:nvSpPr>
              <p:spPr>
                <a:xfrm>
                  <a:off x="-962379" y="1406363"/>
                  <a:ext cx="661035" cy="459631"/>
                </a:xfrm>
                <a:prstGeom prst="rect">
                  <a:avLst/>
                </a:prstGeom>
                <a:noFill/>
              </p:spPr>
              <p:txBody>
                <a:bodyPr wrap="square" rtlCol="0">
                  <a:spAutoFit/>
                </a:bodyPr>
                <a:lstStyle/>
                <a:p>
                  <a:pPr lvl="0" algn="l">
                    <a:lnSpc>
                      <a:spcPct val="80000"/>
                    </a:lnSpc>
                  </a:pPr>
                  <a:r>
                    <a:rPr lang="zh-CN" altLang="en-US" sz="1000" dirty="0">
                      <a:sym typeface="+mn-ea"/>
                    </a:rPr>
                    <a:t>R</a:t>
                  </a:r>
                  <a:r>
                    <a:rPr lang="en-US" altLang="zh-CN" sz="1000" dirty="0">
                      <a:sym typeface="+mn-ea"/>
                    </a:rPr>
                    <a:t>: 38</a:t>
                  </a:r>
                  <a:endParaRPr lang="en-US" altLang="zh-CN" sz="1000" dirty="0">
                    <a:sym typeface="+mn-ea"/>
                  </a:endParaRPr>
                </a:p>
                <a:p>
                  <a:pPr lvl="0" algn="l">
                    <a:lnSpc>
                      <a:spcPct val="80000"/>
                    </a:lnSpc>
                  </a:pPr>
                  <a:r>
                    <a:rPr lang="zh-CN" altLang="en-US" sz="1000" dirty="0">
                      <a:sym typeface="+mn-ea"/>
                    </a:rPr>
                    <a:t>G</a:t>
                  </a:r>
                  <a:r>
                    <a:rPr lang="en-US" altLang="zh-CN" sz="1000" dirty="0">
                      <a:sym typeface="+mn-ea"/>
                    </a:rPr>
                    <a:t>: 38</a:t>
                  </a:r>
                  <a:endParaRPr lang="en-US" sz="1000" dirty="0">
                    <a:sym typeface="+mn-ea"/>
                  </a:endParaRPr>
                </a:p>
                <a:p>
                  <a:pPr lvl="0" algn="l">
                    <a:lnSpc>
                      <a:spcPct val="80000"/>
                    </a:lnSpc>
                  </a:pPr>
                  <a:r>
                    <a:rPr lang="zh-CN" altLang="en-US" sz="1000" dirty="0">
                      <a:sym typeface="+mn-ea"/>
                    </a:rPr>
                    <a:t>B</a:t>
                  </a:r>
                  <a:r>
                    <a:rPr lang="en-US" altLang="zh-CN" sz="1000" dirty="0">
                      <a:sym typeface="+mn-ea"/>
                    </a:rPr>
                    <a:t>: 38</a:t>
                  </a:r>
                  <a:endParaRPr lang="zh-CN" altLang="en-US" sz="1000" dirty="0"/>
                </a:p>
              </p:txBody>
            </p:sp>
          </p:grpSp>
          <p:grpSp>
            <p:nvGrpSpPr>
              <p:cNvPr id="89" name="组合 88"/>
              <p:cNvGrpSpPr/>
              <p:nvPr userDrawn="1"/>
            </p:nvGrpSpPr>
            <p:grpSpPr>
              <a:xfrm>
                <a:off x="-957474" y="1461589"/>
                <a:ext cx="744970" cy="491926"/>
                <a:chOff x="-957474" y="796549"/>
                <a:chExt cx="744970" cy="491926"/>
              </a:xfrm>
            </p:grpSpPr>
            <p:sp>
              <p:nvSpPr>
                <p:cNvPr id="90" name="矩形 89"/>
                <p:cNvSpPr/>
                <p:nvPr userDrawn="1"/>
              </p:nvSpPr>
              <p:spPr>
                <a:xfrm rot="16200000">
                  <a:off x="-584063" y="897598"/>
                  <a:ext cx="472607" cy="270510"/>
                </a:xfrm>
                <a:prstGeom prst="rect">
                  <a:avLst/>
                </a:prstGeom>
                <a:solidFill>
                  <a:srgbClr val="000000"/>
                </a:solidFill>
                <a:ln w="127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1" name="文本框 29"/>
                <p:cNvSpPr txBox="1"/>
                <p:nvPr userDrawn="1"/>
              </p:nvSpPr>
              <p:spPr>
                <a:xfrm>
                  <a:off x="-957474" y="828844"/>
                  <a:ext cx="661035" cy="459631"/>
                </a:xfrm>
                <a:prstGeom prst="rect">
                  <a:avLst/>
                </a:prstGeom>
                <a:noFill/>
              </p:spPr>
              <p:txBody>
                <a:bodyPr wrap="square" rtlCol="0">
                  <a:spAutoFit/>
                </a:bodyPr>
                <a:lstStyle/>
                <a:p>
                  <a:pPr lvl="0" algn="l">
                    <a:lnSpc>
                      <a:spcPct val="80000"/>
                    </a:lnSpc>
                  </a:pPr>
                  <a:r>
                    <a:rPr lang="zh-CN" altLang="en-US" sz="1000" dirty="0">
                      <a:sym typeface="+mn-ea"/>
                    </a:rPr>
                    <a:t>R</a:t>
                  </a:r>
                  <a:r>
                    <a:rPr lang="en-US" altLang="zh-CN" sz="1000" dirty="0">
                      <a:sym typeface="+mn-ea"/>
                    </a:rPr>
                    <a:t>: 0</a:t>
                  </a:r>
                  <a:endParaRPr lang="en-US" altLang="zh-CN" sz="1000" dirty="0">
                    <a:sym typeface="+mn-ea"/>
                  </a:endParaRPr>
                </a:p>
                <a:p>
                  <a:pPr lvl="0" algn="l">
                    <a:lnSpc>
                      <a:spcPct val="80000"/>
                    </a:lnSpc>
                  </a:pPr>
                  <a:r>
                    <a:rPr lang="zh-CN" altLang="en-US" sz="1000" dirty="0">
                      <a:sym typeface="+mn-ea"/>
                    </a:rPr>
                    <a:t>G</a:t>
                  </a:r>
                  <a:r>
                    <a:rPr lang="en-US" altLang="zh-CN" sz="1000" dirty="0">
                      <a:sym typeface="+mn-ea"/>
                    </a:rPr>
                    <a:t>: 0</a:t>
                  </a:r>
                  <a:endParaRPr lang="en-US" sz="1000" dirty="0">
                    <a:sym typeface="+mn-ea"/>
                  </a:endParaRPr>
                </a:p>
                <a:p>
                  <a:pPr lvl="0" algn="l">
                    <a:lnSpc>
                      <a:spcPct val="80000"/>
                    </a:lnSpc>
                  </a:pPr>
                  <a:r>
                    <a:rPr lang="zh-CN" altLang="en-US" sz="1000" dirty="0">
                      <a:sym typeface="+mn-ea"/>
                    </a:rPr>
                    <a:t>B</a:t>
                  </a:r>
                  <a:r>
                    <a:rPr lang="en-US" altLang="zh-CN" sz="1000" dirty="0">
                      <a:sym typeface="+mn-ea"/>
                    </a:rPr>
                    <a:t>: 0</a:t>
                  </a:r>
                  <a:endParaRPr lang="zh-CN" altLang="en-US" sz="1000" dirty="0"/>
                </a:p>
              </p:txBody>
            </p:sp>
          </p:grpSp>
        </p:grpSp>
        <p:sp>
          <p:nvSpPr>
            <p:cNvPr id="86" name="矩形 85"/>
            <p:cNvSpPr/>
            <p:nvPr userDrawn="1"/>
          </p:nvSpPr>
          <p:spPr>
            <a:xfrm rot="16200000">
              <a:off x="-509599" y="4900869"/>
              <a:ext cx="472607" cy="274320"/>
            </a:xfrm>
            <a:prstGeom prst="rect">
              <a:avLst/>
            </a:prstGeom>
            <a:solidFill>
              <a:srgbClr val="FFFFFF"/>
            </a:solidFill>
            <a:ln w="127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7" name="文本框 3"/>
            <p:cNvSpPr txBox="1"/>
            <p:nvPr userDrawn="1"/>
          </p:nvSpPr>
          <p:spPr>
            <a:xfrm>
              <a:off x="-927750" y="4814018"/>
              <a:ext cx="661035" cy="461680"/>
            </a:xfrm>
            <a:prstGeom prst="rect">
              <a:avLst/>
            </a:prstGeom>
            <a:noFill/>
          </p:spPr>
          <p:txBody>
            <a:bodyPr wrap="square" rtlCol="0">
              <a:spAutoFit/>
            </a:bodyPr>
            <a:lstStyle/>
            <a:p>
              <a:pPr lvl="0" algn="l">
                <a:lnSpc>
                  <a:spcPct val="80000"/>
                </a:lnSpc>
              </a:pPr>
              <a:r>
                <a:rPr lang="zh-CN" altLang="en-US" sz="1000" dirty="0">
                  <a:sym typeface="+mn-ea"/>
                </a:rPr>
                <a:t>R</a:t>
              </a:r>
              <a:r>
                <a:rPr lang="en-US" altLang="zh-CN" sz="1000" dirty="0">
                  <a:sym typeface="+mn-ea"/>
                </a:rPr>
                <a:t>: 255</a:t>
              </a:r>
              <a:endParaRPr lang="en-US" altLang="zh-CN" sz="1000" dirty="0">
                <a:sym typeface="+mn-ea"/>
              </a:endParaRPr>
            </a:p>
            <a:p>
              <a:pPr lvl="0" algn="l">
                <a:lnSpc>
                  <a:spcPct val="80000"/>
                </a:lnSpc>
              </a:pPr>
              <a:r>
                <a:rPr lang="zh-CN" altLang="en-US" sz="1000" dirty="0">
                  <a:sym typeface="+mn-ea"/>
                </a:rPr>
                <a:t>G</a:t>
              </a:r>
              <a:r>
                <a:rPr lang="en-US" altLang="zh-CN" sz="1000" dirty="0">
                  <a:sym typeface="+mn-ea"/>
                </a:rPr>
                <a:t>:255</a:t>
              </a:r>
              <a:endParaRPr lang="en-US" sz="1000" dirty="0">
                <a:sym typeface="+mn-ea"/>
              </a:endParaRPr>
            </a:p>
            <a:p>
              <a:pPr lvl="0" algn="l">
                <a:lnSpc>
                  <a:spcPct val="80000"/>
                </a:lnSpc>
              </a:pPr>
              <a:r>
                <a:rPr lang="zh-CN" altLang="en-US" sz="1000" dirty="0">
                  <a:sym typeface="+mn-ea"/>
                </a:rPr>
                <a:t>B</a:t>
              </a:r>
              <a:r>
                <a:rPr lang="en-US" altLang="zh-CN" sz="1000" dirty="0">
                  <a:sym typeface="+mn-ea"/>
                </a:rPr>
                <a:t>: 255</a:t>
              </a:r>
              <a:endParaRPr lang="zh-CN" altLang="en-US" sz="1000" dirty="0"/>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3.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3.xml"/><Relationship Id="rId4" Type="http://schemas.openxmlformats.org/officeDocument/2006/relationships/image" Target="../media/image7.png"/><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9" Type="http://schemas.openxmlformats.org/officeDocument/2006/relationships/image" Target="../media/image16.sv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0" Type="http://schemas.openxmlformats.org/officeDocument/2006/relationships/slideLayout" Target="../slideLayouts/slideLayout12.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3.xml"/><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22.svg"/><Relationship Id="rId2" Type="http://schemas.openxmlformats.org/officeDocument/2006/relationships/image" Target="../media/image25.png"/><Relationship Id="rId1" Type="http://schemas.openxmlformats.org/officeDocument/2006/relationships/image" Target="../media/image24.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image" Target="../media/image7.png"/><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2.png"/><Relationship Id="rId1"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4.png"/><Relationship Id="rId1"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5.png"/><Relationship Id="rId1"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7.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3.xml"/><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svg"/><Relationship Id="rId7" Type="http://schemas.openxmlformats.org/officeDocument/2006/relationships/image" Target="../media/image44.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3" Type="http://schemas.openxmlformats.org/officeDocument/2006/relationships/image" Target="../media/image40.png"/><Relationship Id="rId2" Type="http://schemas.openxmlformats.org/officeDocument/2006/relationships/image" Target="../media/image39.svg"/><Relationship Id="rId11" Type="http://schemas.openxmlformats.org/officeDocument/2006/relationships/slideLayout" Target="../slideLayouts/slideLayout12.xml"/><Relationship Id="rId10" Type="http://schemas.openxmlformats.org/officeDocument/2006/relationships/image" Target="../media/image47.svg"/><Relationship Id="rId1" Type="http://schemas.openxmlformats.org/officeDocument/2006/relationships/image" Target="../media/image38.png"/></Relationships>
</file>

<file path=ppt/slides/_rels/slide17.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image" Target="../media/image55.png"/><Relationship Id="rId7" Type="http://schemas.openxmlformats.org/officeDocument/2006/relationships/image" Target="../media/image54.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4" Type="http://schemas.openxmlformats.org/officeDocument/2006/relationships/slideLayout" Target="../slideLayouts/slideLayout12.xml"/><Relationship Id="rId13" Type="http://schemas.openxmlformats.org/officeDocument/2006/relationships/image" Target="../media/image60.png"/><Relationship Id="rId12" Type="http://schemas.openxmlformats.org/officeDocument/2006/relationships/image" Target="../media/image59.png"/><Relationship Id="rId11" Type="http://schemas.openxmlformats.org/officeDocument/2006/relationships/image" Target="../media/image58.png"/><Relationship Id="rId10" Type="http://schemas.openxmlformats.org/officeDocument/2006/relationships/image" Target="../media/image57.png"/><Relationship Id="rId1"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1.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3.xml"/><Relationship Id="rId4" Type="http://schemas.openxmlformats.org/officeDocument/2006/relationships/image" Target="../media/image7.png"/><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 descr="C:\Users\wangxin51\Desktop\未标题-3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 y="3376760"/>
            <a:ext cx="12192001" cy="4235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组合 7"/>
          <p:cNvGrpSpPr/>
          <p:nvPr/>
        </p:nvGrpSpPr>
        <p:grpSpPr bwMode="auto">
          <a:xfrm>
            <a:off x="3073400" y="6181183"/>
            <a:ext cx="5059363" cy="339725"/>
            <a:chOff x="3128248" y="3176495"/>
            <a:chExt cx="6746291" cy="453608"/>
          </a:xfrm>
        </p:grpSpPr>
        <p:sp>
          <p:nvSpPr>
            <p:cNvPr id="10" name="TextBox 8"/>
            <p:cNvSpPr txBox="1">
              <a:spLocks noChangeArrowheads="1"/>
            </p:cNvSpPr>
            <p:nvPr/>
          </p:nvSpPr>
          <p:spPr bwMode="auto">
            <a:xfrm>
              <a:off x="4900023" y="3178614"/>
              <a:ext cx="4974516" cy="451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eaLnBrk="1" hangingPunct="1">
                <a:defRPr/>
              </a:pPr>
              <a:r>
                <a:rPr lang="en-US" altLang="zh-CN" sz="1600" dirty="0">
                  <a:solidFill>
                    <a:srgbClr val="595959"/>
                  </a:solidFill>
                  <a:latin typeface="微软雅黑" charset="-122"/>
                  <a:ea typeface="微软雅黑" charset="-122"/>
                </a:rPr>
                <a:t>INNOVATION CREATES EXCELLENCE</a:t>
              </a:r>
              <a:endParaRPr lang="bg-BG" altLang="zh-CN" sz="1600" dirty="0">
                <a:solidFill>
                  <a:srgbClr val="595959"/>
                </a:solidFill>
                <a:latin typeface="微软雅黑" charset="-122"/>
                <a:ea typeface="微软雅黑" charset="-122"/>
              </a:endParaRPr>
            </a:p>
          </p:txBody>
        </p:sp>
        <p:sp>
          <p:nvSpPr>
            <p:cNvPr id="11" name="TextBox 9"/>
            <p:cNvSpPr txBox="1">
              <a:spLocks noChangeArrowheads="1"/>
            </p:cNvSpPr>
            <p:nvPr/>
          </p:nvSpPr>
          <p:spPr bwMode="auto">
            <a:xfrm>
              <a:off x="3128248" y="3176495"/>
              <a:ext cx="1784476" cy="43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algn="dist" eaLnBrk="1" hangingPunct="1">
                <a:defRPr/>
              </a:pPr>
              <a:r>
                <a:rPr lang="zh-CN" altLang="en-US" sz="1500">
                  <a:solidFill>
                    <a:srgbClr val="00489D"/>
                  </a:solidFill>
                  <a:latin typeface="微软雅黑" charset="-122"/>
                  <a:ea typeface="微软雅黑" charset="-122"/>
                </a:rPr>
                <a:t>创新成就卓越</a:t>
              </a:r>
              <a:endParaRPr lang="bg-BG" altLang="zh-CN" sz="1500">
                <a:solidFill>
                  <a:srgbClr val="7F7F7F"/>
                </a:solidFill>
                <a:latin typeface="微软雅黑" charset="-122"/>
                <a:ea typeface="微软雅黑" charset="-122"/>
              </a:endParaRPr>
            </a:p>
          </p:txBody>
        </p:sp>
      </p:grpSp>
      <p:pic>
        <p:nvPicPr>
          <p:cNvPr id="12" name="Picture 3" descr="C:\Users\wangxin51\Desktop\未标题-5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0791" y="99924"/>
            <a:ext cx="3025392" cy="170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47"/>
          <p:cNvSpPr>
            <a:spLocks noChangeArrowheads="1"/>
          </p:cNvSpPr>
          <p:nvPr/>
        </p:nvSpPr>
        <p:spPr bwMode="auto">
          <a:xfrm>
            <a:off x="1930399" y="848742"/>
            <a:ext cx="8153400" cy="1198880"/>
          </a:xfrm>
          <a:prstGeom prst="rect">
            <a:avLst/>
          </a:prstGeom>
          <a:noFill/>
          <a:ln w="9525" algn="ctr">
            <a:noFill/>
            <a:miter lim="800000"/>
          </a:ln>
        </p:spPr>
        <p:txBody>
          <a:bodyPr>
            <a:spAutoFit/>
          </a:bodyPr>
          <a:lstStyle/>
          <a:p>
            <a:pPr algn="ctr"/>
            <a:r>
              <a:rPr lang="zh-CN" altLang="en-US" sz="7200" dirty="0">
                <a:effectLst>
                  <a:outerShdw blurRad="38100" dist="38100" dir="2700000" algn="tl">
                    <a:srgbClr val="C0C0C0"/>
                  </a:outerShdw>
                </a:effectLst>
                <a:latin typeface="微软雅黑" charset="-122"/>
                <a:ea typeface="微软雅黑" charset="-122"/>
                <a:cs typeface="等线" panose="02010600030101010101" pitchFamily="2" charset="-122"/>
              </a:rPr>
              <a:t>磷酸铁锂工作汇报</a:t>
            </a:r>
            <a:endParaRPr lang="zh-CN" altLang="en-US" sz="7200" dirty="0">
              <a:effectLst>
                <a:outerShdw blurRad="38100" dist="38100" dir="2700000" algn="tl">
                  <a:srgbClr val="C0C0C0"/>
                </a:outerShdw>
              </a:effectLst>
              <a:latin typeface="微软雅黑" charset="-122"/>
              <a:ea typeface="微软雅黑" charset="-122"/>
              <a:cs typeface="等线" panose="02010600030101010101" pitchFamily="2" charset="-122"/>
            </a:endParaRPr>
          </a:p>
        </p:txBody>
      </p:sp>
      <p:pic>
        <p:nvPicPr>
          <p:cNvPr id="1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2385" y="1918058"/>
            <a:ext cx="4150378" cy="2075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文本框 7"/>
          <p:cNvSpPr txBox="1">
            <a:spLocks noChangeArrowheads="1"/>
          </p:cNvSpPr>
          <p:nvPr/>
        </p:nvSpPr>
        <p:spPr bwMode="auto">
          <a:xfrm>
            <a:off x="2463800" y="3973513"/>
            <a:ext cx="8254999"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50000"/>
              </a:lnSpc>
              <a:spcBef>
                <a:spcPct val="0"/>
              </a:spcBef>
              <a:buFontTx/>
              <a:buNone/>
            </a:pPr>
            <a:r>
              <a:rPr lang="zh-CN" altLang="en-US" sz="2800" b="1" dirty="0">
                <a:solidFill>
                  <a:srgbClr val="8497B0"/>
                </a:solidFill>
                <a:latin typeface="微软雅黑" charset="-122"/>
                <a:ea typeface="微软雅黑" charset="-122"/>
              </a:rPr>
              <a:t>报告人</a:t>
            </a:r>
            <a:r>
              <a:rPr lang="en-US" altLang="zh-CN" sz="2800" b="1" dirty="0">
                <a:solidFill>
                  <a:srgbClr val="8497B0"/>
                </a:solidFill>
                <a:latin typeface="微软雅黑" charset="-122"/>
                <a:ea typeface="微软雅黑" charset="-122"/>
              </a:rPr>
              <a:t>: xxx      </a:t>
            </a:r>
            <a:r>
              <a:rPr lang="zh-CN" altLang="en-US" sz="2800" b="1" dirty="0">
                <a:solidFill>
                  <a:srgbClr val="8497B0"/>
                </a:solidFill>
                <a:latin typeface="微软雅黑" charset="-122"/>
                <a:ea typeface="微软雅黑" charset="-122"/>
              </a:rPr>
              <a:t>时  间：</a:t>
            </a:r>
            <a:r>
              <a:rPr lang="en-US" altLang="zh-CN" sz="2800" b="1" dirty="0">
                <a:solidFill>
                  <a:srgbClr val="8497B0"/>
                </a:solidFill>
                <a:latin typeface="微软雅黑" charset="-122"/>
                <a:ea typeface="微软雅黑" charset="-122"/>
              </a:rPr>
              <a:t>2025</a:t>
            </a:r>
            <a:r>
              <a:rPr lang="zh-CN" altLang="en-US" sz="2800" b="1" dirty="0">
                <a:solidFill>
                  <a:srgbClr val="8497B0"/>
                </a:solidFill>
                <a:latin typeface="微软雅黑" charset="-122"/>
                <a:ea typeface="微软雅黑" charset="-122"/>
              </a:rPr>
              <a:t>年</a:t>
            </a:r>
            <a:r>
              <a:rPr lang="en-US" altLang="zh-CN" sz="2800" b="1" dirty="0">
                <a:solidFill>
                  <a:srgbClr val="8497B0"/>
                </a:solidFill>
                <a:latin typeface="微软雅黑" charset="-122"/>
                <a:ea typeface="微软雅黑" charset="-122"/>
              </a:rPr>
              <a:t>11</a:t>
            </a:r>
            <a:r>
              <a:rPr lang="zh-CN" altLang="en-US" sz="2800" b="1" dirty="0">
                <a:solidFill>
                  <a:srgbClr val="8497B0"/>
                </a:solidFill>
                <a:latin typeface="微软雅黑" charset="-122"/>
                <a:ea typeface="微软雅黑" charset="-122"/>
              </a:rPr>
              <a:t>月</a:t>
            </a:r>
            <a:r>
              <a:rPr lang="en-US" altLang="zh-CN" sz="2800" b="1" dirty="0">
                <a:solidFill>
                  <a:srgbClr val="8497B0"/>
                </a:solidFill>
                <a:latin typeface="微软雅黑" charset="-122"/>
                <a:ea typeface="微软雅黑" charset="-122"/>
              </a:rPr>
              <a:t>xx</a:t>
            </a:r>
            <a:r>
              <a:rPr lang="zh-CN" altLang="en-US" sz="2800" b="1" dirty="0">
                <a:solidFill>
                  <a:srgbClr val="8497B0"/>
                </a:solidFill>
                <a:latin typeface="微软雅黑" charset="-122"/>
                <a:ea typeface="微软雅黑" charset="-122"/>
              </a:rPr>
              <a:t>日</a:t>
            </a:r>
            <a:endParaRPr lang="en-US" altLang="zh-CN" sz="2800" b="1" dirty="0">
              <a:solidFill>
                <a:srgbClr val="8497B0"/>
              </a:solidFill>
              <a:latin typeface="微软雅黑" charset="-122"/>
              <a:ea typeface="微软雅黑"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 descr="C:\Users\wangxin51\Desktop\未标题-3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3429000"/>
            <a:ext cx="12192001" cy="4235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8612" name="组合 10"/>
          <p:cNvGrpSpPr/>
          <p:nvPr/>
        </p:nvGrpSpPr>
        <p:grpSpPr bwMode="auto">
          <a:xfrm>
            <a:off x="6877108" y="2159738"/>
            <a:ext cx="1174749" cy="831009"/>
            <a:chOff x="8971" y="3927"/>
            <a:chExt cx="1389" cy="1309"/>
          </a:xfrm>
        </p:grpSpPr>
        <p:sp>
          <p:nvSpPr>
            <p:cNvPr id="68626" name="文本框 15"/>
            <p:cNvSpPr txBox="1">
              <a:spLocks noChangeArrowheads="1"/>
            </p:cNvSpPr>
            <p:nvPr/>
          </p:nvSpPr>
          <p:spPr bwMode="auto">
            <a:xfrm>
              <a:off x="8971" y="3927"/>
              <a:ext cx="1071" cy="1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4800">
                  <a:solidFill>
                    <a:srgbClr val="8497B0"/>
                  </a:solidFill>
                  <a:latin typeface="微软雅黑" charset="-122"/>
                  <a:ea typeface="微软雅黑" charset="-122"/>
                </a:rPr>
                <a:t>02</a:t>
              </a:r>
              <a:endParaRPr lang="en-US" altLang="zh-CN" sz="4800">
                <a:solidFill>
                  <a:srgbClr val="8497B0"/>
                </a:solidFill>
                <a:latin typeface="微软雅黑" charset="-122"/>
                <a:ea typeface="微软雅黑" charset="-122"/>
              </a:endParaRPr>
            </a:p>
          </p:txBody>
        </p:sp>
        <p:cxnSp>
          <p:nvCxnSpPr>
            <p:cNvPr id="19" name="直接连接符 18"/>
            <p:cNvCxnSpPr/>
            <p:nvPr/>
          </p:nvCxnSpPr>
          <p:spPr>
            <a:xfrm>
              <a:off x="10360" y="4070"/>
              <a:ext cx="0" cy="1020"/>
            </a:xfrm>
            <a:prstGeom prst="line">
              <a:avLst/>
            </a:prstGeom>
            <a:ln>
              <a:solidFill>
                <a:srgbClr val="8497B0"/>
              </a:solidFill>
            </a:ln>
          </p:spPr>
          <p:style>
            <a:lnRef idx="1">
              <a:schemeClr val="accent1"/>
            </a:lnRef>
            <a:fillRef idx="0">
              <a:schemeClr val="accent1"/>
            </a:fillRef>
            <a:effectRef idx="0">
              <a:schemeClr val="accent1"/>
            </a:effectRef>
            <a:fontRef idx="minor">
              <a:schemeClr val="tx1"/>
            </a:fontRef>
          </p:style>
        </p:cxnSp>
      </p:grpSp>
      <p:grpSp>
        <p:nvGrpSpPr>
          <p:cNvPr id="68614" name="组合 11"/>
          <p:cNvGrpSpPr/>
          <p:nvPr/>
        </p:nvGrpSpPr>
        <p:grpSpPr bwMode="auto">
          <a:xfrm>
            <a:off x="5517657" y="3679816"/>
            <a:ext cx="1174751" cy="830944"/>
            <a:chOff x="12346" y="6276"/>
            <a:chExt cx="1389" cy="1306"/>
          </a:xfrm>
        </p:grpSpPr>
        <p:sp>
          <p:nvSpPr>
            <p:cNvPr id="68624" name="文本框 19"/>
            <p:cNvSpPr txBox="1">
              <a:spLocks noChangeArrowheads="1"/>
            </p:cNvSpPr>
            <p:nvPr/>
          </p:nvSpPr>
          <p:spPr bwMode="auto">
            <a:xfrm>
              <a:off x="12346" y="6276"/>
              <a:ext cx="1071" cy="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4800" dirty="0">
                  <a:solidFill>
                    <a:srgbClr val="8497B0"/>
                  </a:solidFill>
                  <a:latin typeface="微软雅黑" charset="-122"/>
                  <a:ea typeface="微软雅黑" charset="-122"/>
                </a:rPr>
                <a:t>04</a:t>
              </a:r>
              <a:endParaRPr lang="en-US" altLang="zh-CN" sz="4800" dirty="0">
                <a:solidFill>
                  <a:srgbClr val="8497B0"/>
                </a:solidFill>
                <a:latin typeface="微软雅黑" charset="-122"/>
                <a:ea typeface="微软雅黑" charset="-122"/>
              </a:endParaRPr>
            </a:p>
          </p:txBody>
        </p:sp>
        <p:cxnSp>
          <p:nvCxnSpPr>
            <p:cNvPr id="38" name="直接连接符 37"/>
            <p:cNvCxnSpPr/>
            <p:nvPr/>
          </p:nvCxnSpPr>
          <p:spPr>
            <a:xfrm>
              <a:off x="13735" y="6422"/>
              <a:ext cx="0" cy="1018"/>
            </a:xfrm>
            <a:prstGeom prst="line">
              <a:avLst/>
            </a:prstGeom>
            <a:ln>
              <a:solidFill>
                <a:srgbClr val="8497B0"/>
              </a:solidFill>
            </a:ln>
          </p:spPr>
          <p:style>
            <a:lnRef idx="1">
              <a:schemeClr val="accent1"/>
            </a:lnRef>
            <a:fillRef idx="0">
              <a:schemeClr val="accent1"/>
            </a:fillRef>
            <a:effectRef idx="0">
              <a:schemeClr val="accent1"/>
            </a:effectRef>
            <a:fontRef idx="minor">
              <a:schemeClr val="tx1"/>
            </a:fontRef>
          </p:style>
        </p:cxnSp>
      </p:grpSp>
      <p:sp>
        <p:nvSpPr>
          <p:cNvPr id="68615" name="矩形 14"/>
          <p:cNvSpPr>
            <a:spLocks noChangeArrowheads="1"/>
          </p:cNvSpPr>
          <p:nvPr/>
        </p:nvSpPr>
        <p:spPr bwMode="auto">
          <a:xfrm>
            <a:off x="3049394" y="2394314"/>
            <a:ext cx="23209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400" b="1" dirty="0">
                <a:solidFill>
                  <a:srgbClr val="00489D"/>
                </a:solidFill>
                <a:latin typeface="微软雅黑" charset="-122"/>
                <a:ea typeface="微软雅黑" charset="-122"/>
                <a:sym typeface="+mn-ea"/>
              </a:rPr>
              <a:t>文献自动化</a:t>
            </a:r>
            <a:r>
              <a:rPr lang="zh-CN" altLang="en-US" sz="2400" b="1" dirty="0">
                <a:solidFill>
                  <a:srgbClr val="00489D"/>
                </a:solidFill>
                <a:latin typeface="微软雅黑" charset="-122"/>
                <a:ea typeface="微软雅黑" charset="-122"/>
                <a:sym typeface="+mn-ea"/>
              </a:rPr>
              <a:t>获取</a:t>
            </a:r>
            <a:endParaRPr lang="zh-CN" altLang="en-US" sz="2400" b="1" dirty="0">
              <a:solidFill>
                <a:srgbClr val="00489D"/>
              </a:solidFill>
              <a:latin typeface="微软雅黑" charset="-122"/>
              <a:ea typeface="微软雅黑" charset="-122"/>
              <a:sym typeface="+mn-ea"/>
            </a:endParaRPr>
          </a:p>
        </p:txBody>
      </p:sp>
      <p:grpSp>
        <p:nvGrpSpPr>
          <p:cNvPr id="68616" name="组合 12"/>
          <p:cNvGrpSpPr/>
          <p:nvPr/>
        </p:nvGrpSpPr>
        <p:grpSpPr bwMode="auto">
          <a:xfrm>
            <a:off x="1870768" y="2161431"/>
            <a:ext cx="1176867" cy="831009"/>
            <a:chOff x="2395" y="3922"/>
            <a:chExt cx="1389" cy="1309"/>
          </a:xfrm>
        </p:grpSpPr>
        <p:sp>
          <p:nvSpPr>
            <p:cNvPr id="68622" name="文本框 13"/>
            <p:cNvSpPr txBox="1">
              <a:spLocks noChangeArrowheads="1"/>
            </p:cNvSpPr>
            <p:nvPr/>
          </p:nvSpPr>
          <p:spPr bwMode="auto">
            <a:xfrm>
              <a:off x="2395" y="3922"/>
              <a:ext cx="1069" cy="1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4800">
                  <a:solidFill>
                    <a:srgbClr val="8497B0"/>
                  </a:solidFill>
                  <a:latin typeface="微软雅黑" charset="-122"/>
                  <a:ea typeface="微软雅黑" charset="-122"/>
                </a:rPr>
                <a:t>01</a:t>
              </a:r>
              <a:endParaRPr lang="en-US" altLang="zh-CN" sz="4800">
                <a:solidFill>
                  <a:srgbClr val="8497B0"/>
                </a:solidFill>
                <a:latin typeface="微软雅黑" charset="-122"/>
                <a:ea typeface="微软雅黑" charset="-122"/>
              </a:endParaRPr>
            </a:p>
          </p:txBody>
        </p:sp>
        <p:cxnSp>
          <p:nvCxnSpPr>
            <p:cNvPr id="22" name="直接连接符 21"/>
            <p:cNvCxnSpPr/>
            <p:nvPr/>
          </p:nvCxnSpPr>
          <p:spPr>
            <a:xfrm>
              <a:off x="3784" y="4065"/>
              <a:ext cx="0" cy="1020"/>
            </a:xfrm>
            <a:prstGeom prst="line">
              <a:avLst/>
            </a:prstGeom>
            <a:ln>
              <a:solidFill>
                <a:srgbClr val="8497B0"/>
              </a:solidFill>
            </a:ln>
          </p:spPr>
          <p:style>
            <a:lnRef idx="1">
              <a:schemeClr val="accent1"/>
            </a:lnRef>
            <a:fillRef idx="0">
              <a:schemeClr val="accent1"/>
            </a:fillRef>
            <a:effectRef idx="0">
              <a:schemeClr val="accent1"/>
            </a:effectRef>
            <a:fontRef idx="minor">
              <a:schemeClr val="tx1"/>
            </a:fontRef>
          </p:style>
        </p:cxnSp>
      </p:grpSp>
      <p:sp>
        <p:nvSpPr>
          <p:cNvPr id="26" name="矩形 14"/>
          <p:cNvSpPr>
            <a:spLocks noChangeArrowheads="1"/>
          </p:cNvSpPr>
          <p:nvPr/>
        </p:nvSpPr>
        <p:spPr bwMode="auto">
          <a:xfrm>
            <a:off x="6777251" y="3835425"/>
            <a:ext cx="20154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400" b="1" dirty="0">
                <a:solidFill>
                  <a:srgbClr val="00489D"/>
                </a:solidFill>
                <a:latin typeface="微软雅黑" charset="-122"/>
                <a:ea typeface="微软雅黑" charset="-122"/>
                <a:sym typeface="+mn-ea"/>
              </a:rPr>
              <a:t>问答系统</a:t>
            </a:r>
            <a:r>
              <a:rPr lang="zh-CN" altLang="en-US" sz="2400" b="1" dirty="0">
                <a:solidFill>
                  <a:srgbClr val="00489D"/>
                </a:solidFill>
                <a:latin typeface="微软雅黑" charset="-122"/>
                <a:ea typeface="微软雅黑" charset="-122"/>
                <a:sym typeface="+mn-ea"/>
              </a:rPr>
              <a:t>流程</a:t>
            </a:r>
            <a:endParaRPr lang="zh-CN" altLang="en-US" sz="2400" b="1" dirty="0">
              <a:solidFill>
                <a:srgbClr val="00489D"/>
              </a:solidFill>
              <a:latin typeface="微软雅黑" charset="-122"/>
              <a:ea typeface="微软雅黑" charset="-122"/>
              <a:sym typeface="+mn-ea"/>
            </a:endParaRPr>
          </a:p>
        </p:txBody>
      </p:sp>
      <p:pic>
        <p:nvPicPr>
          <p:cNvPr id="27" name="Picture 3" descr="C:\Users\wangxin51\Desktop\未标题-5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0791" y="99924"/>
            <a:ext cx="3025392" cy="170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椭圆 30"/>
          <p:cNvSpPr/>
          <p:nvPr/>
        </p:nvSpPr>
        <p:spPr>
          <a:xfrm>
            <a:off x="717550" y="726353"/>
            <a:ext cx="947737" cy="711200"/>
          </a:xfrm>
          <a:prstGeom prst="ellipse">
            <a:avLst/>
          </a:prstGeom>
          <a:solidFill>
            <a:srgbClr val="01489D"/>
          </a:solidFill>
          <a:ln>
            <a:noFill/>
          </a:ln>
        </p:spPr>
        <p:style>
          <a:lnRef idx="2">
            <a:schemeClr val="accent1">
              <a:shade val="50000"/>
            </a:schemeClr>
          </a:lnRef>
          <a:fillRef idx="1">
            <a:schemeClr val="accent1"/>
          </a:fillRef>
          <a:effectRef idx="0">
            <a:schemeClr val="accent1"/>
          </a:effectRef>
          <a:fontRef idx="minor">
            <a:schemeClr val="lt1"/>
          </a:fontRef>
        </p:style>
        <p:txBody>
          <a:bodyPr lIns="68562" tIns="34289" rIns="68562" bIns="34289" anchor="ctr"/>
          <a:lstStyle/>
          <a:p>
            <a:pPr algn="ctr" defTabSz="342900" eaLnBrk="1" fontAlgn="auto" hangingPunct="1">
              <a:spcBef>
                <a:spcPts val="0"/>
              </a:spcBef>
              <a:spcAft>
                <a:spcPts val="0"/>
              </a:spcAft>
              <a:defRPr/>
            </a:pPr>
            <a:endParaRPr lang="zh-CN" altLang="en-US" sz="1400">
              <a:solidFill>
                <a:prstClr val="white"/>
              </a:solidFill>
            </a:endParaRPr>
          </a:p>
        </p:txBody>
      </p:sp>
      <p:sp>
        <p:nvSpPr>
          <p:cNvPr id="32" name="圆角矩形 7"/>
          <p:cNvSpPr/>
          <p:nvPr/>
        </p:nvSpPr>
        <p:spPr>
          <a:xfrm>
            <a:off x="1485900" y="721590"/>
            <a:ext cx="4400550" cy="692150"/>
          </a:xfrm>
          <a:prstGeom prst="roundRect">
            <a:avLst>
              <a:gd name="adj" fmla="val 5000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68562" tIns="34289" rIns="68562" bIns="34289" anchor="ctr"/>
          <a:lstStyle/>
          <a:p>
            <a:pPr algn="ctr" defTabSz="342900" eaLnBrk="1" fontAlgn="auto" hangingPunct="1">
              <a:spcBef>
                <a:spcPts val="0"/>
              </a:spcBef>
              <a:spcAft>
                <a:spcPts val="0"/>
              </a:spcAft>
              <a:defRPr/>
            </a:pPr>
            <a:endParaRPr lang="zh-CN" altLang="en-US" sz="1400">
              <a:solidFill>
                <a:prstClr val="white"/>
              </a:solidFill>
            </a:endParaRPr>
          </a:p>
        </p:txBody>
      </p:sp>
      <p:sp>
        <p:nvSpPr>
          <p:cNvPr id="33" name="文本框 34"/>
          <p:cNvSpPr txBox="1">
            <a:spLocks noChangeArrowheads="1"/>
          </p:cNvSpPr>
          <p:nvPr/>
        </p:nvSpPr>
        <p:spPr bwMode="auto">
          <a:xfrm>
            <a:off x="4459287" y="842240"/>
            <a:ext cx="116205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1423" tIns="25718" rIns="51423" bIns="25718">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eaLnBrk="1" hangingPunct="1">
              <a:defRPr/>
            </a:pPr>
            <a:r>
              <a:rPr lang="zh-CN" altLang="en-US" sz="2700" b="1">
                <a:solidFill>
                  <a:srgbClr val="262626"/>
                </a:solidFill>
                <a:latin typeface="微软雅黑" charset="-122"/>
                <a:ea typeface="微软雅黑" charset="-122"/>
              </a:rPr>
              <a:t>目录</a:t>
            </a:r>
            <a:endParaRPr lang="zh-CN" altLang="en-US" sz="2700" b="1">
              <a:solidFill>
                <a:srgbClr val="262626"/>
              </a:solidFill>
              <a:latin typeface="微软雅黑" charset="-122"/>
              <a:ea typeface="微软雅黑" charset="-122"/>
            </a:endParaRPr>
          </a:p>
        </p:txBody>
      </p:sp>
      <p:sp>
        <p:nvSpPr>
          <p:cNvPr id="34" name="文本框 35"/>
          <p:cNvSpPr txBox="1">
            <a:spLocks noChangeArrowheads="1"/>
          </p:cNvSpPr>
          <p:nvPr/>
        </p:nvSpPr>
        <p:spPr bwMode="auto">
          <a:xfrm>
            <a:off x="523875" y="732703"/>
            <a:ext cx="365283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1423" tIns="25718" rIns="51423" bIns="25718">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algn="ctr" eaLnBrk="1" hangingPunct="1">
              <a:defRPr/>
            </a:pPr>
            <a:r>
              <a:rPr lang="en-US" altLang="zh-CN" sz="4100" b="1" dirty="0">
                <a:solidFill>
                  <a:srgbClr val="FFFFFF"/>
                </a:solidFill>
                <a:latin typeface="微软雅黑" charset="-122"/>
                <a:ea typeface="微软雅黑" charset="-122"/>
              </a:rPr>
              <a:t>C</a:t>
            </a:r>
            <a:r>
              <a:rPr lang="en-US" altLang="zh-CN" sz="3800" b="1" dirty="0">
                <a:solidFill>
                  <a:srgbClr val="FFFFFF"/>
                </a:solidFill>
                <a:latin typeface="微软雅黑" charset="-122"/>
                <a:ea typeface="微软雅黑" charset="-122"/>
              </a:rPr>
              <a:t> </a:t>
            </a:r>
            <a:r>
              <a:rPr lang="en-US" altLang="zh-CN" sz="3300" b="1" dirty="0">
                <a:solidFill>
                  <a:srgbClr val="01489D"/>
                </a:solidFill>
                <a:latin typeface="微软雅黑" charset="-122"/>
                <a:ea typeface="微软雅黑" charset="-122"/>
              </a:rPr>
              <a:t>ONTENTS</a:t>
            </a:r>
            <a:endParaRPr lang="en-US" altLang="zh-CN" sz="3300" b="1" dirty="0">
              <a:solidFill>
                <a:srgbClr val="01489D"/>
              </a:solidFill>
              <a:latin typeface="微软雅黑" charset="-122"/>
              <a:ea typeface="微软雅黑" charset="-122"/>
            </a:endParaRPr>
          </a:p>
        </p:txBody>
      </p:sp>
      <p:grpSp>
        <p:nvGrpSpPr>
          <p:cNvPr id="35" name="组合 7"/>
          <p:cNvGrpSpPr/>
          <p:nvPr/>
        </p:nvGrpSpPr>
        <p:grpSpPr bwMode="auto">
          <a:xfrm>
            <a:off x="3073400" y="6181183"/>
            <a:ext cx="5059363" cy="339725"/>
            <a:chOff x="3128248" y="3176495"/>
            <a:chExt cx="6746291" cy="453608"/>
          </a:xfrm>
        </p:grpSpPr>
        <p:sp>
          <p:nvSpPr>
            <p:cNvPr id="36" name="TextBox 8"/>
            <p:cNvSpPr txBox="1">
              <a:spLocks noChangeArrowheads="1"/>
            </p:cNvSpPr>
            <p:nvPr/>
          </p:nvSpPr>
          <p:spPr bwMode="auto">
            <a:xfrm>
              <a:off x="4900023" y="3178614"/>
              <a:ext cx="4974516" cy="451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eaLnBrk="1" hangingPunct="1">
                <a:defRPr/>
              </a:pPr>
              <a:r>
                <a:rPr lang="en-US" altLang="zh-CN" sz="1600" dirty="0">
                  <a:solidFill>
                    <a:srgbClr val="595959"/>
                  </a:solidFill>
                  <a:latin typeface="微软雅黑" charset="-122"/>
                  <a:ea typeface="微软雅黑" charset="-122"/>
                </a:rPr>
                <a:t>INNOVATION CREATES EXCELLENCE</a:t>
              </a:r>
              <a:endParaRPr lang="bg-BG" altLang="zh-CN" sz="1600" dirty="0">
                <a:solidFill>
                  <a:srgbClr val="595959"/>
                </a:solidFill>
                <a:latin typeface="微软雅黑" charset="-122"/>
                <a:ea typeface="微软雅黑" charset="-122"/>
              </a:endParaRPr>
            </a:p>
          </p:txBody>
        </p:sp>
        <p:sp>
          <p:nvSpPr>
            <p:cNvPr id="37" name="TextBox 9"/>
            <p:cNvSpPr txBox="1">
              <a:spLocks noChangeArrowheads="1"/>
            </p:cNvSpPr>
            <p:nvPr/>
          </p:nvSpPr>
          <p:spPr bwMode="auto">
            <a:xfrm>
              <a:off x="3128248" y="3176495"/>
              <a:ext cx="1784476" cy="43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algn="dist" eaLnBrk="1" hangingPunct="1">
                <a:defRPr/>
              </a:pPr>
              <a:r>
                <a:rPr lang="zh-CN" altLang="en-US" sz="1500">
                  <a:solidFill>
                    <a:srgbClr val="00489D"/>
                  </a:solidFill>
                  <a:latin typeface="微软雅黑" charset="-122"/>
                  <a:ea typeface="微软雅黑" charset="-122"/>
                </a:rPr>
                <a:t>创新成就卓越</a:t>
              </a:r>
              <a:endParaRPr lang="bg-BG" altLang="zh-CN" sz="1500">
                <a:solidFill>
                  <a:srgbClr val="7F7F7F"/>
                </a:solidFill>
                <a:latin typeface="微软雅黑" charset="-122"/>
                <a:ea typeface="微软雅黑" charset="-122"/>
              </a:endParaRPr>
            </a:p>
          </p:txBody>
        </p:sp>
      </p:grpSp>
      <p:grpSp>
        <p:nvGrpSpPr>
          <p:cNvPr id="29" name="组合 10"/>
          <p:cNvGrpSpPr/>
          <p:nvPr/>
        </p:nvGrpSpPr>
        <p:grpSpPr bwMode="auto">
          <a:xfrm>
            <a:off x="227705" y="3614523"/>
            <a:ext cx="1174749" cy="831009"/>
            <a:chOff x="8971" y="3927"/>
            <a:chExt cx="1389" cy="1309"/>
          </a:xfrm>
        </p:grpSpPr>
        <p:sp>
          <p:nvSpPr>
            <p:cNvPr id="39" name="文本框 15"/>
            <p:cNvSpPr txBox="1">
              <a:spLocks noChangeArrowheads="1"/>
            </p:cNvSpPr>
            <p:nvPr/>
          </p:nvSpPr>
          <p:spPr bwMode="auto">
            <a:xfrm>
              <a:off x="8971" y="3927"/>
              <a:ext cx="1071" cy="1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4800" dirty="0">
                  <a:solidFill>
                    <a:srgbClr val="8497B0"/>
                  </a:solidFill>
                  <a:latin typeface="微软雅黑" charset="-122"/>
                  <a:ea typeface="微软雅黑" charset="-122"/>
                </a:rPr>
                <a:t>03</a:t>
              </a:r>
              <a:endParaRPr lang="en-US" altLang="zh-CN" sz="4800" dirty="0">
                <a:solidFill>
                  <a:srgbClr val="8497B0"/>
                </a:solidFill>
                <a:latin typeface="微软雅黑" charset="-122"/>
                <a:ea typeface="微软雅黑" charset="-122"/>
              </a:endParaRPr>
            </a:p>
          </p:txBody>
        </p:sp>
        <p:cxnSp>
          <p:nvCxnSpPr>
            <p:cNvPr id="40" name="直接连接符 39"/>
            <p:cNvCxnSpPr/>
            <p:nvPr/>
          </p:nvCxnSpPr>
          <p:spPr>
            <a:xfrm>
              <a:off x="10360" y="4070"/>
              <a:ext cx="0" cy="1020"/>
            </a:xfrm>
            <a:prstGeom prst="line">
              <a:avLst/>
            </a:prstGeom>
            <a:ln>
              <a:solidFill>
                <a:srgbClr val="8497B0"/>
              </a:solidFill>
            </a:ln>
          </p:spPr>
          <p:style>
            <a:lnRef idx="1">
              <a:schemeClr val="accent1"/>
            </a:lnRef>
            <a:fillRef idx="0">
              <a:schemeClr val="accent1"/>
            </a:fillRef>
            <a:effectRef idx="0">
              <a:schemeClr val="accent1"/>
            </a:effectRef>
            <a:fontRef idx="minor">
              <a:schemeClr val="tx1"/>
            </a:fontRef>
          </p:style>
        </p:cxnSp>
      </p:grpSp>
      <p:sp>
        <p:nvSpPr>
          <p:cNvPr id="41" name="矩形 14"/>
          <p:cNvSpPr>
            <a:spLocks noChangeArrowheads="1"/>
          </p:cNvSpPr>
          <p:nvPr/>
        </p:nvSpPr>
        <p:spPr bwMode="auto">
          <a:xfrm>
            <a:off x="1512827" y="3833843"/>
            <a:ext cx="354266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400" b="1" dirty="0">
                <a:solidFill>
                  <a:srgbClr val="00489D"/>
                </a:solidFill>
                <a:latin typeface="微软雅黑" charset="-122"/>
                <a:ea typeface="微软雅黑" charset="-122"/>
                <a:sym typeface="+mn-ea"/>
              </a:rPr>
              <a:t>多智能体问答系统的</a:t>
            </a:r>
            <a:r>
              <a:rPr lang="zh-CN" altLang="en-US" sz="2400" b="1" dirty="0">
                <a:solidFill>
                  <a:srgbClr val="00489D"/>
                </a:solidFill>
                <a:latin typeface="微软雅黑" charset="-122"/>
                <a:ea typeface="微软雅黑" charset="-122"/>
                <a:sym typeface="+mn-ea"/>
              </a:rPr>
              <a:t>搭建</a:t>
            </a:r>
            <a:endParaRPr lang="zh-CN" altLang="en-US" sz="2400" b="1" dirty="0">
              <a:solidFill>
                <a:srgbClr val="00489D"/>
              </a:solidFill>
              <a:latin typeface="微软雅黑" charset="-122"/>
              <a:ea typeface="微软雅黑" charset="-122"/>
              <a:sym typeface="+mn-ea"/>
            </a:endParaRPr>
          </a:p>
        </p:txBody>
      </p:sp>
      <p:sp>
        <p:nvSpPr>
          <p:cNvPr id="47" name="矩形 14"/>
          <p:cNvSpPr>
            <a:spLocks noChangeArrowheads="1"/>
          </p:cNvSpPr>
          <p:nvPr/>
        </p:nvSpPr>
        <p:spPr bwMode="auto">
          <a:xfrm>
            <a:off x="8200390" y="2383790"/>
            <a:ext cx="2473325" cy="607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o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400" b="1" dirty="0">
                <a:solidFill>
                  <a:srgbClr val="00489D"/>
                </a:solidFill>
                <a:latin typeface="微软雅黑" charset="-122"/>
                <a:ea typeface="微软雅黑" charset="-122"/>
                <a:sym typeface="+mn-ea"/>
              </a:rPr>
              <a:t>结构化信息</a:t>
            </a:r>
            <a:r>
              <a:rPr lang="zh-CN" altLang="en-US" sz="2400" b="1" dirty="0">
                <a:solidFill>
                  <a:srgbClr val="00489D"/>
                </a:solidFill>
                <a:latin typeface="微软雅黑" charset="-122"/>
                <a:ea typeface="微软雅黑" charset="-122"/>
                <a:sym typeface="+mn-ea"/>
              </a:rPr>
              <a:t>提取</a:t>
            </a:r>
            <a:endParaRPr lang="zh-CN" altLang="en-US" sz="2400" b="1" dirty="0">
              <a:solidFill>
                <a:srgbClr val="00489D"/>
              </a:solidFill>
              <a:latin typeface="微软雅黑" charset="-122"/>
              <a:ea typeface="微软雅黑" charset="-122"/>
              <a:sym typeface="+mn-ea"/>
            </a:endParaRPr>
          </a:p>
        </p:txBody>
      </p:sp>
      <p:sp>
        <p:nvSpPr>
          <p:cNvPr id="5" name="矩形 14"/>
          <p:cNvSpPr>
            <a:spLocks noChangeArrowheads="1"/>
          </p:cNvSpPr>
          <p:nvPr/>
        </p:nvSpPr>
        <p:spPr bwMode="auto">
          <a:xfrm>
            <a:off x="10434444" y="3912599"/>
            <a:ext cx="14046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2400" b="1" dirty="0">
                <a:solidFill>
                  <a:srgbClr val="00489D"/>
                </a:solidFill>
                <a:latin typeface="微软雅黑" charset="-122"/>
                <a:ea typeface="微软雅黑" charset="-122"/>
                <a:sym typeface="+mn-ea"/>
              </a:rPr>
              <a:t>后续</a:t>
            </a:r>
            <a:r>
              <a:rPr lang="zh-CN" altLang="en-US" sz="2400" b="1" dirty="0">
                <a:solidFill>
                  <a:srgbClr val="00489D"/>
                </a:solidFill>
                <a:latin typeface="微软雅黑" charset="-122"/>
                <a:ea typeface="微软雅黑" charset="-122"/>
                <a:sym typeface="+mn-ea"/>
              </a:rPr>
              <a:t>计划</a:t>
            </a:r>
            <a:endParaRPr lang="zh-CN" altLang="en-US" sz="2400" b="1" dirty="0">
              <a:solidFill>
                <a:srgbClr val="00489D"/>
              </a:solidFill>
              <a:latin typeface="微软雅黑" charset="-122"/>
              <a:ea typeface="微软雅黑" charset="-122"/>
              <a:sym typeface="+mn-ea"/>
            </a:endParaRPr>
          </a:p>
        </p:txBody>
      </p:sp>
      <p:grpSp>
        <p:nvGrpSpPr>
          <p:cNvPr id="6" name="组合 12"/>
          <p:cNvGrpSpPr/>
          <p:nvPr/>
        </p:nvGrpSpPr>
        <p:grpSpPr bwMode="auto">
          <a:xfrm>
            <a:off x="9255818" y="3679716"/>
            <a:ext cx="1176867" cy="829739"/>
            <a:chOff x="2395" y="3922"/>
            <a:chExt cx="1389" cy="1307"/>
          </a:xfrm>
        </p:grpSpPr>
        <p:sp>
          <p:nvSpPr>
            <p:cNvPr id="7" name="文本框 13"/>
            <p:cNvSpPr txBox="1">
              <a:spLocks noChangeArrowheads="1"/>
            </p:cNvSpPr>
            <p:nvPr/>
          </p:nvSpPr>
          <p:spPr bwMode="auto">
            <a:xfrm>
              <a:off x="2395" y="3922"/>
              <a:ext cx="1114" cy="1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4800">
                  <a:solidFill>
                    <a:srgbClr val="8497B0"/>
                  </a:solidFill>
                  <a:latin typeface="微软雅黑" charset="-122"/>
                  <a:ea typeface="微软雅黑" charset="-122"/>
                </a:rPr>
                <a:t>05</a:t>
              </a:r>
              <a:endParaRPr lang="en-US" altLang="zh-CN" sz="4800">
                <a:solidFill>
                  <a:srgbClr val="8497B0"/>
                </a:solidFill>
                <a:latin typeface="微软雅黑" charset="-122"/>
                <a:ea typeface="微软雅黑" charset="-122"/>
              </a:endParaRPr>
            </a:p>
          </p:txBody>
        </p:sp>
        <p:cxnSp>
          <p:nvCxnSpPr>
            <p:cNvPr id="8" name="直接连接符 7"/>
            <p:cNvCxnSpPr/>
            <p:nvPr/>
          </p:nvCxnSpPr>
          <p:spPr>
            <a:xfrm>
              <a:off x="3784" y="4065"/>
              <a:ext cx="0" cy="1020"/>
            </a:xfrm>
            <a:prstGeom prst="line">
              <a:avLst/>
            </a:prstGeom>
            <a:ln>
              <a:solidFill>
                <a:srgbClr val="8497B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alphaModFix amt="62000"/>
          </a:blip>
          <a:stretch>
            <a:fillRect/>
          </a:stretch>
        </p:blipFill>
        <p:spPr>
          <a:xfrm>
            <a:off x="5652285" y="965046"/>
            <a:ext cx="7312635" cy="4724864"/>
          </a:xfrm>
          <a:prstGeom prst="rect">
            <a:avLst/>
          </a:prstGeom>
          <a:effectLst>
            <a:softEdge rad="1270000"/>
          </a:effectLst>
        </p:spPr>
      </p:pic>
      <p:sp>
        <p:nvSpPr>
          <p:cNvPr id="68615" name="矩形 14"/>
          <p:cNvSpPr>
            <a:spLocks noChangeArrowheads="1"/>
          </p:cNvSpPr>
          <p:nvPr/>
        </p:nvSpPr>
        <p:spPr bwMode="auto">
          <a:xfrm>
            <a:off x="2064549" y="977493"/>
            <a:ext cx="445452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4800" b="1" dirty="0">
                <a:solidFill>
                  <a:srgbClr val="00489D"/>
                </a:solidFill>
                <a:latin typeface="微软雅黑" charset="-122"/>
                <a:ea typeface="微软雅黑" charset="-122"/>
                <a:sym typeface="+mn-ea"/>
              </a:rPr>
              <a:t>文献自动化</a:t>
            </a:r>
            <a:r>
              <a:rPr lang="zh-CN" altLang="en-US" sz="4800" b="1" dirty="0">
                <a:solidFill>
                  <a:srgbClr val="00489D"/>
                </a:solidFill>
                <a:latin typeface="微软雅黑" charset="-122"/>
                <a:ea typeface="微软雅黑" charset="-122"/>
                <a:sym typeface="+mn-ea"/>
              </a:rPr>
              <a:t>获取</a:t>
            </a:r>
            <a:endParaRPr lang="zh-CN" altLang="en-US" sz="4800" b="1" dirty="0">
              <a:solidFill>
                <a:srgbClr val="00489D"/>
              </a:solidFill>
              <a:latin typeface="微软雅黑" charset="-122"/>
              <a:ea typeface="微软雅黑" charset="-122"/>
              <a:sym typeface="+mn-ea"/>
            </a:endParaRPr>
          </a:p>
        </p:txBody>
      </p:sp>
      <p:grpSp>
        <p:nvGrpSpPr>
          <p:cNvPr id="68616" name="组合 12"/>
          <p:cNvGrpSpPr/>
          <p:nvPr/>
        </p:nvGrpSpPr>
        <p:grpSpPr bwMode="auto">
          <a:xfrm>
            <a:off x="535135" y="731169"/>
            <a:ext cx="1386992" cy="1323647"/>
            <a:chOff x="2147" y="3559"/>
            <a:chExt cx="1637" cy="2085"/>
          </a:xfrm>
        </p:grpSpPr>
        <p:sp>
          <p:nvSpPr>
            <p:cNvPr id="68622" name="文本框 13"/>
            <p:cNvSpPr txBox="1">
              <a:spLocks noChangeArrowheads="1"/>
            </p:cNvSpPr>
            <p:nvPr/>
          </p:nvSpPr>
          <p:spPr bwMode="auto">
            <a:xfrm>
              <a:off x="2147" y="3559"/>
              <a:ext cx="1637" cy="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8000" dirty="0">
                  <a:solidFill>
                    <a:srgbClr val="8497B0"/>
                  </a:solidFill>
                  <a:latin typeface="微软雅黑" charset="-122"/>
                  <a:ea typeface="微软雅黑" charset="-122"/>
                </a:rPr>
                <a:t>01</a:t>
              </a:r>
              <a:endParaRPr lang="en-US" altLang="zh-CN" sz="8000" dirty="0">
                <a:solidFill>
                  <a:srgbClr val="8497B0"/>
                </a:solidFill>
                <a:latin typeface="微软雅黑" charset="-122"/>
                <a:ea typeface="微软雅黑" charset="-122"/>
              </a:endParaRPr>
            </a:p>
          </p:txBody>
        </p:sp>
        <p:cxnSp>
          <p:nvCxnSpPr>
            <p:cNvPr id="22" name="直接连接符 21"/>
            <p:cNvCxnSpPr/>
            <p:nvPr/>
          </p:nvCxnSpPr>
          <p:spPr>
            <a:xfrm>
              <a:off x="3784" y="3559"/>
              <a:ext cx="0" cy="1954"/>
            </a:xfrm>
            <a:prstGeom prst="line">
              <a:avLst/>
            </a:prstGeom>
            <a:ln w="63500">
              <a:solidFill>
                <a:srgbClr val="8497B0"/>
              </a:solidFill>
            </a:ln>
          </p:spPr>
          <p:style>
            <a:lnRef idx="1">
              <a:schemeClr val="accent1"/>
            </a:lnRef>
            <a:fillRef idx="0">
              <a:schemeClr val="accent1"/>
            </a:fillRef>
            <a:effectRef idx="0">
              <a:schemeClr val="accent1"/>
            </a:effectRef>
            <a:fontRef idx="minor">
              <a:schemeClr val="tx1"/>
            </a:fontRef>
          </p:style>
        </p:cxnSp>
      </p:grpSp>
      <p:pic>
        <p:nvPicPr>
          <p:cNvPr id="27" name="Picture 3" descr="C:\Users\wangxin51\Desktop\未标题-5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0791" y="-48987"/>
            <a:ext cx="3025392" cy="170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组合 7"/>
          <p:cNvGrpSpPr/>
          <p:nvPr/>
        </p:nvGrpSpPr>
        <p:grpSpPr bwMode="auto">
          <a:xfrm>
            <a:off x="3073400" y="6181183"/>
            <a:ext cx="5059363" cy="339725"/>
            <a:chOff x="3128248" y="3176495"/>
            <a:chExt cx="6746291" cy="453608"/>
          </a:xfrm>
        </p:grpSpPr>
        <p:sp>
          <p:nvSpPr>
            <p:cNvPr id="29" name="TextBox 8"/>
            <p:cNvSpPr txBox="1">
              <a:spLocks noChangeArrowheads="1"/>
            </p:cNvSpPr>
            <p:nvPr/>
          </p:nvSpPr>
          <p:spPr bwMode="auto">
            <a:xfrm>
              <a:off x="4900023" y="3178614"/>
              <a:ext cx="4974516" cy="451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eaLnBrk="1" hangingPunct="1">
                <a:defRPr/>
              </a:pPr>
              <a:r>
                <a:rPr lang="en-US" altLang="zh-CN" sz="1600" dirty="0">
                  <a:solidFill>
                    <a:srgbClr val="595959"/>
                  </a:solidFill>
                  <a:latin typeface="微软雅黑" charset="-122"/>
                  <a:ea typeface="微软雅黑" charset="-122"/>
                </a:rPr>
                <a:t>INNOVATION CREATES EXCELLENCE</a:t>
              </a:r>
              <a:endParaRPr lang="bg-BG" altLang="zh-CN" sz="1600" dirty="0">
                <a:solidFill>
                  <a:srgbClr val="595959"/>
                </a:solidFill>
                <a:latin typeface="微软雅黑" charset="-122"/>
                <a:ea typeface="微软雅黑" charset="-122"/>
              </a:endParaRPr>
            </a:p>
          </p:txBody>
        </p:sp>
        <p:sp>
          <p:nvSpPr>
            <p:cNvPr id="35" name="TextBox 9"/>
            <p:cNvSpPr txBox="1">
              <a:spLocks noChangeArrowheads="1"/>
            </p:cNvSpPr>
            <p:nvPr/>
          </p:nvSpPr>
          <p:spPr bwMode="auto">
            <a:xfrm>
              <a:off x="3128248" y="3176495"/>
              <a:ext cx="1784476" cy="43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algn="dist" eaLnBrk="1" hangingPunct="1">
                <a:defRPr/>
              </a:pPr>
              <a:r>
                <a:rPr lang="zh-CN" altLang="en-US" sz="1500">
                  <a:solidFill>
                    <a:srgbClr val="00489D"/>
                  </a:solidFill>
                  <a:latin typeface="微软雅黑" charset="-122"/>
                  <a:ea typeface="微软雅黑" charset="-122"/>
                </a:rPr>
                <a:t>创新成就卓越</a:t>
              </a:r>
              <a:endParaRPr lang="bg-BG" altLang="zh-CN" sz="1500">
                <a:solidFill>
                  <a:srgbClr val="7F7F7F"/>
                </a:solidFill>
                <a:latin typeface="微软雅黑" charset="-122"/>
                <a:ea typeface="微软雅黑" charset="-122"/>
              </a:endParaRPr>
            </a:p>
          </p:txBody>
        </p:sp>
      </p:grpSp>
      <p:pic>
        <p:nvPicPr>
          <p:cNvPr id="32" name="Picture 2" descr="C:\Users\wangxin51\Desktop\未标题-3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3572287"/>
            <a:ext cx="12192001" cy="4235247"/>
          </a:xfrm>
          <a:prstGeom prst="rect">
            <a:avLst/>
          </a:prstGeom>
          <a:noFill/>
          <a:ln>
            <a:noFill/>
          </a:ln>
          <a:effectLst>
            <a:glow rad="635000">
              <a:schemeClr val="accent1">
                <a:satMod val="175000"/>
                <a:alpha val="20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p:cNvPicPr>
            <a:picLocks noChangeAspect="1"/>
          </p:cNvPicPr>
          <p:nvPr/>
        </p:nvPicPr>
        <p:blipFill>
          <a:blip r:embed="rId4"/>
          <a:stretch>
            <a:fillRect/>
          </a:stretch>
        </p:blipFill>
        <p:spPr>
          <a:xfrm>
            <a:off x="261143" y="1811325"/>
            <a:ext cx="6962775" cy="4152900"/>
          </a:xfrm>
          <a:prstGeom prst="rect">
            <a:avLst/>
          </a:prstGeom>
          <a:effectLst>
            <a:softEdge rad="12700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3"/>
          </p:nvPr>
        </p:nvSpPr>
        <p:spPr/>
        <p:txBody>
          <a:bodyPr/>
          <a:lstStyle/>
          <a:p>
            <a:r>
              <a:rPr lang="en-US" altLang="zh-CN" dirty="0"/>
              <a:t>01 </a:t>
            </a:r>
            <a:r>
              <a:rPr lang="zh-CN" altLang="en-US" sz="2400" b="1" dirty="0">
                <a:solidFill>
                  <a:srgbClr val="00489D"/>
                </a:solidFill>
                <a:latin typeface="微软雅黑" charset="-122"/>
                <a:ea typeface="微软雅黑" charset="-122"/>
                <a:sym typeface="+mn-ea"/>
              </a:rPr>
              <a:t>文献自动化</a:t>
            </a:r>
            <a:r>
              <a:rPr lang="zh-CN" altLang="en-US" sz="2400" b="1" dirty="0">
                <a:solidFill>
                  <a:srgbClr val="00489D"/>
                </a:solidFill>
                <a:latin typeface="微软雅黑" charset="-122"/>
                <a:ea typeface="微软雅黑" charset="-122"/>
                <a:sym typeface="+mn-ea"/>
              </a:rPr>
              <a:t>获取</a:t>
            </a:r>
            <a:endParaRPr lang="zh-CN" altLang="en-US" sz="2400" b="1" dirty="0">
              <a:solidFill>
                <a:srgbClr val="00489D"/>
              </a:solidFill>
              <a:latin typeface="微软雅黑" charset="-122"/>
              <a:ea typeface="微软雅黑" charset="-122"/>
              <a:sym typeface="+mn-ea"/>
            </a:endParaRPr>
          </a:p>
          <a:p>
            <a:endParaRPr lang="zh-CN" altLang="en-US" sz="2400" b="1" dirty="0">
              <a:solidFill>
                <a:srgbClr val="00489D"/>
              </a:solidFill>
              <a:latin typeface="微软雅黑" charset="-122"/>
              <a:ea typeface="微软雅黑" charset="-122"/>
              <a:sym typeface="+mn-ea"/>
            </a:endParaRPr>
          </a:p>
        </p:txBody>
      </p:sp>
      <p:sp>
        <p:nvSpPr>
          <p:cNvPr id="44" name="矩形 43"/>
          <p:cNvSpPr/>
          <p:nvPr/>
        </p:nvSpPr>
        <p:spPr>
          <a:xfrm rot="19080000">
            <a:off x="3813175" y="5009515"/>
            <a:ext cx="493395" cy="16256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5" name="矩形 44"/>
          <p:cNvSpPr/>
          <p:nvPr/>
        </p:nvSpPr>
        <p:spPr>
          <a:xfrm rot="19080000">
            <a:off x="4507865" y="4368800"/>
            <a:ext cx="495300" cy="16002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文本框 40"/>
          <p:cNvSpPr txBox="1"/>
          <p:nvPr/>
        </p:nvSpPr>
        <p:spPr>
          <a:xfrm>
            <a:off x="1181295" y="731470"/>
            <a:ext cx="4683832"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获取</a:t>
            </a:r>
            <a:r>
              <a:rPr lang="en-US" altLang="zh-CN" sz="2000" b="1" dirty="0">
                <a:latin typeface="黑体" panose="02010609060101010101" pitchFamily="49" charset="-122"/>
                <a:ea typeface="黑体" panose="02010609060101010101" pitchFamily="49" charset="-122"/>
              </a:rPr>
              <a:t>LFP</a:t>
            </a:r>
            <a:r>
              <a:rPr lang="zh-CN" altLang="en-US" sz="2000" b="1" dirty="0">
                <a:latin typeface="黑体" panose="02010609060101010101" pitchFamily="49" charset="-122"/>
                <a:ea typeface="黑体" panose="02010609060101010101" pitchFamily="49" charset="-122"/>
              </a:rPr>
              <a:t>相关</a:t>
            </a:r>
            <a:r>
              <a:rPr lang="zh-CN" altLang="en-US" sz="2000" b="1" dirty="0">
                <a:latin typeface="黑体" panose="02010609060101010101" pitchFamily="49" charset="-122"/>
                <a:ea typeface="黑体" panose="02010609060101010101" pitchFamily="49" charset="-122"/>
              </a:rPr>
              <a:t>文献</a:t>
            </a:r>
            <a:endParaRPr lang="zh-CN" altLang="en-US" sz="2000" b="1" dirty="0">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3560445" y="2475230"/>
            <a:ext cx="2065655" cy="929640"/>
          </a:xfrm>
          <a:prstGeom prst="rect">
            <a:avLst/>
          </a:prstGeom>
        </p:spPr>
      </p:pic>
      <p:pic>
        <p:nvPicPr>
          <p:cNvPr id="6" name="图片 5"/>
          <p:cNvPicPr>
            <a:picLocks noChangeAspect="1"/>
          </p:cNvPicPr>
          <p:nvPr/>
        </p:nvPicPr>
        <p:blipFill>
          <a:blip r:embed="rId2"/>
          <a:srcRect r="902"/>
          <a:stretch>
            <a:fillRect/>
          </a:stretch>
        </p:blipFill>
        <p:spPr>
          <a:xfrm>
            <a:off x="241935" y="1425575"/>
            <a:ext cx="2571750" cy="1424940"/>
          </a:xfrm>
          <a:prstGeom prst="rect">
            <a:avLst/>
          </a:prstGeom>
        </p:spPr>
      </p:pic>
      <p:pic>
        <p:nvPicPr>
          <p:cNvPr id="7" name="图片 6"/>
          <p:cNvPicPr>
            <a:picLocks noChangeAspect="1"/>
          </p:cNvPicPr>
          <p:nvPr/>
        </p:nvPicPr>
        <p:blipFill>
          <a:blip r:embed="rId3"/>
          <a:stretch>
            <a:fillRect/>
          </a:stretch>
        </p:blipFill>
        <p:spPr>
          <a:xfrm>
            <a:off x="377825" y="2543175"/>
            <a:ext cx="2299970" cy="665480"/>
          </a:xfrm>
          <a:prstGeom prst="rect">
            <a:avLst/>
          </a:prstGeom>
        </p:spPr>
      </p:pic>
      <p:pic>
        <p:nvPicPr>
          <p:cNvPr id="10" name="图片 9"/>
          <p:cNvPicPr>
            <a:picLocks noChangeAspect="1"/>
          </p:cNvPicPr>
          <p:nvPr/>
        </p:nvPicPr>
        <p:blipFill>
          <a:blip r:embed="rId4"/>
          <a:stretch>
            <a:fillRect/>
          </a:stretch>
        </p:blipFill>
        <p:spPr>
          <a:xfrm>
            <a:off x="3120390" y="1584960"/>
            <a:ext cx="2744470" cy="810895"/>
          </a:xfrm>
          <a:prstGeom prst="rect">
            <a:avLst/>
          </a:prstGeom>
        </p:spPr>
      </p:pic>
      <p:pic>
        <p:nvPicPr>
          <p:cNvPr id="11" name="图片 10"/>
          <p:cNvPicPr>
            <a:picLocks noChangeAspect="1"/>
          </p:cNvPicPr>
          <p:nvPr/>
        </p:nvPicPr>
        <p:blipFill>
          <a:blip r:embed="rId5"/>
          <a:stretch>
            <a:fillRect/>
          </a:stretch>
        </p:blipFill>
        <p:spPr>
          <a:xfrm>
            <a:off x="837565" y="3404870"/>
            <a:ext cx="1543050" cy="1558290"/>
          </a:xfrm>
          <a:prstGeom prst="rect">
            <a:avLst/>
          </a:prstGeom>
        </p:spPr>
      </p:pic>
      <p:pic>
        <p:nvPicPr>
          <p:cNvPr id="5" name="图片 4"/>
          <p:cNvPicPr>
            <a:picLocks noChangeAspect="1"/>
          </p:cNvPicPr>
          <p:nvPr/>
        </p:nvPicPr>
        <p:blipFill>
          <a:blip r:embed="rId6"/>
          <a:stretch>
            <a:fillRect/>
          </a:stretch>
        </p:blipFill>
        <p:spPr>
          <a:xfrm>
            <a:off x="3120390" y="3578225"/>
            <a:ext cx="2637155" cy="1221105"/>
          </a:xfrm>
          <a:prstGeom prst="rect">
            <a:avLst/>
          </a:prstGeom>
        </p:spPr>
      </p:pic>
      <p:pic>
        <p:nvPicPr>
          <p:cNvPr id="8" name="图片 7"/>
          <p:cNvPicPr>
            <a:picLocks noChangeAspect="1"/>
          </p:cNvPicPr>
          <p:nvPr/>
        </p:nvPicPr>
        <p:blipFill>
          <a:blip r:embed="rId7"/>
          <a:stretch>
            <a:fillRect/>
          </a:stretch>
        </p:blipFill>
        <p:spPr>
          <a:xfrm>
            <a:off x="2062480" y="4815205"/>
            <a:ext cx="1683385" cy="1692910"/>
          </a:xfrm>
          <a:prstGeom prst="rect">
            <a:avLst/>
          </a:prstGeom>
        </p:spPr>
      </p:pic>
      <p:pic>
        <p:nvPicPr>
          <p:cNvPr id="13" name="图片 12" descr="思路"/>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30415" y="3325495"/>
            <a:ext cx="914400" cy="914400"/>
          </a:xfrm>
          <a:prstGeom prst="rect">
            <a:avLst/>
          </a:prstGeom>
        </p:spPr>
      </p:pic>
      <p:sp>
        <p:nvSpPr>
          <p:cNvPr id="14" name="圆角矩形 13"/>
          <p:cNvSpPr/>
          <p:nvPr/>
        </p:nvSpPr>
        <p:spPr>
          <a:xfrm>
            <a:off x="62230" y="1223010"/>
            <a:ext cx="5862955" cy="5370830"/>
          </a:xfrm>
          <a:prstGeom prst="roundRect">
            <a:avLst/>
          </a:prstGeom>
          <a:noFill/>
          <a:ln w="19050">
            <a:solidFill>
              <a:srgbClr val="00489D"/>
            </a:solidFill>
            <a:prstDash val="dashDot"/>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5" name="直接箭头连接符 14"/>
          <p:cNvCxnSpPr>
            <a:stCxn id="14" idx="3"/>
          </p:cNvCxnSpPr>
          <p:nvPr/>
        </p:nvCxnSpPr>
        <p:spPr>
          <a:xfrm>
            <a:off x="5925185" y="3908425"/>
            <a:ext cx="844550" cy="0"/>
          </a:xfrm>
          <a:prstGeom prst="straightConnector1">
            <a:avLst/>
          </a:prstGeom>
          <a:ln w="19050">
            <a:solidFill>
              <a:srgbClr val="00489D"/>
            </a:solidFill>
            <a:prstDash val="dashDot"/>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7012208" y="4305693"/>
            <a:ext cx="1812758" cy="645160"/>
          </a:xfrm>
          <a:prstGeom prst="rect">
            <a:avLst/>
          </a:prstGeom>
          <a:noFill/>
        </p:spPr>
        <p:txBody>
          <a:bodyPr wrap="square" rtlCol="0">
            <a:spAutoFit/>
          </a:bodyPr>
          <a:p>
            <a:r>
              <a:rPr kumimoji="1" lang="zh-CN" altLang="en-US" dirty="0"/>
              <a:t>爬虫</a:t>
            </a:r>
            <a:r>
              <a:rPr kumimoji="1" lang="zh-CN" altLang="en-US" dirty="0"/>
              <a:t>脚本</a:t>
            </a:r>
            <a:endParaRPr kumimoji="1" lang="zh-CN" altLang="en-US" dirty="0"/>
          </a:p>
          <a:p>
            <a:endParaRPr kumimoji="1" lang="zh-CN" altLang="en-US" dirty="0"/>
          </a:p>
        </p:txBody>
      </p:sp>
      <p:cxnSp>
        <p:nvCxnSpPr>
          <p:cNvPr id="17" name="直接箭头连接符 16"/>
          <p:cNvCxnSpPr/>
          <p:nvPr/>
        </p:nvCxnSpPr>
        <p:spPr>
          <a:xfrm>
            <a:off x="8405495" y="3908425"/>
            <a:ext cx="844550" cy="0"/>
          </a:xfrm>
          <a:prstGeom prst="straightConnector1">
            <a:avLst/>
          </a:prstGeom>
          <a:ln w="19050">
            <a:solidFill>
              <a:srgbClr val="00489D"/>
            </a:solidFill>
            <a:prstDash val="dashDot"/>
            <a:tailEnd type="arrow"/>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9610725" y="3578225"/>
            <a:ext cx="2572385" cy="645160"/>
          </a:xfrm>
          <a:prstGeom prst="rect">
            <a:avLst/>
          </a:prstGeom>
          <a:noFill/>
        </p:spPr>
        <p:txBody>
          <a:bodyPr wrap="square" rtlCol="0">
            <a:spAutoFit/>
          </a:bodyPr>
          <a:p>
            <a:pPr algn="ctr"/>
            <a:r>
              <a:rPr kumimoji="1" lang="zh-CN" altLang="en-US" dirty="0"/>
              <a:t>下载英文文献</a:t>
            </a:r>
            <a:r>
              <a:rPr kumimoji="1" lang="en-US" altLang="zh-CN" dirty="0"/>
              <a:t>15820</a:t>
            </a:r>
            <a:r>
              <a:rPr kumimoji="1" lang="zh-CN" altLang="en-US" dirty="0"/>
              <a:t>篇</a:t>
            </a:r>
            <a:r>
              <a:rPr kumimoji="1" lang="en-US" altLang="zh-CN" dirty="0"/>
              <a:t>，</a:t>
            </a:r>
            <a:r>
              <a:rPr kumimoji="1" lang="zh-CN" altLang="en-US" dirty="0"/>
              <a:t>中文文献</a:t>
            </a:r>
            <a:r>
              <a:rPr kumimoji="1" lang="en-US" altLang="zh-CN" dirty="0"/>
              <a:t>1914</a:t>
            </a:r>
            <a:r>
              <a:rPr kumimoji="1" lang="zh-CN" altLang="en-US" dirty="0"/>
              <a:t>篇</a:t>
            </a:r>
            <a:r>
              <a:rPr kumimoji="1" lang="en-US" altLang="zh-CN" dirty="0"/>
              <a:t>。</a:t>
            </a:r>
            <a:endParaRPr kumimoji="1" lang="en-US" altLang="zh-CN" dirty="0"/>
          </a:p>
        </p:txBody>
      </p:sp>
      <p:sp>
        <p:nvSpPr>
          <p:cNvPr id="19" name="文本框 18"/>
          <p:cNvSpPr txBox="1"/>
          <p:nvPr/>
        </p:nvSpPr>
        <p:spPr>
          <a:xfrm>
            <a:off x="5925185" y="4625658"/>
            <a:ext cx="5080000" cy="337185"/>
          </a:xfrm>
          <a:prstGeom prst="rect">
            <a:avLst/>
          </a:prstGeom>
        </p:spPr>
        <p:txBody>
          <a:bodyPr>
            <a:spAutoFit/>
          </a:bodyPr>
          <a:p>
            <a:pPr marL="0" indent="0" algn="l"/>
            <a:r>
              <a:rPr lang="en-US" altLang="zh-CN" sz="1600" b="0" i="0">
                <a:latin typeface="Ubuntu"/>
                <a:ea typeface="Ubuntu"/>
              </a:rPr>
              <a:t> </a:t>
            </a:r>
            <a:r>
              <a:rPr lang="zh-CN" altLang="en-US" sz="1600" b="0" i="0">
                <a:latin typeface="Ubuntu"/>
                <a:ea typeface="Ubuntu"/>
              </a:rPr>
              <a:t> </a:t>
            </a:r>
            <a:r>
              <a:rPr lang="en-US" altLang="zh-CN" sz="1600" b="0" i="0">
                <a:latin typeface="Ubuntu"/>
                <a:ea typeface="Ubuntu"/>
              </a:rPr>
              <a:t>Python + Playwright + Headless</a:t>
            </a:r>
            <a:r>
              <a:rPr lang="zh-CN" altLang="en-US" sz="1600" b="0" i="0">
                <a:latin typeface="Ubuntu"/>
                <a:ea typeface="Ubuntu"/>
              </a:rPr>
              <a:t>浏览器控制</a:t>
            </a:r>
            <a:endParaRPr lang="zh-CN" altLang="en-US" sz="1600" b="0" i="0">
              <a:latin typeface="Ubuntu"/>
              <a:ea typeface="Ubuntu"/>
            </a:endParaRPr>
          </a:p>
        </p:txBody>
      </p:sp>
      <p:sp>
        <p:nvSpPr>
          <p:cNvPr id="20" name="文本框 19"/>
          <p:cNvSpPr txBox="1"/>
          <p:nvPr/>
        </p:nvSpPr>
        <p:spPr>
          <a:xfrm>
            <a:off x="6061075" y="5017135"/>
            <a:ext cx="5080000" cy="1198880"/>
          </a:xfrm>
          <a:prstGeom prst="rect">
            <a:avLst/>
          </a:prstGeom>
        </p:spPr>
        <p:txBody>
          <a:bodyPr>
            <a:spAutoFit/>
          </a:bodyPr>
          <a:p>
            <a:pPr marL="0" indent="0" algn="l"/>
            <a:r>
              <a:rPr lang="en-US" altLang="zh-CN" b="0" i="0">
                <a:latin typeface="Ubuntu"/>
                <a:ea typeface="Ubuntu"/>
              </a:rPr>
              <a:t>✅ </a:t>
            </a:r>
            <a:r>
              <a:rPr lang="zh-CN" altLang="en-US" b="0" i="0">
                <a:latin typeface="Ubuntu"/>
                <a:ea typeface="Ubuntu"/>
              </a:rPr>
              <a:t>自动化登录校园图书馆系统 </a:t>
            </a:r>
            <a:endParaRPr lang="zh-CN" altLang="en-US" b="0" i="0">
              <a:latin typeface="Ubuntu"/>
              <a:ea typeface="Ubuntu"/>
            </a:endParaRPr>
          </a:p>
          <a:p>
            <a:pPr marL="0" indent="0" algn="l"/>
            <a:r>
              <a:rPr lang="en-US" altLang="zh-CN">
                <a:latin typeface="Ubuntu"/>
                <a:ea typeface="Ubuntu"/>
                <a:sym typeface="+mn-ea"/>
              </a:rPr>
              <a:t>✅ </a:t>
            </a:r>
            <a:r>
              <a:rPr lang="zh-CN" altLang="en-US">
                <a:latin typeface="Ubuntu"/>
                <a:ea typeface="Ubuntu"/>
                <a:sym typeface="+mn-ea"/>
              </a:rPr>
              <a:t>跨浏览器支持</a:t>
            </a:r>
            <a:endParaRPr lang="en-US" altLang="zh-CN" b="0" i="0">
              <a:latin typeface="Ubuntu"/>
              <a:ea typeface="Ubuntu"/>
            </a:endParaRPr>
          </a:p>
          <a:p>
            <a:pPr marL="0" indent="0" algn="l"/>
            <a:r>
              <a:rPr lang="en-US" altLang="zh-CN" b="0" i="0">
                <a:latin typeface="Ubuntu"/>
                <a:ea typeface="Ubuntu"/>
              </a:rPr>
              <a:t>✅ </a:t>
            </a:r>
            <a:r>
              <a:rPr lang="zh-CN" altLang="en-US" b="0" i="0">
                <a:latin typeface="Ubuntu"/>
                <a:ea typeface="Ubuntu"/>
              </a:rPr>
              <a:t>检索词、下载数量精确控制</a:t>
            </a:r>
            <a:endParaRPr lang="zh-CN" altLang="en-US" b="0" i="0">
              <a:latin typeface="Ubuntu"/>
              <a:ea typeface="Ubuntu"/>
            </a:endParaRPr>
          </a:p>
          <a:p>
            <a:pPr marL="0" indent="0" algn="l"/>
            <a:r>
              <a:rPr lang="en-US" altLang="zh-CN">
                <a:latin typeface="Ubuntu"/>
                <a:ea typeface="Ubuntu"/>
                <a:sym typeface="+mn-ea"/>
              </a:rPr>
              <a:t>✅ </a:t>
            </a:r>
            <a:r>
              <a:rPr lang="zh-CN" altLang="en-US">
                <a:latin typeface="Ubuntu"/>
                <a:ea typeface="Ubuntu"/>
                <a:sym typeface="+mn-ea"/>
              </a:rPr>
              <a:t>防反爬机制</a:t>
            </a:r>
            <a:endParaRPr lang="zh-CN" altLang="en-US">
              <a:latin typeface="Ubuntu"/>
              <a:ea typeface="Ubuntu"/>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
          <a:srcRect b="31340"/>
          <a:stretch>
            <a:fillRect/>
          </a:stretch>
        </p:blipFill>
        <p:spPr>
          <a:xfrm rot="296489">
            <a:off x="6302068" y="1715202"/>
            <a:ext cx="4953000" cy="3427596"/>
          </a:xfrm>
          <a:prstGeom prst="rect">
            <a:avLst/>
          </a:prstGeom>
          <a:effectLst>
            <a:softEdge rad="1270000"/>
          </a:effectLst>
        </p:spPr>
      </p:pic>
      <p:pic>
        <p:nvPicPr>
          <p:cNvPr id="3" name="图片 2"/>
          <p:cNvPicPr>
            <a:picLocks noChangeAspect="1"/>
          </p:cNvPicPr>
          <p:nvPr/>
        </p:nvPicPr>
        <p:blipFill>
          <a:blip r:embed="rId2"/>
          <a:stretch>
            <a:fillRect/>
          </a:stretch>
        </p:blipFill>
        <p:spPr>
          <a:xfrm rot="339004">
            <a:off x="-47653" y="2083912"/>
            <a:ext cx="4772511" cy="4244811"/>
          </a:xfrm>
          <a:prstGeom prst="rect">
            <a:avLst/>
          </a:prstGeom>
          <a:effectLst>
            <a:softEdge rad="1270000"/>
          </a:effectLst>
        </p:spPr>
      </p:pic>
      <p:sp>
        <p:nvSpPr>
          <p:cNvPr id="68615" name="矩形 14"/>
          <p:cNvSpPr>
            <a:spLocks noChangeArrowheads="1"/>
          </p:cNvSpPr>
          <p:nvPr/>
        </p:nvSpPr>
        <p:spPr bwMode="auto">
          <a:xfrm>
            <a:off x="2064549" y="977493"/>
            <a:ext cx="445452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4800" b="1" dirty="0">
                <a:solidFill>
                  <a:srgbClr val="00489D"/>
                </a:solidFill>
                <a:latin typeface="微软雅黑" charset="-122"/>
                <a:ea typeface="微软雅黑" charset="-122"/>
                <a:sym typeface="+mn-ea"/>
              </a:rPr>
              <a:t>结构化信息</a:t>
            </a:r>
            <a:r>
              <a:rPr lang="zh-CN" altLang="en-US" sz="4800" b="1" dirty="0">
                <a:solidFill>
                  <a:srgbClr val="00489D"/>
                </a:solidFill>
                <a:latin typeface="微软雅黑" charset="-122"/>
                <a:ea typeface="微软雅黑" charset="-122"/>
                <a:sym typeface="+mn-ea"/>
              </a:rPr>
              <a:t>提取</a:t>
            </a:r>
            <a:endParaRPr lang="zh-CN" altLang="en-US" sz="4800" b="1" dirty="0">
              <a:solidFill>
                <a:srgbClr val="00489D"/>
              </a:solidFill>
              <a:latin typeface="微软雅黑" charset="-122"/>
              <a:ea typeface="微软雅黑" charset="-122"/>
              <a:sym typeface="+mn-ea"/>
            </a:endParaRPr>
          </a:p>
        </p:txBody>
      </p:sp>
      <p:grpSp>
        <p:nvGrpSpPr>
          <p:cNvPr id="68616" name="组合 12"/>
          <p:cNvGrpSpPr/>
          <p:nvPr/>
        </p:nvGrpSpPr>
        <p:grpSpPr bwMode="auto">
          <a:xfrm>
            <a:off x="535135" y="731169"/>
            <a:ext cx="1450538" cy="1322377"/>
            <a:chOff x="2147" y="3559"/>
            <a:chExt cx="1712" cy="2083"/>
          </a:xfrm>
        </p:grpSpPr>
        <p:sp>
          <p:nvSpPr>
            <p:cNvPr id="68622" name="文本框 13"/>
            <p:cNvSpPr txBox="1">
              <a:spLocks noChangeArrowheads="1"/>
            </p:cNvSpPr>
            <p:nvPr/>
          </p:nvSpPr>
          <p:spPr bwMode="auto">
            <a:xfrm>
              <a:off x="2147" y="3559"/>
              <a:ext cx="1712" cy="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8000" dirty="0">
                  <a:solidFill>
                    <a:srgbClr val="8497B0"/>
                  </a:solidFill>
                  <a:latin typeface="微软雅黑" charset="-122"/>
                  <a:ea typeface="微软雅黑" charset="-122"/>
                </a:rPr>
                <a:t>02</a:t>
              </a:r>
              <a:endParaRPr lang="en-US" altLang="zh-CN" sz="8000" dirty="0">
                <a:solidFill>
                  <a:srgbClr val="8497B0"/>
                </a:solidFill>
                <a:latin typeface="微软雅黑" charset="-122"/>
                <a:ea typeface="微软雅黑" charset="-122"/>
              </a:endParaRPr>
            </a:p>
          </p:txBody>
        </p:sp>
        <p:cxnSp>
          <p:nvCxnSpPr>
            <p:cNvPr id="22" name="直接连接符 21"/>
            <p:cNvCxnSpPr/>
            <p:nvPr/>
          </p:nvCxnSpPr>
          <p:spPr>
            <a:xfrm>
              <a:off x="3784" y="3559"/>
              <a:ext cx="0" cy="1954"/>
            </a:xfrm>
            <a:prstGeom prst="line">
              <a:avLst/>
            </a:prstGeom>
            <a:ln w="63500">
              <a:solidFill>
                <a:srgbClr val="8497B0"/>
              </a:solidFill>
            </a:ln>
          </p:spPr>
          <p:style>
            <a:lnRef idx="1">
              <a:schemeClr val="accent1"/>
            </a:lnRef>
            <a:fillRef idx="0">
              <a:schemeClr val="accent1"/>
            </a:fillRef>
            <a:effectRef idx="0">
              <a:schemeClr val="accent1"/>
            </a:effectRef>
            <a:fontRef idx="minor">
              <a:schemeClr val="tx1"/>
            </a:fontRef>
          </p:style>
        </p:cxnSp>
      </p:grpSp>
      <p:pic>
        <p:nvPicPr>
          <p:cNvPr id="27" name="Picture 3" descr="C:\Users\wangxin51\Desktop\未标题-5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0791" y="-48987"/>
            <a:ext cx="3025392" cy="170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组合 7"/>
          <p:cNvGrpSpPr/>
          <p:nvPr/>
        </p:nvGrpSpPr>
        <p:grpSpPr bwMode="auto">
          <a:xfrm>
            <a:off x="3073400" y="6181183"/>
            <a:ext cx="5059363" cy="339725"/>
            <a:chOff x="3128248" y="3176495"/>
            <a:chExt cx="6746291" cy="453608"/>
          </a:xfrm>
        </p:grpSpPr>
        <p:sp>
          <p:nvSpPr>
            <p:cNvPr id="29" name="TextBox 8"/>
            <p:cNvSpPr txBox="1">
              <a:spLocks noChangeArrowheads="1"/>
            </p:cNvSpPr>
            <p:nvPr/>
          </p:nvSpPr>
          <p:spPr bwMode="auto">
            <a:xfrm>
              <a:off x="4900023" y="3178614"/>
              <a:ext cx="4974516" cy="451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eaLnBrk="1" hangingPunct="1">
                <a:defRPr/>
              </a:pPr>
              <a:r>
                <a:rPr lang="en-US" altLang="zh-CN" sz="1600" dirty="0">
                  <a:solidFill>
                    <a:srgbClr val="595959"/>
                  </a:solidFill>
                  <a:latin typeface="微软雅黑" charset="-122"/>
                  <a:ea typeface="微软雅黑" charset="-122"/>
                </a:rPr>
                <a:t>INNOVATION CREATES EXCELLENCE</a:t>
              </a:r>
              <a:endParaRPr lang="bg-BG" altLang="zh-CN" sz="1600" dirty="0">
                <a:solidFill>
                  <a:srgbClr val="595959"/>
                </a:solidFill>
                <a:latin typeface="微软雅黑" charset="-122"/>
                <a:ea typeface="微软雅黑" charset="-122"/>
              </a:endParaRPr>
            </a:p>
          </p:txBody>
        </p:sp>
        <p:sp>
          <p:nvSpPr>
            <p:cNvPr id="35" name="TextBox 9"/>
            <p:cNvSpPr txBox="1">
              <a:spLocks noChangeArrowheads="1"/>
            </p:cNvSpPr>
            <p:nvPr/>
          </p:nvSpPr>
          <p:spPr bwMode="auto">
            <a:xfrm>
              <a:off x="3128248" y="3176495"/>
              <a:ext cx="1784476" cy="43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algn="dist" eaLnBrk="1" hangingPunct="1">
                <a:defRPr/>
              </a:pPr>
              <a:r>
                <a:rPr lang="zh-CN" altLang="en-US" sz="1500">
                  <a:solidFill>
                    <a:srgbClr val="00489D"/>
                  </a:solidFill>
                  <a:latin typeface="微软雅黑" charset="-122"/>
                  <a:ea typeface="微软雅黑" charset="-122"/>
                </a:rPr>
                <a:t>创新成就卓越</a:t>
              </a:r>
              <a:endParaRPr lang="bg-BG" altLang="zh-CN" sz="1500">
                <a:solidFill>
                  <a:srgbClr val="7F7F7F"/>
                </a:solidFill>
                <a:latin typeface="微软雅黑" charset="-122"/>
                <a:ea typeface="微软雅黑" charset="-122"/>
              </a:endParaRPr>
            </a:p>
          </p:txBody>
        </p:sp>
      </p:grpSp>
      <p:pic>
        <p:nvPicPr>
          <p:cNvPr id="32" name="Picture 2" descr="C:\Users\wangxin51\Desktop\未标题-3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429000"/>
            <a:ext cx="12192001" cy="4235247"/>
          </a:xfrm>
          <a:prstGeom prst="rect">
            <a:avLst/>
          </a:prstGeom>
          <a:noFill/>
          <a:ln>
            <a:noFill/>
          </a:ln>
          <a:effectLst>
            <a:glow rad="635000">
              <a:schemeClr val="accent1">
                <a:satMod val="175000"/>
                <a:alpha val="20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3"/>
          </p:nvPr>
        </p:nvSpPr>
        <p:spPr/>
        <p:txBody>
          <a:bodyPr/>
          <a:lstStyle/>
          <a:p>
            <a:r>
              <a:rPr lang="en-US" altLang="zh-CN" dirty="0"/>
              <a:t>02 </a:t>
            </a:r>
            <a:r>
              <a:rPr lang="zh-CN" altLang="en-US" sz="2400" b="1" dirty="0">
                <a:solidFill>
                  <a:srgbClr val="00489D"/>
                </a:solidFill>
                <a:latin typeface="微软雅黑" charset="-122"/>
                <a:ea typeface="微软雅黑" charset="-122"/>
                <a:sym typeface="+mn-ea"/>
              </a:rPr>
              <a:t>结构化信息</a:t>
            </a:r>
            <a:r>
              <a:rPr lang="zh-CN" altLang="en-US" sz="2400" b="1" dirty="0">
                <a:solidFill>
                  <a:srgbClr val="00489D"/>
                </a:solidFill>
                <a:latin typeface="微软雅黑" charset="-122"/>
                <a:ea typeface="微软雅黑" charset="-122"/>
                <a:sym typeface="+mn-ea"/>
              </a:rPr>
              <a:t>提取</a:t>
            </a:r>
            <a:endParaRPr lang="zh-CN" altLang="en-US" sz="2400" b="1" dirty="0">
              <a:solidFill>
                <a:srgbClr val="00489D"/>
              </a:solidFill>
              <a:latin typeface="微软雅黑" charset="-122"/>
              <a:ea typeface="微软雅黑" charset="-122"/>
              <a:sym typeface="+mn-ea"/>
            </a:endParaRPr>
          </a:p>
          <a:p>
            <a:endParaRPr lang="zh-CN" altLang="en-US" sz="2400" b="1" dirty="0">
              <a:solidFill>
                <a:srgbClr val="00489D"/>
              </a:solidFill>
              <a:latin typeface="微软雅黑" charset="-122"/>
              <a:ea typeface="微软雅黑" charset="-122"/>
              <a:sym typeface="+mn-ea"/>
            </a:endParaRPr>
          </a:p>
        </p:txBody>
      </p:sp>
      <p:sp>
        <p:nvSpPr>
          <p:cNvPr id="44" name="矩形 43"/>
          <p:cNvSpPr/>
          <p:nvPr/>
        </p:nvSpPr>
        <p:spPr>
          <a:xfrm rot="19080000">
            <a:off x="3813175" y="5009515"/>
            <a:ext cx="493395" cy="16256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5" name="矩形 44"/>
          <p:cNvSpPr/>
          <p:nvPr/>
        </p:nvSpPr>
        <p:spPr>
          <a:xfrm rot="19080000">
            <a:off x="4507865" y="4368800"/>
            <a:ext cx="495300" cy="16002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文本框 40"/>
          <p:cNvSpPr txBox="1"/>
          <p:nvPr/>
        </p:nvSpPr>
        <p:spPr>
          <a:xfrm>
            <a:off x="1181295" y="731470"/>
            <a:ext cx="4683832" cy="40011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信息提取任务</a:t>
            </a:r>
            <a:endParaRPr lang="zh-CN" altLang="en-US" sz="2000" b="1" dirty="0">
              <a:latin typeface="黑体" panose="02010609060101010101" pitchFamily="49" charset="-122"/>
              <a:ea typeface="黑体" panose="02010609060101010101" pitchFamily="49" charset="-122"/>
            </a:endParaRPr>
          </a:p>
        </p:txBody>
      </p:sp>
      <p:grpSp>
        <p:nvGrpSpPr>
          <p:cNvPr id="74" name="组合 73"/>
          <p:cNvGrpSpPr/>
          <p:nvPr/>
        </p:nvGrpSpPr>
        <p:grpSpPr>
          <a:xfrm>
            <a:off x="2084007" y="1959384"/>
            <a:ext cx="964461" cy="884932"/>
            <a:chOff x="1567117" y="5888129"/>
            <a:chExt cx="964461" cy="884932"/>
          </a:xfrm>
        </p:grpSpPr>
        <p:pic>
          <p:nvPicPr>
            <p:cNvPr id="14" name="图形 13" descr="文档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24216" y="5929004"/>
              <a:ext cx="843921" cy="843921"/>
            </a:xfrm>
            <a:prstGeom prst="rect">
              <a:avLst/>
            </a:prstGeom>
          </p:spPr>
        </p:pic>
        <p:sp>
          <p:nvSpPr>
            <p:cNvPr id="64" name="矩形: 圆角 63"/>
            <p:cNvSpPr/>
            <p:nvPr/>
          </p:nvSpPr>
          <p:spPr>
            <a:xfrm>
              <a:off x="1567117" y="5888129"/>
              <a:ext cx="964461" cy="884932"/>
            </a:xfrm>
            <a:prstGeom prst="roundRect">
              <a:avLst/>
            </a:prstGeom>
            <a:noFill/>
            <a:ln w="28575">
              <a:solidFill>
                <a:srgbClr val="0048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2" name="直接箭头连接符 11"/>
          <p:cNvCxnSpPr/>
          <p:nvPr/>
        </p:nvCxnSpPr>
        <p:spPr>
          <a:xfrm flipV="1">
            <a:off x="3256103" y="2379354"/>
            <a:ext cx="1198880" cy="11430"/>
          </a:xfrm>
          <a:prstGeom prst="straightConnector1">
            <a:avLst/>
          </a:prstGeom>
          <a:ln w="38100">
            <a:solidFill>
              <a:srgbClr val="00489D"/>
            </a:solidFill>
            <a:tailEnd type="triangle"/>
          </a:ln>
        </p:spPr>
        <p:style>
          <a:lnRef idx="3">
            <a:schemeClr val="dk1"/>
          </a:lnRef>
          <a:fillRef idx="0">
            <a:schemeClr val="dk1"/>
          </a:fillRef>
          <a:effectRef idx="2">
            <a:schemeClr val="dk1"/>
          </a:effectRef>
          <a:fontRef idx="minor">
            <a:schemeClr val="tx1"/>
          </a:fontRef>
        </p:style>
      </p:cxnSp>
      <p:grpSp>
        <p:nvGrpSpPr>
          <p:cNvPr id="73" name="组合 72"/>
          <p:cNvGrpSpPr/>
          <p:nvPr/>
        </p:nvGrpSpPr>
        <p:grpSpPr>
          <a:xfrm>
            <a:off x="4596130" y="1674503"/>
            <a:ext cx="2941319" cy="1320157"/>
            <a:chOff x="597563" y="3792249"/>
            <a:chExt cx="3172941" cy="1372482"/>
          </a:xfrm>
        </p:grpSpPr>
        <p:sp>
          <p:nvSpPr>
            <p:cNvPr id="11" name="文本框 10"/>
            <p:cNvSpPr txBox="1"/>
            <p:nvPr/>
          </p:nvSpPr>
          <p:spPr>
            <a:xfrm>
              <a:off x="641602" y="4205866"/>
              <a:ext cx="3128902" cy="958565"/>
            </a:xfrm>
            <a:prstGeom prst="rect">
              <a:avLst/>
            </a:prstGeom>
            <a:noFill/>
          </p:spPr>
          <p:txBody>
            <a:bodyPr wrap="square" rtlCol="0">
              <a:spAutoFit/>
            </a:bodyPr>
            <a:p>
              <a:r>
                <a:rPr kumimoji="1" lang="zh-CN" altLang="en-US" dirty="0"/>
                <a:t>筛选“实验”与“</a:t>
              </a:r>
              <a:r>
                <a:rPr kumimoji="1" lang="zh-CN" altLang="en-US" dirty="0"/>
                <a:t>结果与讨论”标题下含关键信息的目标段落。</a:t>
              </a:r>
              <a:endParaRPr lang="zh-CN" altLang="en-US" dirty="0">
                <a:latin typeface="微软雅黑" charset="-122"/>
                <a:ea typeface="微软雅黑" charset="-122"/>
              </a:endParaRPr>
            </a:p>
          </p:txBody>
        </p:sp>
        <p:sp>
          <p:nvSpPr>
            <p:cNvPr id="3" name="矩形: 折角 53"/>
            <p:cNvSpPr/>
            <p:nvPr/>
          </p:nvSpPr>
          <p:spPr>
            <a:xfrm>
              <a:off x="597563" y="3792249"/>
              <a:ext cx="3065934" cy="1372482"/>
            </a:xfrm>
            <a:prstGeom prst="foldedCorner">
              <a:avLst/>
            </a:prstGeom>
            <a:noFill/>
            <a:ln w="28575">
              <a:solidFill>
                <a:srgbClr val="0048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 name="文本框 59"/>
            <p:cNvSpPr txBox="1"/>
            <p:nvPr/>
          </p:nvSpPr>
          <p:spPr>
            <a:xfrm>
              <a:off x="1487611" y="3880702"/>
              <a:ext cx="1736373" cy="382898"/>
            </a:xfrm>
            <a:prstGeom prst="rect">
              <a:avLst/>
            </a:prstGeom>
            <a:noFill/>
          </p:spPr>
          <p:txBody>
            <a:bodyPr wrap="square" rtlCol="0">
              <a:spAutoFit/>
            </a:bodyPr>
            <a:p>
              <a:r>
                <a:rPr lang="zh-CN" altLang="en-US" b="1" dirty="0">
                  <a:latin typeface="黑体" charset="0"/>
                  <a:ea typeface="黑体" charset="0"/>
                </a:rPr>
                <a:t>段落</a:t>
              </a:r>
              <a:r>
                <a:rPr lang="zh-CN" altLang="en-US" b="1" dirty="0">
                  <a:latin typeface="黑体" charset="0"/>
                  <a:ea typeface="黑体" charset="0"/>
                </a:rPr>
                <a:t>定位</a:t>
              </a:r>
              <a:endParaRPr lang="zh-CN" altLang="en-US" b="1" dirty="0">
                <a:latin typeface="黑体" charset="0"/>
                <a:ea typeface="黑体" charset="0"/>
              </a:endParaRPr>
            </a:p>
          </p:txBody>
        </p:sp>
      </p:grpSp>
      <p:grpSp>
        <p:nvGrpSpPr>
          <p:cNvPr id="19" name="组合 18"/>
          <p:cNvGrpSpPr/>
          <p:nvPr/>
        </p:nvGrpSpPr>
        <p:grpSpPr>
          <a:xfrm>
            <a:off x="9961880" y="2844800"/>
            <a:ext cx="1200150" cy="1200150"/>
            <a:chOff x="14301" y="4165"/>
            <a:chExt cx="1890" cy="1890"/>
          </a:xfrm>
        </p:grpSpPr>
        <p:pic>
          <p:nvPicPr>
            <p:cNvPr id="17" name="图片 16" descr="花边圆形"/>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301" y="4165"/>
              <a:ext cx="1890" cy="1890"/>
            </a:xfrm>
            <a:prstGeom prst="rect">
              <a:avLst/>
            </a:prstGeom>
          </p:spPr>
        </p:pic>
        <p:sp>
          <p:nvSpPr>
            <p:cNvPr id="18" name="文本框 17"/>
            <p:cNvSpPr txBox="1"/>
            <p:nvPr/>
          </p:nvSpPr>
          <p:spPr>
            <a:xfrm>
              <a:off x="14692" y="4845"/>
              <a:ext cx="1375" cy="580"/>
            </a:xfrm>
            <a:prstGeom prst="rect">
              <a:avLst/>
            </a:prstGeom>
            <a:noFill/>
          </p:spPr>
          <p:txBody>
            <a:bodyPr wrap="square" rtlCol="0">
              <a:spAutoFit/>
            </a:bodyPr>
            <a:p>
              <a:r>
                <a:rPr lang="en-US" altLang="zh-CN" b="1">
                  <a:latin typeface="Arial" panose="020B0604020202090204" pitchFamily="34" charset="0"/>
                  <a:cs typeface="Arial" panose="020B0604020202090204" pitchFamily="34" charset="0"/>
                </a:rPr>
                <a:t>LLMs</a:t>
              </a:r>
              <a:endParaRPr lang="en-US" altLang="zh-CN" b="1">
                <a:latin typeface="Arial" panose="020B0604020202090204" pitchFamily="34" charset="0"/>
                <a:cs typeface="Arial" panose="020B0604020202090204" pitchFamily="34" charset="0"/>
              </a:endParaRPr>
            </a:p>
          </p:txBody>
        </p:sp>
      </p:grpSp>
      <p:cxnSp>
        <p:nvCxnSpPr>
          <p:cNvPr id="20" name="肘形连接符 19"/>
          <p:cNvCxnSpPr/>
          <p:nvPr/>
        </p:nvCxnSpPr>
        <p:spPr>
          <a:xfrm>
            <a:off x="8042910" y="2336800"/>
            <a:ext cx="1314450" cy="1108075"/>
          </a:xfrm>
          <a:prstGeom prst="bentConnector3">
            <a:avLst>
              <a:gd name="adj1" fmla="val 50000"/>
            </a:avLst>
          </a:prstGeom>
          <a:ln w="38100">
            <a:solidFill>
              <a:srgbClr val="00489D"/>
            </a:solidFill>
            <a:tailEnd type="arrow"/>
          </a:ln>
        </p:spPr>
        <p:style>
          <a:lnRef idx="2">
            <a:schemeClr val="accent1"/>
          </a:lnRef>
          <a:fillRef idx="0">
            <a:srgbClr val="FFFFFF"/>
          </a:fillRef>
          <a:effectRef idx="0">
            <a:srgbClr val="FFFFFF"/>
          </a:effectRef>
          <a:fontRef idx="minor">
            <a:schemeClr val="tx1"/>
          </a:fontRef>
        </p:style>
      </p:cxnSp>
      <p:grpSp>
        <p:nvGrpSpPr>
          <p:cNvPr id="22" name="组合 21"/>
          <p:cNvGrpSpPr/>
          <p:nvPr/>
        </p:nvGrpSpPr>
        <p:grpSpPr>
          <a:xfrm>
            <a:off x="9095740" y="5166368"/>
            <a:ext cx="2979420" cy="1320157"/>
            <a:chOff x="597563" y="3792249"/>
            <a:chExt cx="3214042" cy="1372482"/>
          </a:xfrm>
        </p:grpSpPr>
        <p:sp>
          <p:nvSpPr>
            <p:cNvPr id="23" name="文本框 22"/>
            <p:cNvSpPr txBox="1"/>
            <p:nvPr/>
          </p:nvSpPr>
          <p:spPr>
            <a:xfrm>
              <a:off x="682703" y="4207847"/>
              <a:ext cx="3128902" cy="670731"/>
            </a:xfrm>
            <a:prstGeom prst="rect">
              <a:avLst/>
            </a:prstGeom>
            <a:noFill/>
          </p:spPr>
          <p:txBody>
            <a:bodyPr wrap="square" rtlCol="0">
              <a:spAutoFit/>
            </a:bodyPr>
            <a:p>
              <a:pPr algn="l">
                <a:buClrTx/>
                <a:buSzTx/>
                <a:buFontTx/>
              </a:pPr>
              <a:r>
                <a:rPr kumimoji="1" lang="zh-CN" altLang="en-US" dirty="0"/>
                <a:t>LLMs根据示例，输出结构化信息。</a:t>
              </a:r>
              <a:endParaRPr kumimoji="1" lang="zh-CN" altLang="en-US" dirty="0"/>
            </a:p>
          </p:txBody>
        </p:sp>
        <p:sp>
          <p:nvSpPr>
            <p:cNvPr id="24" name="矩形: 折角 53"/>
            <p:cNvSpPr/>
            <p:nvPr/>
          </p:nvSpPr>
          <p:spPr>
            <a:xfrm>
              <a:off x="597563" y="3792249"/>
              <a:ext cx="3065934" cy="1372482"/>
            </a:xfrm>
            <a:prstGeom prst="foldedCorner">
              <a:avLst/>
            </a:prstGeom>
            <a:noFill/>
            <a:ln w="28575">
              <a:solidFill>
                <a:srgbClr val="0048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文本框 24"/>
            <p:cNvSpPr txBox="1"/>
            <p:nvPr/>
          </p:nvSpPr>
          <p:spPr>
            <a:xfrm>
              <a:off x="1508161" y="3796201"/>
              <a:ext cx="1736373" cy="382898"/>
            </a:xfrm>
            <a:prstGeom prst="rect">
              <a:avLst/>
            </a:prstGeom>
            <a:noFill/>
          </p:spPr>
          <p:txBody>
            <a:bodyPr wrap="square" rtlCol="0">
              <a:spAutoFit/>
            </a:bodyPr>
            <a:p>
              <a:r>
                <a:rPr lang="zh-CN" altLang="en-US" b="1" dirty="0">
                  <a:latin typeface="黑体" charset="0"/>
                  <a:ea typeface="黑体" charset="0"/>
                </a:rPr>
                <a:t>信息</a:t>
              </a:r>
              <a:r>
                <a:rPr lang="zh-CN" altLang="en-US" b="1" dirty="0">
                  <a:latin typeface="黑体" charset="0"/>
                  <a:ea typeface="黑体" charset="0"/>
                </a:rPr>
                <a:t>提取</a:t>
              </a:r>
              <a:endParaRPr lang="zh-CN" altLang="en-US" b="1" dirty="0">
                <a:latin typeface="黑体" charset="0"/>
                <a:ea typeface="黑体" charset="0"/>
              </a:endParaRPr>
            </a:p>
          </p:txBody>
        </p:sp>
      </p:grpSp>
      <p:cxnSp>
        <p:nvCxnSpPr>
          <p:cNvPr id="4" name="直接箭头连接符 3"/>
          <p:cNvCxnSpPr/>
          <p:nvPr/>
        </p:nvCxnSpPr>
        <p:spPr>
          <a:xfrm>
            <a:off x="10557968" y="4237661"/>
            <a:ext cx="6985" cy="686435"/>
          </a:xfrm>
          <a:prstGeom prst="straightConnector1">
            <a:avLst/>
          </a:prstGeom>
          <a:ln w="38100">
            <a:solidFill>
              <a:srgbClr val="00489D"/>
            </a:solidFill>
            <a:tailEnd type="triangle"/>
          </a:ln>
        </p:spPr>
        <p:style>
          <a:lnRef idx="3">
            <a:schemeClr val="dk1"/>
          </a:lnRef>
          <a:fillRef idx="0">
            <a:schemeClr val="dk1"/>
          </a:fillRef>
          <a:effectRef idx="2">
            <a:schemeClr val="dk1"/>
          </a:effectRef>
          <a:fontRef idx="minor">
            <a:schemeClr val="tx1"/>
          </a:fontRef>
        </p:style>
      </p:cxnSp>
      <p:cxnSp>
        <p:nvCxnSpPr>
          <p:cNvPr id="5" name="肘形连接符 4"/>
          <p:cNvCxnSpPr/>
          <p:nvPr/>
        </p:nvCxnSpPr>
        <p:spPr>
          <a:xfrm rot="10800000">
            <a:off x="7345680" y="4856480"/>
            <a:ext cx="1666240" cy="914400"/>
          </a:xfrm>
          <a:prstGeom prst="bentConnector3">
            <a:avLst>
              <a:gd name="adj1" fmla="val 49962"/>
            </a:avLst>
          </a:prstGeom>
          <a:ln w="38100" cap="rnd">
            <a:solidFill>
              <a:srgbClr val="00489D"/>
            </a:solidFill>
            <a:round/>
            <a:tailEnd type="arrow" w="med" len="med"/>
          </a:ln>
        </p:spPr>
        <p:style>
          <a:lnRef idx="0">
            <a:srgbClr val="FFFFFF"/>
          </a:lnRef>
          <a:fillRef idx="0">
            <a:srgbClr val="FFFFFF"/>
          </a:fillRef>
          <a:effectRef idx="0">
            <a:srgbClr val="FFFFFF"/>
          </a:effectRef>
          <a:fontRef idx="minor">
            <a:schemeClr val="tx1"/>
          </a:fontRef>
        </p:style>
      </p:cxnSp>
      <p:grpSp>
        <p:nvGrpSpPr>
          <p:cNvPr id="6" name="组合 5"/>
          <p:cNvGrpSpPr/>
          <p:nvPr/>
        </p:nvGrpSpPr>
        <p:grpSpPr>
          <a:xfrm>
            <a:off x="4282625" y="4246253"/>
            <a:ext cx="2900495" cy="1320157"/>
            <a:chOff x="549812" y="3792249"/>
            <a:chExt cx="3128902" cy="1372482"/>
          </a:xfrm>
        </p:grpSpPr>
        <p:sp>
          <p:nvSpPr>
            <p:cNvPr id="7" name="文本框 6"/>
            <p:cNvSpPr txBox="1"/>
            <p:nvPr/>
          </p:nvSpPr>
          <p:spPr>
            <a:xfrm>
              <a:off x="549812" y="4233594"/>
              <a:ext cx="3128902" cy="670731"/>
            </a:xfrm>
            <a:prstGeom prst="rect">
              <a:avLst/>
            </a:prstGeom>
            <a:noFill/>
          </p:spPr>
          <p:txBody>
            <a:bodyPr wrap="square" rtlCol="0">
              <a:spAutoFit/>
            </a:bodyPr>
            <a:p>
              <a:pPr algn="l">
                <a:buClrTx/>
                <a:buSzTx/>
                <a:buFontTx/>
              </a:pPr>
              <a:r>
                <a:rPr kumimoji="1" lang="zh-CN" altLang="en-US" dirty="0"/>
                <a:t>将提取信息转化成”节点-关系-节点“，构建三元组关系。</a:t>
              </a:r>
              <a:endParaRPr kumimoji="1" lang="zh-CN" altLang="en-US" dirty="0"/>
            </a:p>
          </p:txBody>
        </p:sp>
        <p:sp>
          <p:nvSpPr>
            <p:cNvPr id="8" name="矩形: 折角 53"/>
            <p:cNvSpPr/>
            <p:nvPr/>
          </p:nvSpPr>
          <p:spPr>
            <a:xfrm>
              <a:off x="597563" y="3792249"/>
              <a:ext cx="3065934" cy="1372482"/>
            </a:xfrm>
            <a:prstGeom prst="foldedCorner">
              <a:avLst/>
            </a:prstGeom>
            <a:noFill/>
            <a:ln w="28575">
              <a:solidFill>
                <a:srgbClr val="00489D"/>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1591731" y="3825249"/>
              <a:ext cx="1736373" cy="382898"/>
            </a:xfrm>
            <a:prstGeom prst="rect">
              <a:avLst/>
            </a:prstGeom>
            <a:noFill/>
          </p:spPr>
          <p:txBody>
            <a:bodyPr wrap="square" rtlCol="0">
              <a:spAutoFit/>
            </a:bodyPr>
            <a:p>
              <a:r>
                <a:rPr lang="zh-CN" altLang="en-US" b="1" dirty="0">
                  <a:latin typeface="黑体" charset="0"/>
                  <a:ea typeface="黑体" charset="0"/>
                </a:rPr>
                <a:t>三元组</a:t>
              </a:r>
              <a:endParaRPr lang="zh-CN" altLang="en-US" b="1" dirty="0">
                <a:latin typeface="黑体" charset="0"/>
                <a:ea typeface="黑体" charset="0"/>
              </a:endParaRPr>
            </a:p>
          </p:txBody>
        </p:sp>
      </p:grpSp>
      <p:cxnSp>
        <p:nvCxnSpPr>
          <p:cNvPr id="10" name="直接箭头连接符 9"/>
          <p:cNvCxnSpPr/>
          <p:nvPr/>
        </p:nvCxnSpPr>
        <p:spPr>
          <a:xfrm flipH="1" flipV="1">
            <a:off x="3097988" y="4921894"/>
            <a:ext cx="1098550" cy="5715"/>
          </a:xfrm>
          <a:prstGeom prst="straightConnector1">
            <a:avLst/>
          </a:prstGeom>
          <a:ln w="38100">
            <a:solidFill>
              <a:srgbClr val="00489D"/>
            </a:solidFill>
            <a:tailEnd type="triangle"/>
          </a:ln>
        </p:spPr>
        <p:style>
          <a:lnRef idx="3">
            <a:schemeClr val="dk1"/>
          </a:lnRef>
          <a:fillRef idx="0">
            <a:schemeClr val="dk1"/>
          </a:fillRef>
          <a:effectRef idx="2">
            <a:schemeClr val="dk1"/>
          </a:effectRef>
          <a:fontRef idx="minor">
            <a:schemeClr val="tx1"/>
          </a:fontRef>
        </p:style>
      </p:cxnSp>
      <p:sp>
        <p:nvSpPr>
          <p:cNvPr id="13" name="文本框 12"/>
          <p:cNvSpPr txBox="1"/>
          <p:nvPr/>
        </p:nvSpPr>
        <p:spPr>
          <a:xfrm>
            <a:off x="3143395" y="4488243"/>
            <a:ext cx="1097280" cy="368300"/>
          </a:xfrm>
          <a:prstGeom prst="rect">
            <a:avLst/>
          </a:prstGeom>
          <a:noFill/>
        </p:spPr>
        <p:txBody>
          <a:bodyPr wrap="none" rtlCol="0">
            <a:spAutoFit/>
          </a:bodyPr>
          <a:p>
            <a:r>
              <a:rPr lang="zh-CN" altLang="en-US" dirty="0">
                <a:latin typeface="微软雅黑" charset="-122"/>
                <a:ea typeface="微软雅黑" charset="-122"/>
                <a:cs typeface="Arial" panose="020B0604020202090204" pitchFamily="34" charset="0"/>
              </a:rPr>
              <a:t>生成图谱</a:t>
            </a:r>
            <a:endParaRPr lang="zh-CN" altLang="en-US" dirty="0">
              <a:latin typeface="微软雅黑" charset="-122"/>
              <a:ea typeface="微软雅黑" charset="-122"/>
              <a:cs typeface="Arial" panose="020B0604020202090204" pitchFamily="34" charset="0"/>
            </a:endParaRPr>
          </a:p>
        </p:txBody>
      </p:sp>
      <p:pic>
        <p:nvPicPr>
          <p:cNvPr id="15" name="图片 14" descr="graph (1)"/>
          <p:cNvPicPr>
            <a:picLocks noChangeAspect="1"/>
          </p:cNvPicPr>
          <p:nvPr/>
        </p:nvPicPr>
        <p:blipFill>
          <a:blip r:embed="rId5"/>
          <a:stretch>
            <a:fillRect/>
          </a:stretch>
        </p:blipFill>
        <p:spPr>
          <a:xfrm>
            <a:off x="384810" y="3260725"/>
            <a:ext cx="2672715" cy="28435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文本框 58"/>
          <p:cNvSpPr txBox="1"/>
          <p:nvPr/>
        </p:nvSpPr>
        <p:spPr>
          <a:xfrm>
            <a:off x="11803570" y="6428744"/>
            <a:ext cx="359377" cy="368300"/>
          </a:xfrm>
          <a:prstGeom prst="rect">
            <a:avLst/>
          </a:prstGeom>
          <a:noFill/>
        </p:spPr>
        <p:txBody>
          <a:bodyPr wrap="square" rtlCol="0">
            <a:spAutoFit/>
          </a:bodyPr>
          <a:lstStyle/>
          <a:p>
            <a:r>
              <a:rPr lang="en-US" altLang="zh-CN" b="1" dirty="0">
                <a:solidFill>
                  <a:srgbClr val="0070C0"/>
                </a:solidFill>
                <a:latin typeface="Arial" panose="020B0604020202090204" pitchFamily="34" charset="0"/>
                <a:ea typeface="微软雅黑" charset="-122"/>
                <a:cs typeface="Arial" panose="020B0604020202090204" pitchFamily="34" charset="0"/>
              </a:rPr>
              <a:t>4</a:t>
            </a:r>
            <a:endParaRPr lang="zh-CN" altLang="en-US" b="1" dirty="0">
              <a:solidFill>
                <a:srgbClr val="0070C0"/>
              </a:solidFill>
              <a:latin typeface="Arial" panose="020B0604020202090204" pitchFamily="34" charset="0"/>
              <a:ea typeface="微软雅黑" charset="-122"/>
              <a:cs typeface="Arial" panose="020B0604020202090204" pitchFamily="34" charset="0"/>
            </a:endParaRPr>
          </a:p>
        </p:txBody>
      </p:sp>
      <p:sp>
        <p:nvSpPr>
          <p:cNvPr id="64" name="文本占位符 1"/>
          <p:cNvSpPr txBox="1"/>
          <p:nvPr/>
        </p:nvSpPr>
        <p:spPr>
          <a:xfrm>
            <a:off x="608291" y="275509"/>
            <a:ext cx="6639560" cy="363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2200" b="1" u="none" strike="noStrike" kern="1200" cap="none" spc="100" normalizeH="0">
                <a:solidFill>
                  <a:srgbClr val="00489D"/>
                </a:solidFill>
                <a:uFillTx/>
                <a:latin typeface="微软雅黑" charset="-122"/>
                <a:ea typeface="微软雅黑"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r>
              <a:rPr lang="en-US" altLang="zh-CN" sz="2400" dirty="0"/>
              <a:t>02 </a:t>
            </a:r>
            <a:r>
              <a:rPr lang="zh-CN" altLang="en-US" sz="2400" b="1" dirty="0">
                <a:solidFill>
                  <a:srgbClr val="00489D"/>
                </a:solidFill>
                <a:latin typeface="微软雅黑" charset="-122"/>
                <a:ea typeface="微软雅黑" charset="-122"/>
                <a:sym typeface="+mn-ea"/>
              </a:rPr>
              <a:t>结构化信息提取</a:t>
            </a:r>
            <a:endParaRPr lang="zh-CN" altLang="en-US" sz="2400" b="1" dirty="0">
              <a:solidFill>
                <a:srgbClr val="00489D"/>
              </a:solidFill>
              <a:latin typeface="微软雅黑" charset="-122"/>
              <a:ea typeface="微软雅黑" charset="-122"/>
              <a:sym typeface="+mn-ea"/>
            </a:endParaRPr>
          </a:p>
        </p:txBody>
      </p:sp>
      <p:sp>
        <p:nvSpPr>
          <p:cNvPr id="65" name="文本框 64"/>
          <p:cNvSpPr txBox="1"/>
          <p:nvPr/>
        </p:nvSpPr>
        <p:spPr>
          <a:xfrm>
            <a:off x="1181295" y="695845"/>
            <a:ext cx="4683832"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文献信息</a:t>
            </a:r>
            <a:r>
              <a:rPr lang="zh-CN" altLang="en-US" sz="2000" b="1" dirty="0">
                <a:latin typeface="黑体" panose="02010609060101010101" pitchFamily="49" charset="-122"/>
                <a:ea typeface="黑体" panose="02010609060101010101" pitchFamily="49" charset="-122"/>
              </a:rPr>
              <a:t>提取</a:t>
            </a:r>
            <a:endParaRPr lang="zh-CN" altLang="en-US" sz="2000" b="1" dirty="0">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1"/>
          <a:stretch>
            <a:fillRect/>
          </a:stretch>
        </p:blipFill>
        <p:spPr>
          <a:xfrm>
            <a:off x="358140" y="1316355"/>
            <a:ext cx="5430520" cy="1724660"/>
          </a:xfrm>
          <a:prstGeom prst="rect">
            <a:avLst/>
          </a:prstGeom>
        </p:spPr>
      </p:pic>
      <p:grpSp>
        <p:nvGrpSpPr>
          <p:cNvPr id="2" name="组合 1"/>
          <p:cNvGrpSpPr/>
          <p:nvPr/>
        </p:nvGrpSpPr>
        <p:grpSpPr>
          <a:xfrm>
            <a:off x="6908165" y="1094105"/>
            <a:ext cx="4852670" cy="3204210"/>
            <a:chOff x="284" y="2019"/>
            <a:chExt cx="10383" cy="8894"/>
          </a:xfrm>
        </p:grpSpPr>
        <p:sp>
          <p:nvSpPr>
            <p:cNvPr id="6" name="圆角矩形 5"/>
            <p:cNvSpPr/>
            <p:nvPr/>
          </p:nvSpPr>
          <p:spPr>
            <a:xfrm>
              <a:off x="284" y="2019"/>
              <a:ext cx="10383" cy="7146"/>
            </a:xfrm>
            <a:prstGeom prst="roundRect">
              <a:avLst/>
            </a:prstGeom>
            <a:noFill/>
            <a:ln w="19050">
              <a:solidFill>
                <a:srgbClr val="00489D"/>
              </a:solidFill>
              <a:prstDash val="dashDot"/>
            </a:ln>
            <a:extLst>
              <a:ext uri="{909E8E84-426E-40DD-AFC4-6F175D3DCCD1}">
                <a14:hiddenFill xmlns:a14="http://schemas.microsoft.com/office/drawing/2010/main">
                  <a:solidFill>
                    <a:srgbClr val="E6F1F8"/>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569" y="2671"/>
              <a:ext cx="9766" cy="8242"/>
            </a:xfrm>
            <a:prstGeom prst="rect">
              <a:avLst/>
            </a:prstGeom>
            <a:noFill/>
          </p:spPr>
          <p:txBody>
            <a:bodyPr wrap="square" rtlCol="0">
              <a:noAutofit/>
            </a:bodyPr>
            <a:p>
              <a:pPr algn="just"/>
              <a:r>
                <a:rPr lang="en-US" altLang="zh-CN" sz="1200">
                  <a:latin typeface="Times New Roman Regular" panose="02020503050405090304" charset="0"/>
                  <a:cs typeface="Times New Roman Regular" panose="02020503050405090304" charset="0"/>
                </a:rPr>
                <a:t>2.2. Synthesis of nanocomposite</a:t>
              </a:r>
              <a:endParaRPr lang="en-US" altLang="zh-CN" sz="1200">
                <a:latin typeface="Times New Roman Regular" panose="02020503050405090304" charset="0"/>
                <a:cs typeface="Times New Roman Regular" panose="02020503050405090304" charset="0"/>
              </a:endParaRPr>
            </a:p>
            <a:p>
              <a:pPr algn="just"/>
              <a:r>
                <a:rPr lang="en-US" altLang="zh-CN" sz="1200">
                  <a:latin typeface="Times New Roman Regular" panose="02020503050405090304" charset="0"/>
                  <a:cs typeface="Times New Roman Regular" panose="02020503050405090304" charset="0"/>
                </a:rPr>
                <a:t>A set of Li1-xFexPO4 were </a:t>
              </a:r>
              <a:r>
                <a:rPr lang="en-US" altLang="zh-CN" sz="1200">
                  <a:latin typeface="Times New Roman Regular" panose="02020503050405090304" charset="0"/>
                  <a:cs typeface="Times New Roman Regular" panose="02020503050405090304" charset="0"/>
                </a:rPr>
                <a:t>synthesized by microwave-hydrothermal method by different the ferric and lithium ratio as (x = 0.2, 0.4, 0.6 and 0.8). In a procedure, (0.2 M, 20 ml) of each ferric and lithium chloride were prepared and mixed together until got yellow clear solution. Then, (0.1 M, 10 ml) Na2HPO4 was added dropwise to mixture under strong stirring. After that, the mixture was transferred to autoclave and subjected it under 100 </a:t>
              </a:r>
              <a:r>
                <a:rPr lang="en-US" altLang="en-US" sz="1200">
                  <a:latin typeface="Times New Roman Regular" panose="02020503050405090304" charset="0"/>
                  <a:cs typeface="Times New Roman Regular" panose="02020503050405090304" charset="0"/>
                </a:rPr>
                <a:t>◦</a:t>
              </a:r>
              <a:r>
                <a:rPr lang="en-US" altLang="zh-CN" sz="1200">
                  <a:latin typeface="Times New Roman Regular" panose="02020503050405090304" charset="0"/>
                  <a:cs typeface="Times New Roman Regular" panose="02020503050405090304" charset="0"/>
                </a:rPr>
                <a:t>C for 100 min at rate of heating 10 </a:t>
              </a:r>
              <a:r>
                <a:rPr lang="en-US" altLang="en-US" sz="1200">
                  <a:latin typeface="Times New Roman Regular" panose="02020503050405090304" charset="0"/>
                  <a:cs typeface="Times New Roman Regular" panose="02020503050405090304" charset="0"/>
                </a:rPr>
                <a:t>◦</a:t>
              </a:r>
              <a:r>
                <a:rPr lang="en-US" altLang="zh-CN" sz="1200">
                  <a:latin typeface="Times New Roman Regular" panose="02020503050405090304" charset="0"/>
                  <a:cs typeface="Times New Roman Regular" panose="02020503050405090304" charset="0"/>
                </a:rPr>
                <a:t>C  per min. The light brown colloidal solution was centrifuged and washed three times by distilled water before dried it at 80 </a:t>
              </a:r>
              <a:r>
                <a:rPr lang="en-US" altLang="en-US" sz="1200">
                  <a:latin typeface="Times New Roman Regular" panose="02020503050405090304" charset="0"/>
                  <a:cs typeface="Times New Roman Regular" panose="02020503050405090304" charset="0"/>
                </a:rPr>
                <a:t>◦</a:t>
              </a:r>
              <a:r>
                <a:rPr lang="en-US" altLang="zh-CN" sz="1200">
                  <a:latin typeface="Times New Roman Regular" panose="02020503050405090304" charset="0"/>
                  <a:cs typeface="Times New Roman Regular" panose="02020503050405090304" charset="0"/>
                </a:rPr>
                <a:t>C for 3 h.</a:t>
              </a:r>
              <a:endParaRPr lang="en-US" altLang="zh-CN" sz="1200">
                <a:latin typeface="Times New Roman Regular" panose="02020503050405090304" charset="0"/>
                <a:cs typeface="Times New Roman Regular" panose="02020503050405090304" charset="0"/>
              </a:endParaRPr>
            </a:p>
          </p:txBody>
        </p:sp>
      </p:grpSp>
      <p:sp>
        <p:nvSpPr>
          <p:cNvPr id="4" name="矩形 3"/>
          <p:cNvSpPr/>
          <p:nvPr/>
        </p:nvSpPr>
        <p:spPr>
          <a:xfrm>
            <a:off x="7092950" y="1598295"/>
            <a:ext cx="4512945" cy="50165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0001250" y="3449955"/>
            <a:ext cx="2951480" cy="245110"/>
          </a:xfrm>
          <a:prstGeom prst="rect">
            <a:avLst/>
          </a:prstGeom>
          <a:noFill/>
        </p:spPr>
        <p:txBody>
          <a:bodyPr wrap="square" rtlCol="0">
            <a:spAutoFit/>
          </a:bodyPr>
          <a:p>
            <a:r>
              <a:rPr lang="en-US" altLang="zh-CN" sz="1000" i="1">
                <a:latin typeface="Times New Roman Italic" panose="02020503050405090304" charset="0"/>
                <a:cs typeface="Times New Roman Italic" panose="02020503050405090304" charset="0"/>
              </a:rPr>
              <a:t>10.1016/j.ijoes.2025.101075</a:t>
            </a:r>
            <a:endParaRPr lang="en-US" altLang="zh-CN" sz="1000" i="1">
              <a:latin typeface="Times New Roman Italic" panose="02020503050405090304" charset="0"/>
              <a:cs typeface="Times New Roman Italic" panose="02020503050405090304" charset="0"/>
            </a:endParaRPr>
          </a:p>
        </p:txBody>
      </p:sp>
      <p:cxnSp>
        <p:nvCxnSpPr>
          <p:cNvPr id="5" name="直接箭头连接符 4"/>
          <p:cNvCxnSpPr/>
          <p:nvPr/>
        </p:nvCxnSpPr>
        <p:spPr>
          <a:xfrm>
            <a:off x="9504680" y="3695065"/>
            <a:ext cx="0" cy="743585"/>
          </a:xfrm>
          <a:prstGeom prst="straightConnector1">
            <a:avLst/>
          </a:prstGeom>
          <a:ln w="19050">
            <a:solidFill>
              <a:srgbClr val="00489D"/>
            </a:solidFill>
            <a:prstDash val="dashDot"/>
            <a:tailEnd type="arrow"/>
          </a:ln>
        </p:spPr>
        <p:style>
          <a:lnRef idx="2">
            <a:schemeClr val="accent1"/>
          </a:lnRef>
          <a:fillRef idx="0">
            <a:srgbClr val="FFFFFF"/>
          </a:fillRef>
          <a:effectRef idx="0">
            <a:srgbClr val="FFFFFF"/>
          </a:effectRef>
          <a:fontRef idx="minor">
            <a:schemeClr val="tx1"/>
          </a:fontRef>
        </p:style>
      </p:cxnSp>
      <p:sp>
        <p:nvSpPr>
          <p:cNvPr id="9" name="圆角矩形 8"/>
          <p:cNvSpPr/>
          <p:nvPr/>
        </p:nvSpPr>
        <p:spPr>
          <a:xfrm>
            <a:off x="6908165" y="4490085"/>
            <a:ext cx="4852670" cy="1766570"/>
          </a:xfrm>
          <a:prstGeom prst="roundRect">
            <a:avLst/>
          </a:prstGeom>
          <a:noFill/>
          <a:ln w="19050">
            <a:solidFill>
              <a:srgbClr val="00489D"/>
            </a:solidFill>
            <a:prstDash val="dashDot"/>
          </a:ln>
          <a:extLst>
            <a:ext uri="{909E8E84-426E-40DD-AFC4-6F175D3DCCD1}">
              <a14:hiddenFill xmlns:a14="http://schemas.microsoft.com/office/drawing/2010/main">
                <a:solidFill>
                  <a:srgbClr val="E6F1F8"/>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7410450" y="4675505"/>
            <a:ext cx="4349750" cy="1198880"/>
          </a:xfrm>
          <a:prstGeom prst="rect">
            <a:avLst/>
          </a:prstGeom>
          <a:noFill/>
        </p:spPr>
        <p:txBody>
          <a:bodyPr wrap="square" rtlCol="0" anchor="t">
            <a:spAutoFit/>
          </a:bodyPr>
          <a:p>
            <a:r>
              <a:rPr lang="en-US" altLang="zh-CN" sz="1200">
                <a:latin typeface="Times New Roman Regular" panose="02020503050405090304" charset="0"/>
                <a:cs typeface="Times New Roman Regular" panose="02020503050405090304" charset="0"/>
                <a:sym typeface="+mn-ea"/>
              </a:rPr>
              <a:t>"recipe": {</a:t>
            </a:r>
            <a:endParaRPr lang="en-US" altLang="zh-CN"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sym typeface="+mn-ea"/>
              </a:rPr>
              <a:t>      "Fe_P_ratio": "Fe:P molar ratio = x:1 for x=0.2,0.4,0.6,0.8",</a:t>
            </a:r>
            <a:endParaRPr lang="en-US" altLang="zh-CN"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sym typeface="+mn-ea"/>
              </a:rPr>
              <a:t>      "Li_Fe_ratio": "Li:Fe molar ratio = (1-x):x for x=0.2,0.4,0.6,0.8",</a:t>
            </a:r>
            <a:endParaRPr lang="en-US" altLang="zh-CN" sz="1200">
              <a:latin typeface="Times New Roman Regular" panose="02020503050405090304" charset="0"/>
              <a:cs typeface="Times New Roman Regular" panose="02020503050405090304" charset="0"/>
            </a:endParaRPr>
          </a:p>
          <a:p>
            <a:r>
              <a:rPr lang="en-US" altLang="zh-CN" sz="1200">
                <a:latin typeface="Times New Roman Regular" panose="02020503050405090304" charset="0"/>
                <a:cs typeface="Times New Roman Regular" panose="02020503050405090304" charset="0"/>
                <a:sym typeface="+mn-ea"/>
              </a:rPr>
              <a:t>      "other_ratios": "Precursor solutions: LiCl and FeCl3·6H2O each 0.2 M, Na2HPO4 0.1 M",</a:t>
            </a:r>
            <a:endParaRPr lang="en-US" altLang="zh-CN" sz="1200">
              <a:latin typeface="Times New Roman Regular" panose="02020503050405090304" charset="0"/>
              <a:cs typeface="Times New Roman Regular" panose="02020503050405090304" charset="0"/>
              <a:sym typeface="+mn-ea"/>
            </a:endParaRPr>
          </a:p>
        </p:txBody>
      </p:sp>
      <p:grpSp>
        <p:nvGrpSpPr>
          <p:cNvPr id="19" name="组合 18"/>
          <p:cNvGrpSpPr/>
          <p:nvPr/>
        </p:nvGrpSpPr>
        <p:grpSpPr>
          <a:xfrm>
            <a:off x="9706610" y="3758565"/>
            <a:ext cx="621030" cy="577215"/>
            <a:chOff x="14301" y="4165"/>
            <a:chExt cx="1890" cy="1890"/>
          </a:xfrm>
        </p:grpSpPr>
        <p:pic>
          <p:nvPicPr>
            <p:cNvPr id="17" name="图片 16" descr="花边圆形"/>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301" y="4165"/>
              <a:ext cx="1890" cy="1890"/>
            </a:xfrm>
            <a:prstGeom prst="rect">
              <a:avLst/>
            </a:prstGeom>
          </p:spPr>
        </p:pic>
        <p:sp>
          <p:nvSpPr>
            <p:cNvPr id="18" name="文本框 17"/>
            <p:cNvSpPr txBox="1"/>
            <p:nvPr/>
          </p:nvSpPr>
          <p:spPr>
            <a:xfrm>
              <a:off x="14303" y="4699"/>
              <a:ext cx="1888" cy="642"/>
            </a:xfrm>
            <a:prstGeom prst="rect">
              <a:avLst/>
            </a:prstGeom>
            <a:noFill/>
          </p:spPr>
          <p:txBody>
            <a:bodyPr wrap="square" rtlCol="0">
              <a:noAutofit/>
            </a:bodyPr>
            <a:p>
              <a:r>
                <a:rPr lang="en-US" altLang="zh-CN" sz="1200" b="1">
                  <a:latin typeface="Arial" panose="020B0604020202090204" pitchFamily="34" charset="0"/>
                  <a:cs typeface="Arial" panose="020B0604020202090204" pitchFamily="34" charset="0"/>
                </a:rPr>
                <a:t>LLMs</a:t>
              </a:r>
              <a:endParaRPr lang="en-US" altLang="zh-CN" sz="1200" b="1">
                <a:latin typeface="Arial" panose="020B0604020202090204" pitchFamily="34" charset="0"/>
                <a:cs typeface="Arial" panose="020B0604020202090204" pitchFamily="34" charset="0"/>
              </a:endParaRPr>
            </a:p>
          </p:txBody>
        </p:sp>
      </p:grpSp>
      <p:sp>
        <p:nvSpPr>
          <p:cNvPr id="12" name="圆角矩形 11"/>
          <p:cNvSpPr/>
          <p:nvPr/>
        </p:nvSpPr>
        <p:spPr>
          <a:xfrm>
            <a:off x="728980" y="3921760"/>
            <a:ext cx="4512945" cy="2265680"/>
          </a:xfrm>
          <a:prstGeom prst="roundRect">
            <a:avLst/>
          </a:prstGeom>
          <a:noFill/>
          <a:ln w="19050">
            <a:solidFill>
              <a:srgbClr val="00489D"/>
            </a:solidFill>
            <a:prstDash val="dashDot"/>
          </a:ln>
          <a:extLst>
            <a:ext uri="{909E8E84-426E-40DD-AFC4-6F175D3DCCD1}">
              <a14:hiddenFill xmlns:a14="http://schemas.microsoft.com/office/drawing/2010/main">
                <a:solidFill>
                  <a:srgbClr val="E6F1F8"/>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844550" y="4335780"/>
            <a:ext cx="4265930" cy="1906905"/>
          </a:xfrm>
          <a:prstGeom prst="rect">
            <a:avLst/>
          </a:prstGeom>
          <a:noFill/>
        </p:spPr>
        <p:txBody>
          <a:bodyPr wrap="square" rtlCol="0">
            <a:noAutofit/>
          </a:bodyPr>
          <a:p>
            <a:pPr algn="l">
              <a:buClrTx/>
              <a:buSzTx/>
              <a:buFontTx/>
            </a:pPr>
            <a:r>
              <a:rPr kumimoji="1" lang="zh-CN" altLang="en-US" dirty="0"/>
              <a:t>按照上述表格要求，设置规则与prompt对文献进行批量信息提取。以</a:t>
            </a:r>
            <a:r>
              <a:rPr kumimoji="1" lang="zh-CN" altLang="en-US" dirty="0"/>
              <a:t>右侧获取的配方数据为例，不同文献对于比例的描述不一致，但LLMs能够根据不同的描述输出准确的内容。</a:t>
            </a:r>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alphaModFix amt="62000"/>
          </a:blip>
          <a:stretch>
            <a:fillRect/>
          </a:stretch>
        </p:blipFill>
        <p:spPr>
          <a:xfrm>
            <a:off x="5652285" y="965046"/>
            <a:ext cx="7312635" cy="4724864"/>
          </a:xfrm>
          <a:prstGeom prst="rect">
            <a:avLst/>
          </a:prstGeom>
          <a:effectLst>
            <a:softEdge rad="1270000"/>
          </a:effectLst>
        </p:spPr>
      </p:pic>
      <p:sp>
        <p:nvSpPr>
          <p:cNvPr id="68615" name="矩形 14"/>
          <p:cNvSpPr>
            <a:spLocks noChangeArrowheads="1"/>
          </p:cNvSpPr>
          <p:nvPr/>
        </p:nvSpPr>
        <p:spPr bwMode="auto">
          <a:xfrm>
            <a:off x="2064549" y="977493"/>
            <a:ext cx="689546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4800" b="1" dirty="0">
                <a:solidFill>
                  <a:srgbClr val="00489D"/>
                </a:solidFill>
                <a:latin typeface="微软雅黑" charset="-122"/>
                <a:ea typeface="微软雅黑" charset="-122"/>
                <a:sym typeface="+mn-ea"/>
              </a:rPr>
              <a:t>多智能体问答系统的</a:t>
            </a:r>
            <a:r>
              <a:rPr lang="zh-CN" altLang="en-US" sz="4800" b="1" dirty="0">
                <a:solidFill>
                  <a:srgbClr val="00489D"/>
                </a:solidFill>
                <a:latin typeface="微软雅黑" charset="-122"/>
                <a:ea typeface="微软雅黑" charset="-122"/>
                <a:sym typeface="+mn-ea"/>
              </a:rPr>
              <a:t>搭建</a:t>
            </a:r>
            <a:endParaRPr lang="zh-CN" altLang="en-US" sz="4800" b="1" dirty="0">
              <a:solidFill>
                <a:srgbClr val="00489D"/>
              </a:solidFill>
              <a:latin typeface="微软雅黑" charset="-122"/>
              <a:ea typeface="微软雅黑" charset="-122"/>
              <a:sym typeface="+mn-ea"/>
            </a:endParaRPr>
          </a:p>
        </p:txBody>
      </p:sp>
      <p:grpSp>
        <p:nvGrpSpPr>
          <p:cNvPr id="68616" name="组合 12"/>
          <p:cNvGrpSpPr/>
          <p:nvPr/>
        </p:nvGrpSpPr>
        <p:grpSpPr bwMode="auto">
          <a:xfrm>
            <a:off x="535135" y="731169"/>
            <a:ext cx="1450538" cy="1322377"/>
            <a:chOff x="2147" y="3559"/>
            <a:chExt cx="1712" cy="2083"/>
          </a:xfrm>
        </p:grpSpPr>
        <p:sp>
          <p:nvSpPr>
            <p:cNvPr id="68622" name="文本框 13"/>
            <p:cNvSpPr txBox="1">
              <a:spLocks noChangeArrowheads="1"/>
            </p:cNvSpPr>
            <p:nvPr/>
          </p:nvSpPr>
          <p:spPr bwMode="auto">
            <a:xfrm>
              <a:off x="2147" y="3559"/>
              <a:ext cx="1712" cy="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8000" dirty="0">
                  <a:solidFill>
                    <a:srgbClr val="8497B0"/>
                  </a:solidFill>
                  <a:latin typeface="微软雅黑" charset="-122"/>
                  <a:ea typeface="微软雅黑" charset="-122"/>
                </a:rPr>
                <a:t>03</a:t>
              </a:r>
              <a:endParaRPr lang="en-US" altLang="zh-CN" sz="8000" dirty="0">
                <a:solidFill>
                  <a:srgbClr val="8497B0"/>
                </a:solidFill>
                <a:latin typeface="微软雅黑" charset="-122"/>
                <a:ea typeface="微软雅黑" charset="-122"/>
              </a:endParaRPr>
            </a:p>
          </p:txBody>
        </p:sp>
        <p:cxnSp>
          <p:nvCxnSpPr>
            <p:cNvPr id="22" name="直接连接符 21"/>
            <p:cNvCxnSpPr/>
            <p:nvPr/>
          </p:nvCxnSpPr>
          <p:spPr>
            <a:xfrm>
              <a:off x="3784" y="3559"/>
              <a:ext cx="0" cy="1954"/>
            </a:xfrm>
            <a:prstGeom prst="line">
              <a:avLst/>
            </a:prstGeom>
            <a:ln w="63500">
              <a:solidFill>
                <a:srgbClr val="8497B0"/>
              </a:solidFill>
            </a:ln>
          </p:spPr>
          <p:style>
            <a:lnRef idx="1">
              <a:schemeClr val="accent1"/>
            </a:lnRef>
            <a:fillRef idx="0">
              <a:schemeClr val="accent1"/>
            </a:fillRef>
            <a:effectRef idx="0">
              <a:schemeClr val="accent1"/>
            </a:effectRef>
            <a:fontRef idx="minor">
              <a:schemeClr val="tx1"/>
            </a:fontRef>
          </p:style>
        </p:cxnSp>
      </p:grpSp>
      <p:pic>
        <p:nvPicPr>
          <p:cNvPr id="27" name="Picture 3" descr="C:\Users\wangxin51\Desktop\未标题-5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0791" y="-48987"/>
            <a:ext cx="3025392" cy="170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组合 7"/>
          <p:cNvGrpSpPr/>
          <p:nvPr/>
        </p:nvGrpSpPr>
        <p:grpSpPr bwMode="auto">
          <a:xfrm>
            <a:off x="3073400" y="6181183"/>
            <a:ext cx="5059363" cy="339725"/>
            <a:chOff x="3128248" y="3176495"/>
            <a:chExt cx="6746291" cy="453608"/>
          </a:xfrm>
        </p:grpSpPr>
        <p:sp>
          <p:nvSpPr>
            <p:cNvPr id="29" name="TextBox 8"/>
            <p:cNvSpPr txBox="1">
              <a:spLocks noChangeArrowheads="1"/>
            </p:cNvSpPr>
            <p:nvPr/>
          </p:nvSpPr>
          <p:spPr bwMode="auto">
            <a:xfrm>
              <a:off x="4900023" y="3178614"/>
              <a:ext cx="4974516" cy="451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eaLnBrk="1" hangingPunct="1">
                <a:defRPr/>
              </a:pPr>
              <a:r>
                <a:rPr lang="en-US" altLang="zh-CN" sz="1600" dirty="0">
                  <a:solidFill>
                    <a:srgbClr val="595959"/>
                  </a:solidFill>
                  <a:latin typeface="微软雅黑" charset="-122"/>
                  <a:ea typeface="微软雅黑" charset="-122"/>
                </a:rPr>
                <a:t>INNOVATION CREATES EXCELLENCE</a:t>
              </a:r>
              <a:endParaRPr lang="bg-BG" altLang="zh-CN" sz="1600" dirty="0">
                <a:solidFill>
                  <a:srgbClr val="595959"/>
                </a:solidFill>
                <a:latin typeface="微软雅黑" charset="-122"/>
                <a:ea typeface="微软雅黑" charset="-122"/>
              </a:endParaRPr>
            </a:p>
          </p:txBody>
        </p:sp>
        <p:sp>
          <p:nvSpPr>
            <p:cNvPr id="35" name="TextBox 9"/>
            <p:cNvSpPr txBox="1">
              <a:spLocks noChangeArrowheads="1"/>
            </p:cNvSpPr>
            <p:nvPr/>
          </p:nvSpPr>
          <p:spPr bwMode="auto">
            <a:xfrm>
              <a:off x="3128248" y="3176495"/>
              <a:ext cx="1784476" cy="43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algn="dist" eaLnBrk="1" hangingPunct="1">
                <a:defRPr/>
              </a:pPr>
              <a:r>
                <a:rPr lang="zh-CN" altLang="en-US" sz="1500">
                  <a:solidFill>
                    <a:srgbClr val="00489D"/>
                  </a:solidFill>
                  <a:latin typeface="微软雅黑" charset="-122"/>
                  <a:ea typeface="微软雅黑" charset="-122"/>
                </a:rPr>
                <a:t>创新成就卓越</a:t>
              </a:r>
              <a:endParaRPr lang="bg-BG" altLang="zh-CN" sz="1500">
                <a:solidFill>
                  <a:srgbClr val="7F7F7F"/>
                </a:solidFill>
                <a:latin typeface="微软雅黑" charset="-122"/>
                <a:ea typeface="微软雅黑" charset="-122"/>
              </a:endParaRPr>
            </a:p>
          </p:txBody>
        </p:sp>
      </p:grpSp>
      <p:pic>
        <p:nvPicPr>
          <p:cNvPr id="32" name="Picture 2" descr="C:\Users\wangxin51\Desktop\未标题-3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3572287"/>
            <a:ext cx="12192001" cy="4235247"/>
          </a:xfrm>
          <a:prstGeom prst="rect">
            <a:avLst/>
          </a:prstGeom>
          <a:noFill/>
          <a:ln>
            <a:noFill/>
          </a:ln>
          <a:effectLst>
            <a:glow rad="635000">
              <a:schemeClr val="accent1">
                <a:satMod val="175000"/>
                <a:alpha val="20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p:cNvPicPr>
            <a:picLocks noChangeAspect="1"/>
          </p:cNvPicPr>
          <p:nvPr/>
        </p:nvPicPr>
        <p:blipFill>
          <a:blip r:embed="rId4"/>
          <a:stretch>
            <a:fillRect/>
          </a:stretch>
        </p:blipFill>
        <p:spPr>
          <a:xfrm>
            <a:off x="261143" y="1811325"/>
            <a:ext cx="6962775" cy="4152900"/>
          </a:xfrm>
          <a:prstGeom prst="rect">
            <a:avLst/>
          </a:prstGeom>
          <a:effectLst>
            <a:softEdge rad="12700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p:nvGrpSpPr>
        <p:grpSpPr>
          <a:xfrm>
            <a:off x="380365" y="2585720"/>
            <a:ext cx="1223645" cy="2009775"/>
            <a:chOff x="958" y="3184"/>
            <a:chExt cx="1927" cy="3165"/>
          </a:xfrm>
        </p:grpSpPr>
        <p:pic>
          <p:nvPicPr>
            <p:cNvPr id="3" name="图片 2"/>
            <p:cNvPicPr>
              <a:picLocks noChangeAspect="1"/>
            </p:cNvPicPr>
            <p:nvPr/>
          </p:nvPicPr>
          <p:blipFill>
            <a:blip r:embed="rId1"/>
            <a:stretch>
              <a:fillRect/>
            </a:stretch>
          </p:blipFill>
          <p:spPr>
            <a:xfrm>
              <a:off x="958" y="3422"/>
              <a:ext cx="1926" cy="2216"/>
            </a:xfrm>
            <a:prstGeom prst="rect">
              <a:avLst/>
            </a:prstGeom>
            <a:ln>
              <a:solidFill>
                <a:srgbClr val="000000">
                  <a:alpha val="0"/>
                </a:srgbClr>
              </a:solidFill>
              <a:prstDash val="dash"/>
            </a:ln>
          </p:spPr>
        </p:pic>
        <p:grpSp>
          <p:nvGrpSpPr>
            <p:cNvPr id="9" name="组合 8"/>
            <p:cNvGrpSpPr/>
            <p:nvPr/>
          </p:nvGrpSpPr>
          <p:grpSpPr>
            <a:xfrm>
              <a:off x="958" y="3184"/>
              <a:ext cx="1927" cy="3165"/>
              <a:chOff x="11606" y="101"/>
              <a:chExt cx="2006" cy="992"/>
            </a:xfrm>
          </p:grpSpPr>
          <p:sp>
            <p:nvSpPr>
              <p:cNvPr id="22" name="圆角矩形 21"/>
              <p:cNvSpPr/>
              <p:nvPr/>
            </p:nvSpPr>
            <p:spPr>
              <a:xfrm>
                <a:off x="11607" y="101"/>
                <a:ext cx="2005" cy="992"/>
              </a:xfrm>
              <a:prstGeom prst="roundRect">
                <a:avLst/>
              </a:prstGeom>
              <a:noFill/>
              <a:ln w="19050">
                <a:solidFill>
                  <a:schemeClr val="accent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11606" y="870"/>
                <a:ext cx="2005" cy="223"/>
              </a:xfrm>
              <a:prstGeom prst="rect">
                <a:avLst/>
              </a:prstGeom>
              <a:noFill/>
              <a:ln>
                <a:noFill/>
                <a:prstDash val="dash"/>
              </a:ln>
            </p:spPr>
            <p:txBody>
              <a:bodyPr wrap="square" rtlCol="0">
                <a:noAutofit/>
              </a:bodyPr>
              <a:p>
                <a:pPr algn="ctr">
                  <a:buClrTx/>
                  <a:buSzTx/>
                  <a:buFontTx/>
                </a:pPr>
                <a:r>
                  <a:rPr kumimoji="1" lang="zh-CN" altLang="en-US" sz="1600" dirty="0"/>
                  <a:t>用户提问</a:t>
                </a:r>
                <a:endParaRPr kumimoji="1" lang="zh-CN" altLang="en-US" sz="1600" dirty="0"/>
              </a:p>
            </p:txBody>
          </p:sp>
        </p:grpSp>
      </p:grpSp>
      <p:grpSp>
        <p:nvGrpSpPr>
          <p:cNvPr id="11" name="组合 10"/>
          <p:cNvGrpSpPr/>
          <p:nvPr/>
        </p:nvGrpSpPr>
        <p:grpSpPr>
          <a:xfrm>
            <a:off x="2451100" y="2176145"/>
            <a:ext cx="2306320" cy="2689860"/>
            <a:chOff x="5162" y="4739"/>
            <a:chExt cx="3632" cy="4236"/>
          </a:xfrm>
        </p:grpSpPr>
        <p:pic>
          <p:nvPicPr>
            <p:cNvPr id="4" name="图片 3"/>
            <p:cNvPicPr>
              <a:picLocks noChangeAspect="1"/>
            </p:cNvPicPr>
            <p:nvPr/>
          </p:nvPicPr>
          <p:blipFill>
            <a:blip r:embed="rId2"/>
            <a:stretch>
              <a:fillRect/>
            </a:stretch>
          </p:blipFill>
          <p:spPr>
            <a:xfrm>
              <a:off x="5569" y="5217"/>
              <a:ext cx="2820" cy="2020"/>
            </a:xfrm>
            <a:prstGeom prst="rect">
              <a:avLst/>
            </a:prstGeom>
          </p:spPr>
        </p:pic>
        <p:grpSp>
          <p:nvGrpSpPr>
            <p:cNvPr id="27" name="组合 26"/>
            <p:cNvGrpSpPr/>
            <p:nvPr/>
          </p:nvGrpSpPr>
          <p:grpSpPr>
            <a:xfrm>
              <a:off x="5162" y="4739"/>
              <a:ext cx="3633" cy="4236"/>
              <a:chOff x="10692" y="1868"/>
              <a:chExt cx="3833" cy="1246"/>
            </a:xfrm>
          </p:grpSpPr>
          <p:sp>
            <p:nvSpPr>
              <p:cNvPr id="28" name="圆角矩形 27"/>
              <p:cNvSpPr/>
              <p:nvPr/>
            </p:nvSpPr>
            <p:spPr>
              <a:xfrm>
                <a:off x="10692" y="1868"/>
                <a:ext cx="3833" cy="1246"/>
              </a:xfrm>
              <a:prstGeom prst="roundRect">
                <a:avLst/>
              </a:prstGeom>
              <a:noFill/>
              <a:ln w="19050">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文本框 28"/>
              <p:cNvSpPr txBox="1"/>
              <p:nvPr/>
            </p:nvSpPr>
            <p:spPr>
              <a:xfrm>
                <a:off x="10693" y="2746"/>
                <a:ext cx="3831" cy="209"/>
              </a:xfrm>
              <a:prstGeom prst="rect">
                <a:avLst/>
              </a:prstGeom>
              <a:noFill/>
            </p:spPr>
            <p:txBody>
              <a:bodyPr wrap="square" rtlCol="0">
                <a:noAutofit/>
              </a:bodyPr>
              <a:p>
                <a:pPr algn="ctr"/>
                <a:r>
                  <a:rPr lang="zh-CN" altLang="en-US" sz="1600"/>
                  <a:t>决策指挥官</a:t>
                </a:r>
                <a:r>
                  <a:rPr lang="en-US" altLang="zh-CN" sz="1600"/>
                  <a:t>Agent</a:t>
                </a:r>
                <a:r>
                  <a:rPr lang="zh-CN" altLang="en-US" sz="1600"/>
                  <a:t>进行问题分析与</a:t>
                </a:r>
                <a:r>
                  <a:rPr lang="zh-CN" altLang="en-US" sz="1600"/>
                  <a:t>路由</a:t>
                </a:r>
                <a:endParaRPr lang="zh-CN" altLang="en-US" sz="1600"/>
              </a:p>
            </p:txBody>
          </p:sp>
        </p:grpSp>
      </p:grpSp>
      <p:grpSp>
        <p:nvGrpSpPr>
          <p:cNvPr id="12" name="组合 11"/>
          <p:cNvGrpSpPr/>
          <p:nvPr/>
        </p:nvGrpSpPr>
        <p:grpSpPr>
          <a:xfrm>
            <a:off x="9157970" y="771525"/>
            <a:ext cx="1951990" cy="1640840"/>
            <a:chOff x="10076" y="1567"/>
            <a:chExt cx="3074" cy="2584"/>
          </a:xfrm>
        </p:grpSpPr>
        <p:pic>
          <p:nvPicPr>
            <p:cNvPr id="8" name="图片 7"/>
            <p:cNvPicPr>
              <a:picLocks noChangeAspect="1"/>
            </p:cNvPicPr>
            <p:nvPr/>
          </p:nvPicPr>
          <p:blipFill>
            <a:blip r:embed="rId3"/>
            <a:stretch>
              <a:fillRect/>
            </a:stretch>
          </p:blipFill>
          <p:spPr>
            <a:xfrm>
              <a:off x="10383" y="1611"/>
              <a:ext cx="2460" cy="2080"/>
            </a:xfrm>
            <a:prstGeom prst="rect">
              <a:avLst/>
            </a:prstGeom>
          </p:spPr>
        </p:pic>
        <p:grpSp>
          <p:nvGrpSpPr>
            <p:cNvPr id="54" name="组合 53"/>
            <p:cNvGrpSpPr/>
            <p:nvPr/>
          </p:nvGrpSpPr>
          <p:grpSpPr>
            <a:xfrm>
              <a:off x="10076" y="1567"/>
              <a:ext cx="3074" cy="2584"/>
              <a:chOff x="11607" y="-2492"/>
              <a:chExt cx="2005" cy="3585"/>
            </a:xfrm>
          </p:grpSpPr>
          <p:sp>
            <p:nvSpPr>
              <p:cNvPr id="55" name="圆角矩形 54"/>
              <p:cNvSpPr/>
              <p:nvPr/>
            </p:nvSpPr>
            <p:spPr>
              <a:xfrm>
                <a:off x="11607" y="-2492"/>
                <a:ext cx="2005" cy="3585"/>
              </a:xfrm>
              <a:prstGeom prst="roundRect">
                <a:avLst/>
              </a:prstGeom>
              <a:noFill/>
              <a:ln w="19050">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6" name="文本框 55"/>
              <p:cNvSpPr txBox="1"/>
              <p:nvPr/>
            </p:nvSpPr>
            <p:spPr>
              <a:xfrm>
                <a:off x="11607" y="207"/>
                <a:ext cx="2005" cy="775"/>
              </a:xfrm>
              <a:prstGeom prst="rect">
                <a:avLst/>
              </a:prstGeom>
              <a:noFill/>
            </p:spPr>
            <p:txBody>
              <a:bodyPr wrap="square" rtlCol="0">
                <a:noAutofit/>
              </a:bodyPr>
              <a:p>
                <a:pPr algn="ctr">
                  <a:buClrTx/>
                  <a:buSzTx/>
                  <a:buFontTx/>
                </a:pPr>
                <a:r>
                  <a:rPr kumimoji="1" lang="zh-CN" altLang="en-US" sz="1600" dirty="0"/>
                  <a:t>精确语义</a:t>
                </a:r>
                <a:r>
                  <a:rPr kumimoji="1" lang="en-US" altLang="zh-CN" sz="1600" dirty="0"/>
                  <a:t>agent</a:t>
                </a:r>
                <a:endParaRPr kumimoji="1" lang="en-US" altLang="zh-CN" sz="1600" dirty="0"/>
              </a:p>
            </p:txBody>
          </p:sp>
        </p:grpSp>
      </p:grpSp>
      <p:grpSp>
        <p:nvGrpSpPr>
          <p:cNvPr id="14" name="组合 13"/>
          <p:cNvGrpSpPr/>
          <p:nvPr/>
        </p:nvGrpSpPr>
        <p:grpSpPr>
          <a:xfrm>
            <a:off x="9157970" y="2736850"/>
            <a:ext cx="1951990" cy="1766570"/>
            <a:chOff x="8106" y="4891"/>
            <a:chExt cx="3074" cy="2782"/>
          </a:xfrm>
        </p:grpSpPr>
        <p:pic>
          <p:nvPicPr>
            <p:cNvPr id="6" name="图片 5"/>
            <p:cNvPicPr>
              <a:picLocks noChangeAspect="1"/>
            </p:cNvPicPr>
            <p:nvPr/>
          </p:nvPicPr>
          <p:blipFill>
            <a:blip r:embed="rId4"/>
            <a:stretch>
              <a:fillRect/>
            </a:stretch>
          </p:blipFill>
          <p:spPr>
            <a:xfrm>
              <a:off x="8463" y="4891"/>
              <a:ext cx="2360" cy="2040"/>
            </a:xfrm>
            <a:prstGeom prst="rect">
              <a:avLst/>
            </a:prstGeom>
          </p:spPr>
        </p:pic>
        <p:grpSp>
          <p:nvGrpSpPr>
            <p:cNvPr id="36" name="组合 35"/>
            <p:cNvGrpSpPr/>
            <p:nvPr/>
          </p:nvGrpSpPr>
          <p:grpSpPr>
            <a:xfrm>
              <a:off x="8106" y="4891"/>
              <a:ext cx="3074" cy="2782"/>
              <a:chOff x="11607" y="101"/>
              <a:chExt cx="2005" cy="992"/>
            </a:xfrm>
          </p:grpSpPr>
          <p:sp>
            <p:nvSpPr>
              <p:cNvPr id="37" name="圆角矩形 36"/>
              <p:cNvSpPr/>
              <p:nvPr/>
            </p:nvSpPr>
            <p:spPr>
              <a:xfrm>
                <a:off x="11607" y="101"/>
                <a:ext cx="2005" cy="992"/>
              </a:xfrm>
              <a:prstGeom prst="roundRect">
                <a:avLst/>
              </a:prstGeom>
              <a:noFill/>
              <a:ln w="19050">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文本框 37"/>
              <p:cNvSpPr txBox="1"/>
              <p:nvPr/>
            </p:nvSpPr>
            <p:spPr>
              <a:xfrm>
                <a:off x="11607" y="829"/>
                <a:ext cx="2005" cy="215"/>
              </a:xfrm>
              <a:prstGeom prst="rect">
                <a:avLst/>
              </a:prstGeom>
              <a:noFill/>
            </p:spPr>
            <p:txBody>
              <a:bodyPr wrap="square" rtlCol="0">
                <a:noAutofit/>
              </a:bodyPr>
              <a:p>
                <a:pPr algn="ctr">
                  <a:buClrTx/>
                  <a:buSzTx/>
                  <a:buFontTx/>
                </a:pPr>
                <a:r>
                  <a:rPr kumimoji="1" lang="zh-CN" altLang="en-US" sz="1600" dirty="0"/>
                  <a:t>微观语义</a:t>
                </a:r>
                <a:r>
                  <a:rPr kumimoji="1" lang="en-US" altLang="zh-CN" sz="1600" dirty="0"/>
                  <a:t>agent</a:t>
                </a:r>
                <a:endParaRPr kumimoji="1" lang="en-US" altLang="zh-CN" sz="1600" dirty="0"/>
              </a:p>
            </p:txBody>
          </p:sp>
        </p:grpSp>
      </p:grpSp>
      <p:grpSp>
        <p:nvGrpSpPr>
          <p:cNvPr id="17" name="组合 16"/>
          <p:cNvGrpSpPr/>
          <p:nvPr/>
        </p:nvGrpSpPr>
        <p:grpSpPr>
          <a:xfrm>
            <a:off x="9157970" y="4620895"/>
            <a:ext cx="1951990" cy="1921510"/>
            <a:chOff x="14226" y="5934"/>
            <a:chExt cx="3074" cy="3026"/>
          </a:xfrm>
        </p:grpSpPr>
        <p:pic>
          <p:nvPicPr>
            <p:cNvPr id="7" name="图片 6"/>
            <p:cNvPicPr>
              <a:picLocks noChangeAspect="1"/>
            </p:cNvPicPr>
            <p:nvPr/>
          </p:nvPicPr>
          <p:blipFill>
            <a:blip r:embed="rId5"/>
            <a:stretch>
              <a:fillRect/>
            </a:stretch>
          </p:blipFill>
          <p:spPr>
            <a:xfrm>
              <a:off x="14226" y="6068"/>
              <a:ext cx="3060" cy="2180"/>
            </a:xfrm>
            <a:prstGeom prst="rect">
              <a:avLst/>
            </a:prstGeom>
          </p:spPr>
        </p:pic>
        <p:grpSp>
          <p:nvGrpSpPr>
            <p:cNvPr id="57" name="组合 56"/>
            <p:cNvGrpSpPr/>
            <p:nvPr/>
          </p:nvGrpSpPr>
          <p:grpSpPr>
            <a:xfrm>
              <a:off x="14226" y="5934"/>
              <a:ext cx="3074" cy="3027"/>
              <a:chOff x="11607" y="193"/>
              <a:chExt cx="2005" cy="900"/>
            </a:xfrm>
          </p:grpSpPr>
          <p:sp>
            <p:nvSpPr>
              <p:cNvPr id="15" name="圆角矩形 14"/>
              <p:cNvSpPr/>
              <p:nvPr/>
            </p:nvSpPr>
            <p:spPr>
              <a:xfrm>
                <a:off x="11607" y="193"/>
                <a:ext cx="2005" cy="900"/>
              </a:xfrm>
              <a:prstGeom prst="roundRect">
                <a:avLst/>
              </a:prstGeom>
              <a:noFill/>
              <a:ln w="19050">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文本框 58"/>
              <p:cNvSpPr txBox="1"/>
              <p:nvPr/>
            </p:nvSpPr>
            <p:spPr>
              <a:xfrm>
                <a:off x="11607" y="881"/>
                <a:ext cx="2005" cy="166"/>
              </a:xfrm>
              <a:prstGeom prst="rect">
                <a:avLst/>
              </a:prstGeom>
              <a:noFill/>
            </p:spPr>
            <p:txBody>
              <a:bodyPr wrap="square" rtlCol="0">
                <a:noAutofit/>
              </a:bodyPr>
              <a:p>
                <a:pPr algn="ctr">
                  <a:buClrTx/>
                  <a:buSzTx/>
                  <a:buFontTx/>
                </a:pPr>
                <a:r>
                  <a:rPr kumimoji="1" lang="zh-CN" altLang="en-US" sz="1600" dirty="0"/>
                  <a:t>宏观语义</a:t>
                </a:r>
                <a:r>
                  <a:rPr kumimoji="1" lang="en-US" altLang="zh-CN" sz="1600" dirty="0"/>
                  <a:t>agent</a:t>
                </a:r>
                <a:endParaRPr kumimoji="1" lang="en-US" altLang="zh-CN" sz="1600" dirty="0"/>
              </a:p>
            </p:txBody>
          </p:sp>
        </p:grpSp>
      </p:grpSp>
      <p:grpSp>
        <p:nvGrpSpPr>
          <p:cNvPr id="48" name="组合 47"/>
          <p:cNvGrpSpPr/>
          <p:nvPr/>
        </p:nvGrpSpPr>
        <p:grpSpPr>
          <a:xfrm>
            <a:off x="5623560" y="1136015"/>
            <a:ext cx="2775610" cy="626668"/>
            <a:chOff x="10343" y="3456"/>
            <a:chExt cx="4612" cy="1371"/>
          </a:xfrm>
        </p:grpSpPr>
        <p:sp>
          <p:nvSpPr>
            <p:cNvPr id="49" name="矩形 48"/>
            <p:cNvSpPr/>
            <p:nvPr/>
          </p:nvSpPr>
          <p:spPr>
            <a:xfrm>
              <a:off x="10343" y="3456"/>
              <a:ext cx="4611" cy="1325"/>
            </a:xfrm>
            <a:prstGeom prst="rect">
              <a:avLst/>
            </a:prstGeom>
            <a:solidFill>
              <a:schemeClr val="tx2">
                <a:lumMod val="20000"/>
                <a:lumOff val="8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10344" y="3500"/>
              <a:ext cx="4611" cy="1327"/>
            </a:xfrm>
            <a:prstGeom prst="rect">
              <a:avLst/>
            </a:prstGeom>
            <a:noFill/>
          </p:spPr>
          <p:txBody>
            <a:bodyPr wrap="square" rtlCol="0">
              <a:noAutofit/>
            </a:bodyPr>
            <a:p>
              <a:pPr algn="ctr"/>
              <a:r>
                <a:rPr lang="zh-CN" altLang="en-US" sz="1600"/>
                <a:t>“</a:t>
              </a:r>
              <a:r>
                <a:rPr lang="zh-CN" altLang="en-US" sz="1600"/>
                <a:t>精确语义</a:t>
              </a:r>
              <a:r>
                <a:rPr lang="zh-CN" altLang="en-US" sz="1600"/>
                <a:t>查询”</a:t>
              </a:r>
              <a:endParaRPr lang="zh-CN" altLang="en-US" sz="1600"/>
            </a:p>
            <a:p>
              <a:pPr algn="ctr"/>
              <a:r>
                <a:rPr lang="zh-CN" altLang="en-US" sz="1600">
                  <a:sym typeface="+mn-ea"/>
                </a:rPr>
                <a:t>例</a:t>
              </a:r>
              <a:r>
                <a:rPr lang="zh-CN" altLang="en-US" sz="1600">
                  <a:sym typeface="+mn-ea"/>
                </a:rPr>
                <a:t>：压实密度 &gt; 2.5</a:t>
              </a:r>
              <a:r>
                <a:rPr lang="en-US" altLang="zh-CN"/>
                <a:t>？</a:t>
              </a:r>
              <a:endParaRPr lang="en-US" altLang="zh-CN"/>
            </a:p>
          </p:txBody>
        </p:sp>
      </p:grpSp>
      <p:grpSp>
        <p:nvGrpSpPr>
          <p:cNvPr id="32" name="组合 31"/>
          <p:cNvGrpSpPr/>
          <p:nvPr/>
        </p:nvGrpSpPr>
        <p:grpSpPr>
          <a:xfrm>
            <a:off x="5449009" y="3342640"/>
            <a:ext cx="3174708" cy="612574"/>
            <a:chOff x="10343" y="3456"/>
            <a:chExt cx="4726" cy="1340"/>
          </a:xfrm>
        </p:grpSpPr>
        <p:sp>
          <p:nvSpPr>
            <p:cNvPr id="34" name="矩形 33"/>
            <p:cNvSpPr/>
            <p:nvPr/>
          </p:nvSpPr>
          <p:spPr>
            <a:xfrm>
              <a:off x="10343" y="3456"/>
              <a:ext cx="4611" cy="1325"/>
            </a:xfrm>
            <a:prstGeom prst="rect">
              <a:avLst/>
            </a:prstGeom>
            <a:solidFill>
              <a:schemeClr val="tx2">
                <a:lumMod val="20000"/>
                <a:lumOff val="8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nvSpPr>
          <p:spPr>
            <a:xfrm>
              <a:off x="10447" y="3469"/>
              <a:ext cx="4622" cy="1327"/>
            </a:xfrm>
            <a:prstGeom prst="rect">
              <a:avLst/>
            </a:prstGeom>
            <a:noFill/>
          </p:spPr>
          <p:txBody>
            <a:bodyPr wrap="square" rtlCol="0">
              <a:noAutofit/>
            </a:bodyPr>
            <a:p>
              <a:pPr algn="ctr"/>
              <a:r>
                <a:rPr lang="zh-CN" altLang="en-US" sz="1600"/>
                <a:t>“微观语义</a:t>
              </a:r>
              <a:r>
                <a:rPr lang="zh-CN" altLang="en-US" sz="1600"/>
                <a:t>查询”</a:t>
              </a:r>
              <a:endParaRPr lang="zh-CN" altLang="en-US" sz="1600"/>
            </a:p>
            <a:p>
              <a:pPr algn="ctr"/>
              <a:r>
                <a:rPr lang="zh-CN" altLang="en-US" sz="1600"/>
                <a:t>例</a:t>
              </a:r>
              <a:r>
                <a:rPr lang="en-US" altLang="zh-CN" sz="1600"/>
                <a:t>：</a:t>
              </a:r>
              <a:r>
                <a:rPr lang="zh-CN" altLang="en-US" sz="1600"/>
                <a:t>磷酸铁锂工艺路线之间</a:t>
              </a:r>
              <a:r>
                <a:rPr lang="zh-CN" altLang="en-US" sz="1600"/>
                <a:t>差异</a:t>
              </a:r>
              <a:r>
                <a:rPr lang="en-US" altLang="zh-CN"/>
                <a:t>？</a:t>
              </a:r>
              <a:endParaRPr lang="en-US" altLang="zh-CN"/>
            </a:p>
          </p:txBody>
        </p:sp>
      </p:grpSp>
      <p:grpSp>
        <p:nvGrpSpPr>
          <p:cNvPr id="51" name="组合 50"/>
          <p:cNvGrpSpPr/>
          <p:nvPr/>
        </p:nvGrpSpPr>
        <p:grpSpPr>
          <a:xfrm>
            <a:off x="5570855" y="5452745"/>
            <a:ext cx="2775610" cy="626668"/>
            <a:chOff x="10343" y="3456"/>
            <a:chExt cx="4612" cy="1371"/>
          </a:xfrm>
        </p:grpSpPr>
        <p:sp>
          <p:nvSpPr>
            <p:cNvPr id="52" name="矩形 51"/>
            <p:cNvSpPr/>
            <p:nvPr/>
          </p:nvSpPr>
          <p:spPr>
            <a:xfrm>
              <a:off x="10343" y="3456"/>
              <a:ext cx="4611" cy="1325"/>
            </a:xfrm>
            <a:prstGeom prst="rect">
              <a:avLst/>
            </a:prstGeom>
            <a:solidFill>
              <a:schemeClr val="tx2">
                <a:lumMod val="20000"/>
                <a:lumOff val="8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文本框 52"/>
            <p:cNvSpPr txBox="1"/>
            <p:nvPr/>
          </p:nvSpPr>
          <p:spPr>
            <a:xfrm>
              <a:off x="10344" y="3500"/>
              <a:ext cx="4611" cy="1327"/>
            </a:xfrm>
            <a:prstGeom prst="rect">
              <a:avLst/>
            </a:prstGeom>
            <a:noFill/>
          </p:spPr>
          <p:txBody>
            <a:bodyPr wrap="square" rtlCol="0">
              <a:noAutofit/>
            </a:bodyPr>
            <a:p>
              <a:pPr algn="ctr"/>
              <a:r>
                <a:rPr lang="zh-CN" altLang="en-US" sz="1600"/>
                <a:t>“</a:t>
              </a:r>
              <a:r>
                <a:rPr lang="zh-CN" altLang="en-US" sz="1600"/>
                <a:t>宏观语义</a:t>
              </a:r>
              <a:r>
                <a:rPr lang="zh-CN" altLang="en-US" sz="1600"/>
                <a:t>查询”</a:t>
              </a:r>
              <a:endParaRPr lang="zh-CN" altLang="en-US" sz="1600"/>
            </a:p>
            <a:p>
              <a:pPr algn="ctr"/>
              <a:r>
                <a:rPr lang="zh-CN" altLang="en-US" sz="1600">
                  <a:sym typeface="+mn-ea"/>
                </a:rPr>
                <a:t>例：当前领域的研究趋势</a:t>
              </a:r>
              <a:r>
                <a:rPr lang="en-US" altLang="zh-CN"/>
                <a:t>？</a:t>
              </a:r>
              <a:endParaRPr lang="en-US" altLang="zh-CN"/>
            </a:p>
          </p:txBody>
        </p:sp>
      </p:grpSp>
      <p:cxnSp>
        <p:nvCxnSpPr>
          <p:cNvPr id="19" name="直接箭头连接符 18"/>
          <p:cNvCxnSpPr/>
          <p:nvPr/>
        </p:nvCxnSpPr>
        <p:spPr>
          <a:xfrm>
            <a:off x="1651000" y="3590925"/>
            <a:ext cx="753745" cy="0"/>
          </a:xfrm>
          <a:prstGeom prst="straightConnector1">
            <a:avLst/>
          </a:prstGeom>
          <a:ln w="12700"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cxnSp>
        <p:nvCxnSpPr>
          <p:cNvPr id="20" name="肘形连接符 19"/>
          <p:cNvCxnSpPr/>
          <p:nvPr/>
        </p:nvCxnSpPr>
        <p:spPr>
          <a:xfrm flipV="1">
            <a:off x="4730115" y="1813560"/>
            <a:ext cx="4301490" cy="1670685"/>
          </a:xfrm>
          <a:prstGeom prst="bentConnector3">
            <a:avLst>
              <a:gd name="adj1" fmla="val 7764"/>
            </a:avLst>
          </a:prstGeom>
          <a:ln w="12700"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cxnSp>
        <p:nvCxnSpPr>
          <p:cNvPr id="24" name="肘形连接符 23"/>
          <p:cNvCxnSpPr/>
          <p:nvPr/>
        </p:nvCxnSpPr>
        <p:spPr>
          <a:xfrm>
            <a:off x="5074920" y="3491230"/>
            <a:ext cx="4008120" cy="517525"/>
          </a:xfrm>
          <a:prstGeom prst="bentConnector3">
            <a:avLst>
              <a:gd name="adj1" fmla="val -205"/>
            </a:avLst>
          </a:prstGeom>
          <a:ln w="12700"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cxnSp>
        <p:nvCxnSpPr>
          <p:cNvPr id="25" name="肘形连接符 24"/>
          <p:cNvCxnSpPr/>
          <p:nvPr/>
        </p:nvCxnSpPr>
        <p:spPr>
          <a:xfrm>
            <a:off x="5083810" y="4008755"/>
            <a:ext cx="3971290" cy="2111375"/>
          </a:xfrm>
          <a:prstGeom prst="bentConnector3">
            <a:avLst>
              <a:gd name="adj1" fmla="val -335"/>
            </a:avLst>
          </a:prstGeom>
          <a:ln w="12700"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sp>
        <p:nvSpPr>
          <p:cNvPr id="39" name="文本占位符 1"/>
          <p:cNvSpPr txBox="1"/>
          <p:nvPr/>
        </p:nvSpPr>
        <p:spPr>
          <a:xfrm>
            <a:off x="608291" y="275509"/>
            <a:ext cx="6639560" cy="363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2200" b="1" u="none" strike="noStrike" kern="1200" cap="none" spc="100" normalizeH="0">
                <a:solidFill>
                  <a:srgbClr val="00489D"/>
                </a:solidFill>
                <a:uFillTx/>
                <a:latin typeface="微软雅黑" charset="-122"/>
                <a:ea typeface="微软雅黑"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r>
              <a:rPr lang="en-US" altLang="zh-CN" dirty="0"/>
              <a:t>03 </a:t>
            </a:r>
            <a:r>
              <a:rPr lang="zh-CN" altLang="en-US" dirty="0"/>
              <a:t>多智能体问答系统的</a:t>
            </a:r>
            <a:r>
              <a:rPr lang="zh-CN" altLang="en-US" dirty="0"/>
              <a:t>搭建</a:t>
            </a:r>
            <a:endParaRPr lang="zh-CN" altLang="en-US" dirty="0"/>
          </a:p>
        </p:txBody>
      </p:sp>
      <p:sp>
        <p:nvSpPr>
          <p:cNvPr id="40" name="文本框 39"/>
          <p:cNvSpPr txBox="1"/>
          <p:nvPr/>
        </p:nvSpPr>
        <p:spPr>
          <a:xfrm>
            <a:off x="1181295" y="695845"/>
            <a:ext cx="6801562" cy="398780"/>
          </a:xfrm>
          <a:prstGeom prst="rect">
            <a:avLst/>
          </a:prstGeom>
          <a:noFill/>
        </p:spPr>
        <p:txBody>
          <a:bodyPr wrap="square">
            <a:spAutoFit/>
          </a:bodyPr>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多智能体</a:t>
            </a:r>
            <a:r>
              <a:rPr lang="zh-CN" altLang="en-US" sz="2000" b="1" dirty="0">
                <a:latin typeface="黑体" panose="02010609060101010101" pitchFamily="49" charset="-122"/>
                <a:ea typeface="黑体" panose="02010609060101010101" pitchFamily="49" charset="-122"/>
              </a:rPr>
              <a:t>系统</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图片 86"/>
          <p:cNvPicPr>
            <a:picLocks noChangeAspect="1"/>
          </p:cNvPicPr>
          <p:nvPr/>
        </p:nvPicPr>
        <p:blipFill>
          <a:blip r:embed="rId1"/>
          <a:stretch>
            <a:fillRect/>
          </a:stretch>
        </p:blipFill>
        <p:spPr>
          <a:xfrm>
            <a:off x="695960" y="958215"/>
            <a:ext cx="6918960" cy="3064510"/>
          </a:xfrm>
          <a:prstGeom prst="rect">
            <a:avLst/>
          </a:prstGeom>
        </p:spPr>
      </p:pic>
      <p:sp>
        <p:nvSpPr>
          <p:cNvPr id="24" name="文本占位符 1"/>
          <p:cNvSpPr txBox="1"/>
          <p:nvPr/>
        </p:nvSpPr>
        <p:spPr>
          <a:xfrm>
            <a:off x="608291" y="275509"/>
            <a:ext cx="6639560" cy="363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2200" b="1" u="none" strike="noStrike" kern="1200" cap="none" spc="100" normalizeH="0">
                <a:solidFill>
                  <a:srgbClr val="00489D"/>
                </a:solidFill>
                <a:uFillTx/>
                <a:latin typeface="微软雅黑" charset="-122"/>
                <a:ea typeface="微软雅黑"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r>
              <a:rPr lang="en-US" altLang="zh-CN" dirty="0">
                <a:sym typeface="+mn-ea"/>
              </a:rPr>
              <a:t>03 </a:t>
            </a:r>
            <a:r>
              <a:rPr lang="zh-CN" altLang="en-US" dirty="0">
                <a:sym typeface="+mn-ea"/>
              </a:rPr>
              <a:t>多智能体问答系统的搭建</a:t>
            </a:r>
            <a:endParaRPr lang="zh-CN" altLang="en-US" dirty="0"/>
          </a:p>
        </p:txBody>
      </p:sp>
      <p:sp>
        <p:nvSpPr>
          <p:cNvPr id="25" name="文本框 24"/>
          <p:cNvSpPr txBox="1"/>
          <p:nvPr/>
        </p:nvSpPr>
        <p:spPr>
          <a:xfrm>
            <a:off x="1181295" y="695845"/>
            <a:ext cx="6801562"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|——neo4j</a:t>
            </a:r>
            <a:r>
              <a:rPr lang="zh-CN" altLang="en-US" sz="2000" b="1" dirty="0">
                <a:latin typeface="黑体" panose="02010609060101010101" pitchFamily="49" charset="-122"/>
                <a:ea typeface="黑体" panose="02010609060101010101" pitchFamily="49" charset="-122"/>
              </a:rPr>
              <a:t>数据库搭建</a:t>
            </a:r>
            <a:r>
              <a:rPr lang="zh-CN" altLang="en-US" sz="2000" b="1" dirty="0">
                <a:latin typeface="黑体" panose="02010609060101010101" pitchFamily="49" charset="-122"/>
                <a:ea typeface="黑体" panose="02010609060101010101" pitchFamily="49" charset="-122"/>
              </a:rPr>
              <a:t>结构</a:t>
            </a:r>
            <a:endParaRPr lang="zh-CN" altLang="en-US" sz="2000" b="1" dirty="0">
              <a:latin typeface="黑体" panose="02010609060101010101" pitchFamily="49" charset="-122"/>
              <a:ea typeface="黑体" panose="02010609060101010101" pitchFamily="49" charset="-122"/>
            </a:endParaRPr>
          </a:p>
        </p:txBody>
      </p:sp>
      <p:pic>
        <p:nvPicPr>
          <p:cNvPr id="88" name="图片 87"/>
          <p:cNvPicPr>
            <a:picLocks noChangeAspect="1"/>
          </p:cNvPicPr>
          <p:nvPr/>
        </p:nvPicPr>
        <p:blipFill>
          <a:blip r:embed="rId2"/>
          <a:stretch>
            <a:fillRect/>
          </a:stretch>
        </p:blipFill>
        <p:spPr>
          <a:xfrm>
            <a:off x="344170" y="3648075"/>
            <a:ext cx="5353050" cy="3048635"/>
          </a:xfrm>
          <a:prstGeom prst="rect">
            <a:avLst/>
          </a:prstGeom>
        </p:spPr>
      </p:pic>
      <p:sp>
        <p:nvSpPr>
          <p:cNvPr id="89" name="圆角矩形 88"/>
          <p:cNvSpPr/>
          <p:nvPr/>
        </p:nvSpPr>
        <p:spPr>
          <a:xfrm>
            <a:off x="8303895" y="2042160"/>
            <a:ext cx="2246630" cy="3568065"/>
          </a:xfrm>
          <a:prstGeom prst="roundRect">
            <a:avLst/>
          </a:prstGeom>
          <a:noFill/>
          <a:ln>
            <a:solidFill>
              <a:schemeClr val="accent1"/>
            </a:solidFill>
            <a:prstDash val="dash"/>
          </a:ln>
          <a:extLst>
            <a:ext uri="{909E8E84-426E-40DD-AFC4-6F175D3DCCD1}">
              <a14:hiddenFill xmlns:a14="http://schemas.microsoft.com/office/drawing/2010/main">
                <a:solidFill>
                  <a:schemeClr val="accent1">
                    <a:lumMod val="20000"/>
                    <a:lumOff val="8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0" name="文本框 89"/>
          <p:cNvSpPr txBox="1"/>
          <p:nvPr/>
        </p:nvSpPr>
        <p:spPr>
          <a:xfrm>
            <a:off x="8478520" y="3030855"/>
            <a:ext cx="2072005" cy="1312545"/>
          </a:xfrm>
          <a:prstGeom prst="rect">
            <a:avLst/>
          </a:prstGeom>
          <a:noFill/>
        </p:spPr>
        <p:txBody>
          <a:bodyPr wrap="square" rtlCol="0">
            <a:noAutofit/>
          </a:bodyPr>
          <a:p>
            <a:r>
              <a:rPr lang="zh-CN" altLang="en-US" sz="2000"/>
              <a:t>现</a:t>
            </a:r>
            <a:r>
              <a:rPr lang="en-US" altLang="zh-CN" sz="2000"/>
              <a:t>neo4j</a:t>
            </a:r>
            <a:r>
              <a:rPr lang="zh-CN" altLang="en-US" sz="2000"/>
              <a:t>数据库已经构建了</a:t>
            </a:r>
            <a:r>
              <a:rPr lang="en-US" altLang="zh-CN" sz="2000"/>
              <a:t>635266</a:t>
            </a:r>
            <a:r>
              <a:rPr lang="zh-CN" altLang="en-US" sz="2000"/>
              <a:t>个节点</a:t>
            </a:r>
            <a:r>
              <a:rPr lang="en-US" altLang="zh-CN" sz="2000"/>
              <a:t>，855573</a:t>
            </a:r>
            <a:r>
              <a:rPr lang="zh-CN" altLang="en-US" sz="2000"/>
              <a:t>条关系</a:t>
            </a:r>
            <a:r>
              <a:rPr lang="en-US" altLang="zh-CN" sz="2000"/>
              <a:t>。</a:t>
            </a:r>
            <a:endParaRPr lang="en-US" altLang="zh-CN"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占位符 1"/>
          <p:cNvSpPr txBox="1"/>
          <p:nvPr/>
        </p:nvSpPr>
        <p:spPr>
          <a:xfrm>
            <a:off x="608291" y="275509"/>
            <a:ext cx="6639560" cy="363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2200" b="1" u="none" strike="noStrike" kern="1200" cap="none" spc="100" normalizeH="0">
                <a:solidFill>
                  <a:srgbClr val="00489D"/>
                </a:solidFill>
                <a:uFillTx/>
                <a:latin typeface="微软雅黑" charset="-122"/>
                <a:ea typeface="微软雅黑"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r>
              <a:rPr lang="en-US" altLang="zh-CN" dirty="0">
                <a:sym typeface="+mn-ea"/>
              </a:rPr>
              <a:t>03 </a:t>
            </a:r>
            <a:r>
              <a:rPr lang="zh-CN" altLang="en-US" dirty="0">
                <a:sym typeface="+mn-ea"/>
              </a:rPr>
              <a:t>多智能体问答系统</a:t>
            </a:r>
            <a:r>
              <a:rPr lang="zh-CN" altLang="en-US" dirty="0">
                <a:sym typeface="+mn-ea"/>
              </a:rPr>
              <a:t>的搭建</a:t>
            </a:r>
            <a:endParaRPr lang="zh-CN" altLang="en-US" dirty="0"/>
          </a:p>
        </p:txBody>
      </p:sp>
      <p:sp>
        <p:nvSpPr>
          <p:cNvPr id="25" name="文本框 24"/>
          <p:cNvSpPr txBox="1"/>
          <p:nvPr/>
        </p:nvSpPr>
        <p:spPr>
          <a:xfrm>
            <a:off x="1181295" y="695845"/>
            <a:ext cx="6801562"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向量数据库</a:t>
            </a:r>
            <a:endParaRPr lang="zh-CN" altLang="en-US" sz="2000" b="1" dirty="0">
              <a:latin typeface="黑体" panose="02010609060101010101" pitchFamily="49" charset="-122"/>
              <a:ea typeface="黑体" panose="02010609060101010101" pitchFamily="49" charset="-122"/>
            </a:endParaRPr>
          </a:p>
        </p:txBody>
      </p:sp>
      <p:sp>
        <p:nvSpPr>
          <p:cNvPr id="2" name="文本框 1"/>
          <p:cNvSpPr txBox="1"/>
          <p:nvPr/>
        </p:nvSpPr>
        <p:spPr>
          <a:xfrm>
            <a:off x="596265" y="374650"/>
            <a:ext cx="4084320" cy="819785"/>
          </a:xfrm>
          <a:prstGeom prst="rect">
            <a:avLst/>
          </a:prstGeom>
          <a:noFill/>
        </p:spPr>
        <p:txBody>
          <a:bodyPr wrap="square" rtlCol="0">
            <a:noAutofit/>
          </a:bodyPr>
          <a:p>
            <a:endParaRPr lang="zh-CN" altLang="en-US" sz="3200">
              <a:solidFill>
                <a:schemeClr val="tx1"/>
              </a:solidFill>
              <a:uFillTx/>
              <a:latin typeface="Times New Roman" panose="02020503050405090304" charset="0"/>
              <a:ea typeface="宋体" pitchFamily="2" charset="-122"/>
            </a:endParaRPr>
          </a:p>
        </p:txBody>
      </p:sp>
      <p:cxnSp>
        <p:nvCxnSpPr>
          <p:cNvPr id="31" name="直接箭头连接符 30"/>
          <p:cNvCxnSpPr/>
          <p:nvPr/>
        </p:nvCxnSpPr>
        <p:spPr>
          <a:xfrm>
            <a:off x="4680585" y="3667125"/>
            <a:ext cx="1047115" cy="0"/>
          </a:xfrm>
          <a:prstGeom prst="straightConnector1">
            <a:avLst/>
          </a:prstGeom>
          <a:ln w="12700"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sp>
        <p:nvSpPr>
          <p:cNvPr id="32" name="矩形 31"/>
          <p:cNvSpPr/>
          <p:nvPr/>
        </p:nvSpPr>
        <p:spPr>
          <a:xfrm>
            <a:off x="5790565" y="1071880"/>
            <a:ext cx="6109335" cy="5190490"/>
          </a:xfrm>
          <a:prstGeom prst="rect">
            <a:avLst/>
          </a:prstGeom>
          <a:solidFill>
            <a:srgbClr val="E6F1F8"/>
          </a:soli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accent1">
                    <a:lumMod val="60000"/>
                    <a:lumOff val="40000"/>
                  </a:schemeClr>
                </a:solidFill>
                <a:latin typeface="Times New Roman Regular" panose="02020503050405090304" charset="0"/>
                <a:cs typeface="Times New Roman Regular" panose="02020503050405090304" charset="0"/>
                <a:sym typeface="+mn-ea"/>
              </a:rPr>
              <a:t>        </a:t>
            </a:r>
            <a:r>
              <a:rPr lang="en-US" altLang="zh-CN">
                <a:solidFill>
                  <a:schemeClr val="tx1"/>
                </a:solidFill>
                <a:latin typeface="Times New Roman Regular" panose="02020503050405090304" charset="0"/>
                <a:cs typeface="Times New Roman Regular" panose="02020503050405090304" charset="0"/>
                <a:sym typeface="+mn-ea"/>
              </a:rPr>
              <a:t>【DOI:10.1016/j.est.2023.108453】</a:t>
            </a:r>
            <a:r>
              <a:rPr lang="zh-CN" altLang="en-US">
                <a:solidFill>
                  <a:schemeClr val="tx1"/>
                </a:solidFill>
                <a:latin typeface="Times New Roman Regular" panose="02020503050405090304" charset="0"/>
                <a:cs typeface="Times New Roman Regular" panose="02020503050405090304" charset="0"/>
                <a:sym typeface="+mn-ea"/>
              </a:rPr>
              <a:t>本研究基于低成本、高密度的</a:t>
            </a:r>
            <a:r>
              <a:rPr lang="en-US" altLang="zh-CN">
                <a:solidFill>
                  <a:schemeClr val="tx1"/>
                </a:solidFill>
                <a:latin typeface="Times New Roman Regular" panose="02020503050405090304" charset="0"/>
                <a:cs typeface="Times New Roman Regular" panose="02020503050405090304" charset="0"/>
                <a:sym typeface="+mn-ea"/>
              </a:rPr>
              <a:t>Fe</a:t>
            </a:r>
            <a:r>
              <a:rPr lang="en-US" altLang="en-US">
                <a:solidFill>
                  <a:schemeClr val="tx1"/>
                </a:solidFill>
                <a:latin typeface="Times New Roman Regular" panose="02020503050405090304" charset="0"/>
                <a:cs typeface="Times New Roman Regular" panose="02020503050405090304" charset="0"/>
                <a:sym typeface="+mn-ea"/>
              </a:rPr>
              <a:t>₃</a:t>
            </a:r>
            <a:r>
              <a:rPr lang="en-US" altLang="zh-CN">
                <a:solidFill>
                  <a:schemeClr val="tx1"/>
                </a:solidFill>
                <a:latin typeface="Times New Roman Regular" panose="02020503050405090304" charset="0"/>
                <a:cs typeface="Times New Roman Regular" panose="02020503050405090304" charset="0"/>
                <a:sym typeface="+mn-ea"/>
              </a:rPr>
              <a:t>O</a:t>
            </a:r>
            <a:r>
              <a:rPr lang="en-US" altLang="en-US">
                <a:solidFill>
                  <a:schemeClr val="tx1"/>
                </a:solidFill>
                <a:latin typeface="Times New Roman Regular" panose="02020503050405090304" charset="0"/>
                <a:cs typeface="Times New Roman Regular" panose="02020503050405090304" charset="0"/>
                <a:sym typeface="+mn-ea"/>
              </a:rPr>
              <a:t>₄</a:t>
            </a:r>
            <a:r>
              <a:rPr lang="zh-CN" altLang="en-US">
                <a:solidFill>
                  <a:schemeClr val="tx1"/>
                </a:solidFill>
                <a:latin typeface="Times New Roman Regular" panose="02020503050405090304" charset="0"/>
                <a:cs typeface="Times New Roman Regular" panose="02020503050405090304" charset="0"/>
                <a:sym typeface="+mn-ea"/>
              </a:rPr>
              <a:t>铁前驱体开发碳包覆磷酸铁锂（</a:t>
            </a:r>
            <a:r>
              <a:rPr lang="en-US" altLang="zh-CN">
                <a:solidFill>
                  <a:schemeClr val="tx1"/>
                </a:solidFill>
                <a:latin typeface="Times New Roman Regular" panose="02020503050405090304" charset="0"/>
                <a:cs typeface="Times New Roman Regular" panose="02020503050405090304" charset="0"/>
                <a:sym typeface="+mn-ea"/>
              </a:rPr>
              <a:t>LFP/C</a:t>
            </a:r>
            <a:r>
              <a:rPr lang="zh-CN" altLang="en-US">
                <a:solidFill>
                  <a:schemeClr val="tx1"/>
                </a:solidFill>
                <a:latin typeface="Times New Roman Regular" panose="02020503050405090304" charset="0"/>
                <a:cs typeface="Times New Roman Regular" panose="02020503050405090304" charset="0"/>
                <a:sym typeface="+mn-ea"/>
              </a:rPr>
              <a:t>）正极材料，旨在获得高容量、高原子经济性和优异振实密度的锂离子电池阴极材料。制备工艺采用化学计量比</a:t>
            </a:r>
            <a:r>
              <a:rPr lang="en-US" altLang="zh-CN">
                <a:solidFill>
                  <a:schemeClr val="tx1"/>
                </a:solidFill>
                <a:latin typeface="Times New Roman Regular" panose="02020503050405090304" charset="0"/>
                <a:cs typeface="Times New Roman Regular" panose="02020503050405090304" charset="0"/>
                <a:sym typeface="+mn-ea"/>
              </a:rPr>
              <a:t>Li:Fe:P = 1.05:1:1</a:t>
            </a:r>
            <a:r>
              <a:rPr lang="zh-CN" altLang="en-US">
                <a:solidFill>
                  <a:schemeClr val="tx1"/>
                </a:solidFill>
                <a:latin typeface="Times New Roman Regular" panose="02020503050405090304" charset="0"/>
                <a:cs typeface="Times New Roman Regular" panose="02020503050405090304" charset="0"/>
                <a:sym typeface="+mn-ea"/>
              </a:rPr>
              <a:t>（锂过量</a:t>
            </a:r>
            <a:r>
              <a:rPr lang="en-US" altLang="zh-CN">
                <a:solidFill>
                  <a:schemeClr val="tx1"/>
                </a:solidFill>
                <a:latin typeface="Times New Roman Regular" panose="02020503050405090304" charset="0"/>
                <a:cs typeface="Times New Roman Regular" panose="02020503050405090304" charset="0"/>
                <a:sym typeface="+mn-ea"/>
              </a:rPr>
              <a:t>5%</a:t>
            </a:r>
            <a:r>
              <a:rPr lang="zh-CN" altLang="en-US">
                <a:solidFill>
                  <a:schemeClr val="tx1"/>
                </a:solidFill>
                <a:latin typeface="Times New Roman Regular" panose="02020503050405090304" charset="0"/>
                <a:cs typeface="Times New Roman Regular" panose="02020503050405090304" charset="0"/>
                <a:sym typeface="+mn-ea"/>
              </a:rPr>
              <a:t>），以蔗糖为碳源（</a:t>
            </a:r>
            <a:r>
              <a:rPr lang="en-US" altLang="zh-CN">
                <a:solidFill>
                  <a:schemeClr val="tx1"/>
                </a:solidFill>
                <a:latin typeface="Times New Roman Regular" panose="02020503050405090304" charset="0"/>
                <a:cs typeface="Times New Roman Regular" panose="02020503050405090304" charset="0"/>
                <a:sym typeface="+mn-ea"/>
              </a:rPr>
              <a:t>10wt%</a:t>
            </a:r>
            <a:r>
              <a:rPr lang="zh-CN" altLang="en-US">
                <a:solidFill>
                  <a:schemeClr val="tx1"/>
                </a:solidFill>
                <a:latin typeface="Times New Roman Regular" panose="02020503050405090304" charset="0"/>
                <a:cs typeface="Times New Roman Regular" panose="02020503050405090304" charset="0"/>
                <a:sym typeface="+mn-ea"/>
              </a:rPr>
              <a:t>），通过球磨（</a:t>
            </a:r>
            <a:r>
              <a:rPr lang="en-US" altLang="zh-CN">
                <a:solidFill>
                  <a:schemeClr val="tx1"/>
                </a:solidFill>
                <a:latin typeface="Times New Roman Regular" panose="02020503050405090304" charset="0"/>
                <a:cs typeface="Times New Roman Regular" panose="02020503050405090304" charset="0"/>
                <a:sym typeface="+mn-ea"/>
              </a:rPr>
              <a:t>400 rpm</a:t>
            </a:r>
            <a:r>
              <a:rPr lang="zh-CN" altLang="en-US">
                <a:solidFill>
                  <a:schemeClr val="tx1"/>
                </a:solidFill>
                <a:latin typeface="Times New Roman Regular" panose="02020503050405090304" charset="0"/>
                <a:cs typeface="Times New Roman Regular" panose="02020503050405090304" charset="0"/>
                <a:sym typeface="+mn-ea"/>
              </a:rPr>
              <a:t>，</a:t>
            </a:r>
            <a:r>
              <a:rPr lang="en-US" altLang="zh-CN">
                <a:solidFill>
                  <a:schemeClr val="tx1"/>
                </a:solidFill>
                <a:latin typeface="Times New Roman Regular" panose="02020503050405090304" charset="0"/>
                <a:cs typeface="Times New Roman Regular" panose="02020503050405090304" charset="0"/>
                <a:sym typeface="+mn-ea"/>
              </a:rPr>
              <a:t>6</a:t>
            </a:r>
            <a:r>
              <a:rPr lang="zh-CN" altLang="en-US">
                <a:solidFill>
                  <a:schemeClr val="tx1"/>
                </a:solidFill>
                <a:latin typeface="Times New Roman Regular" panose="02020503050405090304" charset="0"/>
                <a:cs typeface="Times New Roman Regular" panose="02020503050405090304" charset="0"/>
                <a:sym typeface="+mn-ea"/>
              </a:rPr>
              <a:t>小时）实现均匀混合，随后在</a:t>
            </a:r>
            <a:r>
              <a:rPr lang="en-US" altLang="zh-CN">
                <a:solidFill>
                  <a:schemeClr val="tx1"/>
                </a:solidFill>
                <a:latin typeface="Times New Roman Regular" panose="02020503050405090304" charset="0"/>
                <a:cs typeface="Times New Roman Regular" panose="02020503050405090304" charset="0"/>
                <a:sym typeface="+mn-ea"/>
              </a:rPr>
              <a:t>80</a:t>
            </a:r>
            <a:r>
              <a:rPr lang="en-US" altLang="en-US">
                <a:solidFill>
                  <a:schemeClr val="tx1"/>
                </a:solidFill>
                <a:latin typeface="Times New Roman Regular" panose="02020503050405090304" charset="0"/>
                <a:cs typeface="Times New Roman Regular" panose="02020503050405090304" charset="0"/>
                <a:sym typeface="+mn-ea"/>
              </a:rPr>
              <a:t>℃</a:t>
            </a:r>
            <a:r>
              <a:rPr lang="zh-CN" altLang="en-US">
                <a:solidFill>
                  <a:schemeClr val="tx1"/>
                </a:solidFill>
                <a:latin typeface="Times New Roman Regular" panose="02020503050405090304" charset="0"/>
                <a:cs typeface="Times New Roman Regular" panose="02020503050405090304" charset="0"/>
                <a:sym typeface="+mn-ea"/>
              </a:rPr>
              <a:t>干燥</a:t>
            </a:r>
            <a:r>
              <a:rPr lang="en-US" altLang="zh-CN">
                <a:solidFill>
                  <a:schemeClr val="tx1"/>
                </a:solidFill>
                <a:latin typeface="Times New Roman Regular" panose="02020503050405090304" charset="0"/>
                <a:cs typeface="Times New Roman Regular" panose="02020503050405090304" charset="0"/>
                <a:sym typeface="+mn-ea"/>
              </a:rPr>
              <a:t>12</a:t>
            </a:r>
            <a:r>
              <a:rPr lang="zh-CN" altLang="en-US">
                <a:solidFill>
                  <a:schemeClr val="tx1"/>
                </a:solidFill>
                <a:latin typeface="Times New Roman Regular" panose="02020503050405090304" charset="0"/>
                <a:cs typeface="Times New Roman Regular" panose="02020503050405090304" charset="0"/>
                <a:sym typeface="+mn-ea"/>
              </a:rPr>
              <a:t>小时，压片（</a:t>
            </a:r>
            <a:r>
              <a:rPr lang="en-US" altLang="zh-CN">
                <a:solidFill>
                  <a:schemeClr val="tx1"/>
                </a:solidFill>
                <a:latin typeface="Times New Roman Regular" panose="02020503050405090304" charset="0"/>
                <a:cs typeface="Times New Roman Regular" panose="02020503050405090304" charset="0"/>
                <a:sym typeface="+mn-ea"/>
              </a:rPr>
              <a:t>5</a:t>
            </a:r>
            <a:r>
              <a:rPr lang="zh-CN" altLang="en-US">
                <a:solidFill>
                  <a:schemeClr val="tx1"/>
                </a:solidFill>
                <a:latin typeface="Times New Roman Regular" panose="02020503050405090304" charset="0"/>
                <a:cs typeface="Times New Roman Regular" panose="02020503050405090304" charset="0"/>
                <a:sym typeface="+mn-ea"/>
              </a:rPr>
              <a:t>吨压力）后于氩气氛中</a:t>
            </a:r>
            <a:r>
              <a:rPr lang="en-US" altLang="zh-CN">
                <a:solidFill>
                  <a:schemeClr val="tx1"/>
                </a:solidFill>
                <a:latin typeface="Times New Roman Regular" panose="02020503050405090304" charset="0"/>
                <a:cs typeface="Times New Roman Regular" panose="02020503050405090304" charset="0"/>
                <a:sym typeface="+mn-ea"/>
              </a:rPr>
              <a:t>750</a:t>
            </a:r>
            <a:r>
              <a:rPr lang="en-US" altLang="en-US">
                <a:solidFill>
                  <a:schemeClr val="tx1"/>
                </a:solidFill>
                <a:latin typeface="Times New Roman Regular" panose="02020503050405090304" charset="0"/>
                <a:cs typeface="Times New Roman Regular" panose="02020503050405090304" charset="0"/>
                <a:sym typeface="+mn-ea"/>
              </a:rPr>
              <a:t>℃</a:t>
            </a:r>
            <a:r>
              <a:rPr lang="zh-CN" altLang="en-US">
                <a:solidFill>
                  <a:schemeClr val="tx1"/>
                </a:solidFill>
                <a:latin typeface="Times New Roman Regular" panose="02020503050405090304" charset="0"/>
                <a:cs typeface="Times New Roman Regular" panose="02020503050405090304" charset="0"/>
                <a:sym typeface="+mn-ea"/>
              </a:rPr>
              <a:t>煅烧</a:t>
            </a:r>
            <a:r>
              <a:rPr lang="en-US" altLang="zh-CN">
                <a:solidFill>
                  <a:schemeClr val="tx1"/>
                </a:solidFill>
                <a:latin typeface="Times New Roman Regular" panose="02020503050405090304" charset="0"/>
                <a:cs typeface="Times New Roman Regular" panose="02020503050405090304" charset="0"/>
                <a:sym typeface="+mn-ea"/>
              </a:rPr>
              <a:t>10</a:t>
            </a:r>
            <a:r>
              <a:rPr lang="zh-CN" altLang="en-US">
                <a:solidFill>
                  <a:schemeClr val="tx1"/>
                </a:solidFill>
                <a:latin typeface="Times New Roman Regular" panose="02020503050405090304" charset="0"/>
                <a:cs typeface="Times New Roman Regular" panose="02020503050405090304" charset="0"/>
                <a:sym typeface="+mn-ea"/>
              </a:rPr>
              <a:t>小时（升温速率</a:t>
            </a:r>
            <a:r>
              <a:rPr lang="en-US" altLang="zh-CN">
                <a:solidFill>
                  <a:schemeClr val="tx1"/>
                </a:solidFill>
                <a:latin typeface="Times New Roman Regular" panose="02020503050405090304" charset="0"/>
                <a:cs typeface="Times New Roman Regular" panose="02020503050405090304" charset="0"/>
                <a:sym typeface="+mn-ea"/>
              </a:rPr>
              <a:t>5</a:t>
            </a:r>
            <a:r>
              <a:rPr lang="en-US" altLang="en-US">
                <a:solidFill>
                  <a:schemeClr val="tx1"/>
                </a:solidFill>
                <a:latin typeface="Times New Roman Regular" panose="02020503050405090304" charset="0"/>
                <a:cs typeface="Times New Roman Regular" panose="02020503050405090304" charset="0"/>
                <a:sym typeface="+mn-ea"/>
              </a:rPr>
              <a:t>℃</a:t>
            </a:r>
            <a:r>
              <a:rPr lang="en-US" altLang="zh-CN">
                <a:solidFill>
                  <a:schemeClr val="tx1"/>
                </a:solidFill>
                <a:latin typeface="Times New Roman Regular" panose="02020503050405090304" charset="0"/>
                <a:cs typeface="Times New Roman Regular" panose="02020503050405090304" charset="0"/>
                <a:sym typeface="+mn-ea"/>
              </a:rPr>
              <a:t>/min</a:t>
            </a:r>
            <a:r>
              <a:rPr lang="zh-CN" altLang="en-US">
                <a:solidFill>
                  <a:schemeClr val="tx1"/>
                </a:solidFill>
                <a:latin typeface="Times New Roman Regular" panose="02020503050405090304" charset="0"/>
                <a:cs typeface="Times New Roman Regular" panose="02020503050405090304" charset="0"/>
                <a:sym typeface="+mn-ea"/>
              </a:rPr>
              <a:t>）。所得材料呈现均匀分布的小尺寸颗粒（平均粒径</a:t>
            </a:r>
            <a:r>
              <a:rPr lang="en-US" altLang="zh-CN">
                <a:solidFill>
                  <a:schemeClr val="tx1"/>
                </a:solidFill>
                <a:latin typeface="Times New Roman Regular" panose="02020503050405090304" charset="0"/>
                <a:cs typeface="Times New Roman Regular" panose="02020503050405090304" charset="0"/>
                <a:sym typeface="+mn-ea"/>
              </a:rPr>
              <a:t>0.22 μm</a:t>
            </a:r>
            <a:r>
              <a:rPr lang="zh-CN" altLang="en-US">
                <a:solidFill>
                  <a:schemeClr val="tx1"/>
                </a:solidFill>
                <a:latin typeface="Times New Roman Regular" panose="02020503050405090304" charset="0"/>
                <a:cs typeface="Times New Roman Regular" panose="02020503050405090304" charset="0"/>
                <a:sym typeface="+mn-ea"/>
              </a:rPr>
              <a:t>），具有扭曲球形形貌且无团聚现象，形成核壳结构（无定形碳层厚度</a:t>
            </a:r>
            <a:r>
              <a:rPr lang="en-US" altLang="zh-CN">
                <a:solidFill>
                  <a:schemeClr val="tx1"/>
                </a:solidFill>
                <a:latin typeface="Times New Roman Regular" panose="02020503050405090304" charset="0"/>
                <a:cs typeface="Times New Roman Regular" panose="02020503050405090304" charset="0"/>
                <a:sym typeface="+mn-ea"/>
              </a:rPr>
              <a:t>10.5 nm</a:t>
            </a:r>
            <a:r>
              <a:rPr lang="zh-CN" altLang="en-US">
                <a:solidFill>
                  <a:schemeClr val="tx1"/>
                </a:solidFill>
                <a:latin typeface="Times New Roman Regular" panose="02020503050405090304" charset="0"/>
                <a:cs typeface="Times New Roman Regular" panose="02020503050405090304" charset="0"/>
                <a:sym typeface="+mn-ea"/>
              </a:rPr>
              <a:t>），振实密度达</a:t>
            </a:r>
            <a:r>
              <a:rPr lang="en-US" altLang="zh-CN">
                <a:solidFill>
                  <a:schemeClr val="tx1"/>
                </a:solidFill>
                <a:latin typeface="Times New Roman Regular" panose="02020503050405090304" charset="0"/>
                <a:cs typeface="Times New Roman Regular" panose="02020503050405090304" charset="0"/>
                <a:sym typeface="+mn-ea"/>
              </a:rPr>
              <a:t>1.1 g cc</a:t>
            </a:r>
            <a:r>
              <a:rPr lang="en-US" altLang="en-US">
                <a:solidFill>
                  <a:schemeClr val="tx1"/>
                </a:solidFill>
                <a:latin typeface="Times New Roman Regular" panose="02020503050405090304" charset="0"/>
                <a:cs typeface="Times New Roman Regular" panose="02020503050405090304" charset="0"/>
                <a:sym typeface="+mn-ea"/>
              </a:rPr>
              <a:t>⁻¹</a:t>
            </a:r>
            <a:r>
              <a:rPr lang="zh-CN" altLang="en-US">
                <a:solidFill>
                  <a:schemeClr val="tx1"/>
                </a:solidFill>
                <a:latin typeface="Times New Roman Regular" panose="02020503050405090304" charset="0"/>
                <a:cs typeface="Times New Roman Regular" panose="02020503050405090304" charset="0"/>
                <a:sym typeface="+mn-ea"/>
              </a:rPr>
              <a:t>，电导率提升至</a:t>
            </a:r>
            <a:r>
              <a:rPr lang="en-US" altLang="zh-CN">
                <a:solidFill>
                  <a:schemeClr val="tx1"/>
                </a:solidFill>
                <a:latin typeface="Times New Roman Regular" panose="02020503050405090304" charset="0"/>
                <a:cs typeface="Times New Roman Regular" panose="02020503050405090304" charset="0"/>
                <a:sym typeface="+mn-ea"/>
              </a:rPr>
              <a:t>1.304</a:t>
            </a:r>
            <a:r>
              <a:rPr lang="en-US" altLang="en-US">
                <a:solidFill>
                  <a:schemeClr val="tx1"/>
                </a:solidFill>
                <a:latin typeface="Times New Roman Regular" panose="02020503050405090304" charset="0"/>
                <a:cs typeface="Times New Roman Regular" panose="02020503050405090304" charset="0"/>
                <a:sym typeface="+mn-ea"/>
              </a:rPr>
              <a:t>×</a:t>
            </a:r>
            <a:r>
              <a:rPr lang="en-US" altLang="zh-CN">
                <a:solidFill>
                  <a:schemeClr val="tx1"/>
                </a:solidFill>
                <a:latin typeface="Times New Roman Regular" panose="02020503050405090304" charset="0"/>
                <a:cs typeface="Times New Roman Regular" panose="02020503050405090304" charset="0"/>
                <a:sym typeface="+mn-ea"/>
              </a:rPr>
              <a:t>10</a:t>
            </a:r>
            <a:r>
              <a:rPr lang="en-US" altLang="en-US">
                <a:solidFill>
                  <a:schemeClr val="tx1"/>
                </a:solidFill>
                <a:latin typeface="Times New Roman Regular" panose="02020503050405090304" charset="0"/>
                <a:cs typeface="Times New Roman Regular" panose="02020503050405090304" charset="0"/>
                <a:sym typeface="+mn-ea"/>
              </a:rPr>
              <a:t>⁻¹</a:t>
            </a:r>
            <a:r>
              <a:rPr lang="en-US" altLang="zh-CN">
                <a:solidFill>
                  <a:schemeClr val="tx1"/>
                </a:solidFill>
                <a:latin typeface="Times New Roman Regular" panose="02020503050405090304" charset="0"/>
                <a:cs typeface="Times New Roman Regular" panose="02020503050405090304" charset="0"/>
                <a:sym typeface="+mn-ea"/>
              </a:rPr>
              <a:t> S cm</a:t>
            </a:r>
            <a:r>
              <a:rPr lang="en-US" altLang="en-US">
                <a:solidFill>
                  <a:schemeClr val="tx1"/>
                </a:solidFill>
                <a:latin typeface="Times New Roman Regular" panose="02020503050405090304" charset="0"/>
                <a:cs typeface="Times New Roman Regular" panose="02020503050405090304" charset="0"/>
                <a:sym typeface="+mn-ea"/>
              </a:rPr>
              <a:t>⁻¹</a:t>
            </a:r>
            <a:r>
              <a:rPr lang="zh-CN" altLang="en-US">
                <a:solidFill>
                  <a:schemeClr val="tx1"/>
                </a:solidFill>
                <a:latin typeface="Times New Roman Regular" panose="02020503050405090304" charset="0"/>
                <a:cs typeface="Times New Roman Regular" panose="02020503050405090304" charset="0"/>
                <a:sym typeface="+mn-ea"/>
              </a:rPr>
              <a:t>。电化学性能显示：</a:t>
            </a:r>
            <a:r>
              <a:rPr lang="en-US" altLang="zh-CN">
                <a:solidFill>
                  <a:schemeClr val="tx1"/>
                </a:solidFill>
                <a:latin typeface="Times New Roman Regular" panose="02020503050405090304" charset="0"/>
                <a:cs typeface="Times New Roman Regular" panose="02020503050405090304" charset="0"/>
                <a:sym typeface="+mn-ea"/>
              </a:rPr>
              <a:t>0.2C</a:t>
            </a:r>
            <a:r>
              <a:rPr lang="zh-CN" altLang="en-US">
                <a:solidFill>
                  <a:schemeClr val="tx1"/>
                </a:solidFill>
                <a:latin typeface="Times New Roman Regular" panose="02020503050405090304" charset="0"/>
                <a:cs typeface="Times New Roman Regular" panose="02020503050405090304" charset="0"/>
                <a:sym typeface="+mn-ea"/>
              </a:rPr>
              <a:t>初始放电容量</a:t>
            </a:r>
            <a:r>
              <a:rPr lang="en-US" altLang="zh-CN">
                <a:solidFill>
                  <a:schemeClr val="tx1"/>
                </a:solidFill>
                <a:latin typeface="Times New Roman Regular" panose="02020503050405090304" charset="0"/>
                <a:cs typeface="Times New Roman Regular" panose="02020503050405090304" charset="0"/>
                <a:sym typeface="+mn-ea"/>
              </a:rPr>
              <a:t>143 mAh g</a:t>
            </a:r>
            <a:r>
              <a:rPr lang="en-US" altLang="en-US">
                <a:solidFill>
                  <a:schemeClr val="tx1"/>
                </a:solidFill>
                <a:latin typeface="Times New Roman Regular" panose="02020503050405090304" charset="0"/>
                <a:cs typeface="Times New Roman Regular" panose="02020503050405090304" charset="0"/>
                <a:sym typeface="+mn-ea"/>
              </a:rPr>
              <a:t>⁻¹</a:t>
            </a:r>
            <a:r>
              <a:rPr lang="zh-CN" altLang="en-US">
                <a:solidFill>
                  <a:schemeClr val="tx1"/>
                </a:solidFill>
                <a:latin typeface="Times New Roman Regular" panose="02020503050405090304" charset="0"/>
                <a:cs typeface="Times New Roman Regular" panose="02020503050405090304" charset="0"/>
                <a:sym typeface="+mn-ea"/>
              </a:rPr>
              <a:t>，</a:t>
            </a:r>
            <a:r>
              <a:rPr lang="en-US" altLang="zh-CN">
                <a:solidFill>
                  <a:schemeClr val="tx1"/>
                </a:solidFill>
                <a:latin typeface="Times New Roman Regular" panose="02020503050405090304" charset="0"/>
                <a:cs typeface="Times New Roman Regular" panose="02020503050405090304" charset="0"/>
                <a:sym typeface="+mn-ea"/>
              </a:rPr>
              <a:t>1C</a:t>
            </a:r>
            <a:r>
              <a:rPr lang="zh-CN" altLang="en-US">
                <a:solidFill>
                  <a:schemeClr val="tx1"/>
                </a:solidFill>
                <a:latin typeface="Times New Roman Regular" panose="02020503050405090304" charset="0"/>
                <a:cs typeface="Times New Roman Regular" panose="02020503050405090304" charset="0"/>
                <a:sym typeface="+mn-ea"/>
              </a:rPr>
              <a:t>为</a:t>
            </a:r>
            <a:r>
              <a:rPr lang="en-US" altLang="zh-CN">
                <a:solidFill>
                  <a:schemeClr val="tx1"/>
                </a:solidFill>
                <a:latin typeface="Times New Roman Regular" panose="02020503050405090304" charset="0"/>
                <a:cs typeface="Times New Roman Regular" panose="02020503050405090304" charset="0"/>
                <a:sym typeface="+mn-ea"/>
              </a:rPr>
              <a:t>137 mAh g</a:t>
            </a:r>
            <a:r>
              <a:rPr lang="en-US" altLang="en-US">
                <a:solidFill>
                  <a:schemeClr val="tx1"/>
                </a:solidFill>
                <a:latin typeface="Times New Roman Regular" panose="02020503050405090304" charset="0"/>
                <a:cs typeface="Times New Roman Regular" panose="02020503050405090304" charset="0"/>
                <a:sym typeface="+mn-ea"/>
              </a:rPr>
              <a:t>⁻¹</a:t>
            </a:r>
            <a:r>
              <a:rPr lang="zh-CN" altLang="en-US">
                <a:solidFill>
                  <a:schemeClr val="tx1"/>
                </a:solidFill>
                <a:latin typeface="Times New Roman Regular" panose="02020503050405090304" charset="0"/>
                <a:cs typeface="Times New Roman Regular" panose="02020503050405090304" charset="0"/>
                <a:sym typeface="+mn-ea"/>
              </a:rPr>
              <a:t>，</a:t>
            </a:r>
            <a:r>
              <a:rPr lang="en-US" altLang="zh-CN">
                <a:solidFill>
                  <a:schemeClr val="tx1"/>
                </a:solidFill>
                <a:latin typeface="Times New Roman Regular" panose="02020503050405090304" charset="0"/>
                <a:cs typeface="Times New Roman Regular" panose="02020503050405090304" charset="0"/>
                <a:sym typeface="+mn-ea"/>
              </a:rPr>
              <a:t>2C</a:t>
            </a:r>
            <a:r>
              <a:rPr lang="zh-CN" altLang="en-US">
                <a:solidFill>
                  <a:schemeClr val="tx1"/>
                </a:solidFill>
                <a:latin typeface="Times New Roman Regular" panose="02020503050405090304" charset="0"/>
                <a:cs typeface="Times New Roman Regular" panose="02020503050405090304" charset="0"/>
                <a:sym typeface="+mn-ea"/>
              </a:rPr>
              <a:t>为</a:t>
            </a:r>
            <a:r>
              <a:rPr lang="en-US" altLang="zh-CN">
                <a:solidFill>
                  <a:schemeClr val="tx1"/>
                </a:solidFill>
                <a:latin typeface="Times New Roman Regular" panose="02020503050405090304" charset="0"/>
                <a:cs typeface="Times New Roman Regular" panose="02020503050405090304" charset="0"/>
                <a:sym typeface="+mn-ea"/>
              </a:rPr>
              <a:t>125 mAh g</a:t>
            </a:r>
            <a:r>
              <a:rPr lang="en-US" altLang="en-US">
                <a:solidFill>
                  <a:schemeClr val="tx1"/>
                </a:solidFill>
                <a:latin typeface="Times New Roman Regular" panose="02020503050405090304" charset="0"/>
                <a:cs typeface="Times New Roman Regular" panose="02020503050405090304" charset="0"/>
                <a:sym typeface="+mn-ea"/>
              </a:rPr>
              <a:t>⁻¹</a:t>
            </a:r>
            <a:r>
              <a:rPr lang="zh-CN" altLang="en-US">
                <a:solidFill>
                  <a:schemeClr val="tx1"/>
                </a:solidFill>
                <a:latin typeface="Times New Roman Regular" panose="02020503050405090304" charset="0"/>
                <a:cs typeface="Times New Roman Regular" panose="02020503050405090304" charset="0"/>
                <a:sym typeface="+mn-ea"/>
              </a:rPr>
              <a:t>，</a:t>
            </a:r>
            <a:r>
              <a:rPr lang="en-US" altLang="zh-CN">
                <a:solidFill>
                  <a:schemeClr val="tx1"/>
                </a:solidFill>
                <a:latin typeface="Times New Roman Regular" panose="02020503050405090304" charset="0"/>
                <a:cs typeface="Times New Roman Regular" panose="02020503050405090304" charset="0"/>
                <a:sym typeface="+mn-ea"/>
              </a:rPr>
              <a:t>5C</a:t>
            </a:r>
            <a:r>
              <a:rPr lang="zh-CN" altLang="en-US">
                <a:solidFill>
                  <a:schemeClr val="tx1"/>
                </a:solidFill>
                <a:latin typeface="Times New Roman Regular" panose="02020503050405090304" charset="0"/>
                <a:cs typeface="Times New Roman Regular" panose="02020503050405090304" charset="0"/>
                <a:sym typeface="+mn-ea"/>
              </a:rPr>
              <a:t>仍保持</a:t>
            </a:r>
            <a:r>
              <a:rPr lang="en-US" altLang="zh-CN">
                <a:solidFill>
                  <a:schemeClr val="tx1"/>
                </a:solidFill>
                <a:latin typeface="Times New Roman Regular" panose="02020503050405090304" charset="0"/>
                <a:cs typeface="Times New Roman Regular" panose="02020503050405090304" charset="0"/>
                <a:sym typeface="+mn-ea"/>
              </a:rPr>
              <a:t>111 mAh g</a:t>
            </a:r>
            <a:r>
              <a:rPr lang="en-US" altLang="en-US">
                <a:solidFill>
                  <a:schemeClr val="tx1"/>
                </a:solidFill>
                <a:latin typeface="Times New Roman Regular" panose="02020503050405090304" charset="0"/>
                <a:cs typeface="Times New Roman Regular" panose="02020503050405090304" charset="0"/>
                <a:sym typeface="+mn-ea"/>
              </a:rPr>
              <a:t>⁻¹</a:t>
            </a:r>
            <a:r>
              <a:rPr lang="zh-CN" altLang="en-US">
                <a:solidFill>
                  <a:schemeClr val="tx1"/>
                </a:solidFill>
                <a:latin typeface="Times New Roman Regular" panose="02020503050405090304" charset="0"/>
                <a:cs typeface="Times New Roman Regular" panose="02020503050405090304" charset="0"/>
                <a:sym typeface="+mn-ea"/>
              </a:rPr>
              <a:t>；</a:t>
            </a:r>
            <a:r>
              <a:rPr lang="en-US" altLang="zh-CN">
                <a:solidFill>
                  <a:schemeClr val="tx1"/>
                </a:solidFill>
                <a:latin typeface="Times New Roman Regular" panose="02020503050405090304" charset="0"/>
                <a:cs typeface="Times New Roman Regular" panose="02020503050405090304" charset="0"/>
                <a:sym typeface="+mn-ea"/>
              </a:rPr>
              <a:t>1C</a:t>
            </a:r>
            <a:r>
              <a:rPr lang="zh-CN" altLang="en-US">
                <a:solidFill>
                  <a:schemeClr val="tx1"/>
                </a:solidFill>
                <a:latin typeface="Times New Roman Regular" panose="02020503050405090304" charset="0"/>
                <a:cs typeface="Times New Roman Regular" panose="02020503050405090304" charset="0"/>
                <a:sym typeface="+mn-ea"/>
              </a:rPr>
              <a:t>倍率下循环</a:t>
            </a:r>
            <a:r>
              <a:rPr lang="en-US" altLang="zh-CN">
                <a:solidFill>
                  <a:schemeClr val="tx1"/>
                </a:solidFill>
                <a:latin typeface="Times New Roman Regular" panose="02020503050405090304" charset="0"/>
                <a:cs typeface="Times New Roman Regular" panose="02020503050405090304" charset="0"/>
                <a:sym typeface="+mn-ea"/>
              </a:rPr>
              <a:t>100</a:t>
            </a:r>
            <a:r>
              <a:rPr lang="zh-CN" altLang="en-US">
                <a:solidFill>
                  <a:schemeClr val="tx1"/>
                </a:solidFill>
                <a:latin typeface="Times New Roman Regular" panose="02020503050405090304" charset="0"/>
                <a:cs typeface="Times New Roman Regular" panose="02020503050405090304" charset="0"/>
                <a:sym typeface="+mn-ea"/>
              </a:rPr>
              <a:t>次后容量保持</a:t>
            </a:r>
            <a:r>
              <a:rPr lang="en-US" altLang="zh-CN">
                <a:solidFill>
                  <a:schemeClr val="tx1"/>
                </a:solidFill>
                <a:latin typeface="Times New Roman Regular" panose="02020503050405090304" charset="0"/>
                <a:cs typeface="Times New Roman Regular" panose="02020503050405090304" charset="0"/>
                <a:sym typeface="+mn-ea"/>
              </a:rPr>
              <a:t>130 mAh g</a:t>
            </a:r>
            <a:r>
              <a:rPr lang="en-US" altLang="en-US">
                <a:solidFill>
                  <a:schemeClr val="tx1"/>
                </a:solidFill>
                <a:latin typeface="Times New Roman Regular" panose="02020503050405090304" charset="0"/>
                <a:cs typeface="Times New Roman Regular" panose="02020503050405090304" charset="0"/>
                <a:sym typeface="+mn-ea"/>
              </a:rPr>
              <a:t>⁻¹</a:t>
            </a:r>
            <a:r>
              <a:rPr lang="zh-CN" altLang="en-US">
                <a:solidFill>
                  <a:schemeClr val="tx1"/>
                </a:solidFill>
                <a:latin typeface="Times New Roman Regular" panose="02020503050405090304" charset="0"/>
                <a:cs typeface="Times New Roman Regular" panose="02020503050405090304" charset="0"/>
                <a:sym typeface="+mn-ea"/>
              </a:rPr>
              <a:t>（容量保持率</a:t>
            </a:r>
            <a:r>
              <a:rPr lang="en-US" altLang="zh-CN">
                <a:solidFill>
                  <a:schemeClr val="tx1"/>
                </a:solidFill>
                <a:latin typeface="Times New Roman Regular" panose="02020503050405090304" charset="0"/>
                <a:cs typeface="Times New Roman Regular" panose="02020503050405090304" charset="0"/>
                <a:sym typeface="+mn-ea"/>
              </a:rPr>
              <a:t>95%</a:t>
            </a:r>
            <a:r>
              <a:rPr lang="zh-CN" altLang="en-US">
                <a:solidFill>
                  <a:schemeClr val="tx1"/>
                </a:solidFill>
                <a:latin typeface="Times New Roman Regular" panose="02020503050405090304" charset="0"/>
                <a:cs typeface="Times New Roman Regular" panose="02020503050405090304" charset="0"/>
                <a:sym typeface="+mn-ea"/>
              </a:rPr>
              <a:t>），</a:t>
            </a:r>
            <a:r>
              <a:rPr lang="en-US" altLang="zh-CN">
                <a:solidFill>
                  <a:schemeClr val="tx1"/>
                </a:solidFill>
                <a:latin typeface="Times New Roman Regular" panose="02020503050405090304" charset="0"/>
                <a:cs typeface="Times New Roman Regular" panose="02020503050405090304" charset="0"/>
                <a:sym typeface="+mn-ea"/>
              </a:rPr>
              <a:t>600</a:t>
            </a:r>
            <a:r>
              <a:rPr lang="zh-CN" altLang="en-US">
                <a:solidFill>
                  <a:schemeClr val="tx1"/>
                </a:solidFill>
                <a:latin typeface="Times New Roman Regular" panose="02020503050405090304" charset="0"/>
                <a:cs typeface="Times New Roman Regular" panose="02020503050405090304" charset="0"/>
                <a:sym typeface="+mn-ea"/>
              </a:rPr>
              <a:t>次循环后仍保持</a:t>
            </a:r>
            <a:r>
              <a:rPr lang="en-US" altLang="zh-CN">
                <a:solidFill>
                  <a:schemeClr val="tx1"/>
                </a:solidFill>
                <a:latin typeface="Times New Roman Regular" panose="02020503050405090304" charset="0"/>
                <a:cs typeface="Times New Roman Regular" panose="02020503050405090304" charset="0"/>
                <a:sym typeface="+mn-ea"/>
              </a:rPr>
              <a:t>83%</a:t>
            </a:r>
            <a:r>
              <a:rPr lang="zh-CN" altLang="en-US">
                <a:solidFill>
                  <a:schemeClr val="tx1"/>
                </a:solidFill>
                <a:latin typeface="Times New Roman Regular" panose="02020503050405090304" charset="0"/>
                <a:cs typeface="Times New Roman Regular" panose="02020503050405090304" charset="0"/>
                <a:sym typeface="+mn-ea"/>
              </a:rPr>
              <a:t>容量保留率，库伦效率稳定在</a:t>
            </a:r>
            <a:r>
              <a:rPr lang="en-US" altLang="zh-CN">
                <a:solidFill>
                  <a:schemeClr val="tx1"/>
                </a:solidFill>
                <a:latin typeface="Times New Roman Regular" panose="02020503050405090304" charset="0"/>
                <a:cs typeface="Times New Roman Regular" panose="02020503050405090304" charset="0"/>
                <a:sym typeface="+mn-ea"/>
              </a:rPr>
              <a:t>99%</a:t>
            </a:r>
            <a:r>
              <a:rPr lang="zh-CN" altLang="en-US">
                <a:solidFill>
                  <a:schemeClr val="tx1"/>
                </a:solidFill>
                <a:latin typeface="Times New Roman Regular" panose="02020503050405090304" charset="0"/>
                <a:cs typeface="Times New Roman Regular" panose="02020503050405090304" charset="0"/>
                <a:sym typeface="+mn-ea"/>
              </a:rPr>
              <a:t>。与传统方法相比，该材料通过低成本前驱体实现了高振实密度（</a:t>
            </a:r>
            <a:r>
              <a:rPr lang="en-US" altLang="zh-CN">
                <a:solidFill>
                  <a:schemeClr val="tx1"/>
                </a:solidFill>
                <a:latin typeface="Times New Roman Regular" panose="02020503050405090304" charset="0"/>
                <a:cs typeface="Times New Roman Regular" panose="02020503050405090304" charset="0"/>
                <a:sym typeface="+mn-ea"/>
              </a:rPr>
              <a:t>1.1 g cc</a:t>
            </a:r>
            <a:r>
              <a:rPr lang="en-US" altLang="en-US">
                <a:solidFill>
                  <a:schemeClr val="tx1"/>
                </a:solidFill>
                <a:latin typeface="Times New Roman Regular" panose="02020503050405090304" charset="0"/>
                <a:cs typeface="Times New Roman Regular" panose="02020503050405090304" charset="0"/>
                <a:sym typeface="+mn-ea"/>
              </a:rPr>
              <a:t>⁻¹</a:t>
            </a:r>
            <a:r>
              <a:rPr lang="zh-CN" altLang="en-US">
                <a:solidFill>
                  <a:schemeClr val="tx1"/>
                </a:solidFill>
                <a:latin typeface="Times New Roman Regular" panose="02020503050405090304" charset="0"/>
                <a:cs typeface="Times New Roman Regular" panose="02020503050405090304" charset="0"/>
                <a:sym typeface="+mn-ea"/>
              </a:rPr>
              <a:t>）与优异倍率性能（</a:t>
            </a:r>
            <a:r>
              <a:rPr lang="en-US" altLang="zh-CN">
                <a:solidFill>
                  <a:schemeClr val="tx1"/>
                </a:solidFill>
                <a:latin typeface="Times New Roman Regular" panose="02020503050405090304" charset="0"/>
                <a:cs typeface="Times New Roman Regular" panose="02020503050405090304" charset="0"/>
                <a:sym typeface="+mn-ea"/>
              </a:rPr>
              <a:t>5C</a:t>
            </a:r>
            <a:r>
              <a:rPr lang="zh-CN" altLang="en-US">
                <a:solidFill>
                  <a:schemeClr val="tx1"/>
                </a:solidFill>
                <a:latin typeface="Times New Roman Regular" panose="02020503050405090304" charset="0"/>
                <a:cs typeface="Times New Roman Regular" panose="02020503050405090304" charset="0"/>
                <a:sym typeface="+mn-ea"/>
              </a:rPr>
              <a:t>容量达</a:t>
            </a:r>
            <a:r>
              <a:rPr lang="en-US" altLang="zh-CN">
                <a:solidFill>
                  <a:schemeClr val="tx1"/>
                </a:solidFill>
                <a:latin typeface="Times New Roman Regular" panose="02020503050405090304" charset="0"/>
                <a:cs typeface="Times New Roman Regular" panose="02020503050405090304" charset="0"/>
                <a:sym typeface="+mn-ea"/>
              </a:rPr>
              <a:t>111 mAh g</a:t>
            </a:r>
            <a:r>
              <a:rPr lang="en-US" altLang="en-US">
                <a:solidFill>
                  <a:schemeClr val="tx1"/>
                </a:solidFill>
                <a:latin typeface="Times New Roman Regular" panose="02020503050405090304" charset="0"/>
                <a:cs typeface="Times New Roman Regular" panose="02020503050405090304" charset="0"/>
                <a:sym typeface="+mn-ea"/>
              </a:rPr>
              <a:t>⁻¹</a:t>
            </a:r>
            <a:r>
              <a:rPr lang="zh-CN" altLang="en-US">
                <a:solidFill>
                  <a:schemeClr val="tx1"/>
                </a:solidFill>
                <a:latin typeface="Times New Roman Regular" panose="02020503050405090304" charset="0"/>
                <a:cs typeface="Times New Roman Regular" panose="02020503050405090304" charset="0"/>
                <a:sym typeface="+mn-ea"/>
              </a:rPr>
              <a:t>）的结合，同时展现出卓越的长循环稳定性（</a:t>
            </a:r>
            <a:r>
              <a:rPr lang="en-US" altLang="zh-CN">
                <a:solidFill>
                  <a:schemeClr val="tx1"/>
                </a:solidFill>
                <a:latin typeface="Times New Roman Regular" panose="02020503050405090304" charset="0"/>
                <a:cs typeface="Times New Roman Regular" panose="02020503050405090304" charset="0"/>
                <a:sym typeface="+mn-ea"/>
              </a:rPr>
              <a:t>600</a:t>
            </a:r>
            <a:r>
              <a:rPr lang="zh-CN" altLang="en-US">
                <a:solidFill>
                  <a:schemeClr val="tx1"/>
                </a:solidFill>
                <a:latin typeface="Times New Roman Regular" panose="02020503050405090304" charset="0"/>
                <a:cs typeface="Times New Roman Regular" panose="02020503050405090304" charset="0"/>
                <a:sym typeface="+mn-ea"/>
              </a:rPr>
              <a:t>循环容量保持</a:t>
            </a:r>
            <a:r>
              <a:rPr lang="en-US" altLang="zh-CN">
                <a:solidFill>
                  <a:schemeClr val="tx1"/>
                </a:solidFill>
                <a:latin typeface="Times New Roman Regular" panose="02020503050405090304" charset="0"/>
                <a:cs typeface="Times New Roman Regular" panose="02020503050405090304" charset="0"/>
                <a:sym typeface="+mn-ea"/>
              </a:rPr>
              <a:t>83%</a:t>
            </a:r>
            <a:r>
              <a:rPr lang="zh-CN" altLang="en-US">
                <a:solidFill>
                  <a:schemeClr val="tx1"/>
                </a:solidFill>
                <a:latin typeface="Times New Roman Regular" panose="02020503050405090304" charset="0"/>
                <a:cs typeface="Times New Roman Regular" panose="02020503050405090304" charset="0"/>
                <a:sym typeface="+mn-ea"/>
              </a:rPr>
              <a:t>）。</a:t>
            </a:r>
            <a:endParaRPr lang="zh-CN" altLang="en-US">
              <a:solidFill>
                <a:schemeClr val="tx1"/>
              </a:solidFill>
              <a:latin typeface="Times New Roman Regular" panose="02020503050405090304" charset="0"/>
              <a:cs typeface="Times New Roman Regular" panose="02020503050405090304" charset="0"/>
              <a:sym typeface="+mn-ea"/>
            </a:endParaRPr>
          </a:p>
        </p:txBody>
      </p:sp>
      <p:pic>
        <p:nvPicPr>
          <p:cNvPr id="16" name="图片 15"/>
          <p:cNvPicPr>
            <a:picLocks noChangeAspect="1"/>
          </p:cNvPicPr>
          <p:nvPr/>
        </p:nvPicPr>
        <p:blipFill>
          <a:blip r:embed="rId1"/>
          <a:stretch>
            <a:fillRect/>
          </a:stretch>
        </p:blipFill>
        <p:spPr>
          <a:xfrm>
            <a:off x="212725" y="3904615"/>
            <a:ext cx="4314825" cy="1758315"/>
          </a:xfrm>
          <a:prstGeom prst="rect">
            <a:avLst/>
          </a:prstGeom>
        </p:spPr>
      </p:pic>
      <p:sp>
        <p:nvSpPr>
          <p:cNvPr id="17" name="圆角矩形 16"/>
          <p:cNvSpPr/>
          <p:nvPr/>
        </p:nvSpPr>
        <p:spPr>
          <a:xfrm>
            <a:off x="166370" y="1226185"/>
            <a:ext cx="4455160" cy="4930775"/>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8" name="图片 17"/>
          <p:cNvPicPr>
            <a:picLocks noChangeAspect="1"/>
          </p:cNvPicPr>
          <p:nvPr/>
        </p:nvPicPr>
        <p:blipFill>
          <a:blip r:embed="rId2"/>
          <a:stretch>
            <a:fillRect/>
          </a:stretch>
        </p:blipFill>
        <p:spPr>
          <a:xfrm>
            <a:off x="302260" y="2353945"/>
            <a:ext cx="4135755" cy="1313180"/>
          </a:xfrm>
          <a:prstGeom prst="rect">
            <a:avLst/>
          </a:prstGeom>
        </p:spPr>
      </p:pic>
      <p:sp>
        <p:nvSpPr>
          <p:cNvPr id="19" name="文本框 18"/>
          <p:cNvSpPr txBox="1"/>
          <p:nvPr/>
        </p:nvSpPr>
        <p:spPr>
          <a:xfrm>
            <a:off x="1180465" y="1664335"/>
            <a:ext cx="2524760" cy="368300"/>
          </a:xfrm>
          <a:prstGeom prst="rect">
            <a:avLst/>
          </a:prstGeom>
          <a:noFill/>
        </p:spPr>
        <p:txBody>
          <a:bodyPr wrap="square" rtlCol="0">
            <a:spAutoFit/>
          </a:bodyPr>
          <a:p>
            <a:r>
              <a:rPr lang="zh-CN" altLang="en-US"/>
              <a:t>结构化信息</a:t>
            </a:r>
            <a:r>
              <a:rPr lang="en-US" altLang="zh-CN"/>
              <a:t>+</a:t>
            </a:r>
            <a:r>
              <a:rPr lang="zh-CN" altLang="en-US"/>
              <a:t>文献摘要</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占位符 1"/>
          <p:cNvSpPr txBox="1"/>
          <p:nvPr/>
        </p:nvSpPr>
        <p:spPr>
          <a:xfrm>
            <a:off x="608291" y="275509"/>
            <a:ext cx="6639560" cy="363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2200" b="1" u="none" strike="noStrike" kern="1200" cap="none" spc="100" normalizeH="0">
                <a:solidFill>
                  <a:srgbClr val="00489D"/>
                </a:solidFill>
                <a:uFillTx/>
                <a:latin typeface="微软雅黑" charset="-122"/>
                <a:ea typeface="微软雅黑"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r>
              <a:rPr lang="en-US" altLang="zh-CN" dirty="0">
                <a:sym typeface="+mn-ea"/>
              </a:rPr>
              <a:t>03 </a:t>
            </a:r>
            <a:r>
              <a:rPr lang="zh-CN" altLang="en-US" dirty="0">
                <a:sym typeface="+mn-ea"/>
              </a:rPr>
              <a:t>多智能体问答系统</a:t>
            </a:r>
            <a:r>
              <a:rPr lang="zh-CN" altLang="en-US" dirty="0">
                <a:sym typeface="+mn-ea"/>
              </a:rPr>
              <a:t>的搭建</a:t>
            </a:r>
            <a:endParaRPr lang="zh-CN" altLang="en-US" dirty="0"/>
          </a:p>
        </p:txBody>
      </p:sp>
      <p:sp>
        <p:nvSpPr>
          <p:cNvPr id="25" name="文本框 24"/>
          <p:cNvSpPr txBox="1"/>
          <p:nvPr/>
        </p:nvSpPr>
        <p:spPr>
          <a:xfrm>
            <a:off x="1181295" y="695845"/>
            <a:ext cx="6801562"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|——neo4j</a:t>
            </a:r>
            <a:r>
              <a:rPr lang="zh-CN" altLang="en-US" sz="2000" b="1" dirty="0">
                <a:latin typeface="黑体" panose="02010609060101010101" pitchFamily="49" charset="-122"/>
                <a:ea typeface="黑体" panose="02010609060101010101" pitchFamily="49" charset="-122"/>
              </a:rPr>
              <a:t>社区摘要</a:t>
            </a:r>
            <a:r>
              <a:rPr lang="zh-CN" altLang="en-US" sz="2000" b="1" dirty="0">
                <a:latin typeface="黑体" panose="02010609060101010101" pitchFamily="49" charset="-122"/>
                <a:ea typeface="黑体" panose="02010609060101010101" pitchFamily="49" charset="-122"/>
              </a:rPr>
              <a:t>数据库</a:t>
            </a:r>
            <a:endParaRPr lang="zh-CN" altLang="en-US" sz="2000" b="1" dirty="0">
              <a:latin typeface="黑体" panose="02010609060101010101" pitchFamily="49" charset="-122"/>
              <a:ea typeface="黑体" panose="02010609060101010101" pitchFamily="49" charset="-122"/>
            </a:endParaRPr>
          </a:p>
        </p:txBody>
      </p:sp>
      <p:sp>
        <p:nvSpPr>
          <p:cNvPr id="4" name="文本框 3"/>
          <p:cNvSpPr txBox="1"/>
          <p:nvPr/>
        </p:nvSpPr>
        <p:spPr>
          <a:xfrm>
            <a:off x="2496185" y="1221740"/>
            <a:ext cx="7200265" cy="398780"/>
          </a:xfrm>
          <a:prstGeom prst="rect">
            <a:avLst/>
          </a:prstGeom>
        </p:spPr>
        <p:txBody>
          <a:bodyPr>
            <a:noAutofit/>
          </a:bodyPr>
          <a:p>
            <a:pPr marL="0" indent="0" algn="l"/>
            <a:r>
              <a:rPr lang="zh-CN" altLang="en-US" b="0" i="0">
                <a:solidFill>
                  <a:srgbClr val="0F1115"/>
                </a:solidFill>
                <a:latin typeface="Times New Roman Regular" panose="02020503050405090304" charset="0"/>
                <a:ea typeface="quote-cjk-patch"/>
                <a:cs typeface="Times New Roman Regular" panose="02020503050405090304" charset="0"/>
              </a:rPr>
              <a:t>实现方法</a:t>
            </a:r>
            <a:r>
              <a:rPr lang="en-US" altLang="zh-CN" b="0" i="0">
                <a:solidFill>
                  <a:srgbClr val="0F1115"/>
                </a:solidFill>
                <a:latin typeface="Times New Roman Regular" panose="02020503050405090304" charset="0"/>
                <a:ea typeface="quote-cjk-patch"/>
                <a:cs typeface="Times New Roman Regular" panose="02020503050405090304" charset="0"/>
              </a:rPr>
              <a:t>：Neo4j + GDS</a:t>
            </a:r>
            <a:r>
              <a:rPr lang="zh-CN" altLang="en-US" b="0" i="0">
                <a:solidFill>
                  <a:srgbClr val="0F1115"/>
                </a:solidFill>
                <a:latin typeface="Times New Roman Regular" panose="02020503050405090304" charset="0"/>
                <a:ea typeface="quote-cjk-patch"/>
                <a:cs typeface="Times New Roman Regular" panose="02020503050405090304" charset="0"/>
              </a:rPr>
              <a:t>图数据科学 </a:t>
            </a:r>
            <a:r>
              <a:rPr lang="en-US" altLang="zh-CN" b="0" i="0">
                <a:solidFill>
                  <a:srgbClr val="0F1115"/>
                </a:solidFill>
                <a:latin typeface="Times New Roman Regular" panose="02020503050405090304" charset="0"/>
                <a:ea typeface="quote-cjk-patch"/>
                <a:cs typeface="Times New Roman Regular" panose="02020503050405090304" charset="0"/>
              </a:rPr>
              <a:t>+ Louvain</a:t>
            </a:r>
            <a:r>
              <a:rPr lang="zh-CN" altLang="en-US" b="0" i="0">
                <a:solidFill>
                  <a:srgbClr val="0F1115"/>
                </a:solidFill>
                <a:latin typeface="Times New Roman Regular" panose="02020503050405090304" charset="0"/>
                <a:ea typeface="quote-cjk-patch"/>
                <a:cs typeface="Times New Roman Regular" panose="02020503050405090304" charset="0"/>
              </a:rPr>
              <a:t>算法 </a:t>
            </a:r>
            <a:r>
              <a:rPr lang="en-US" altLang="zh-CN" b="0" i="0">
                <a:solidFill>
                  <a:srgbClr val="0F1115"/>
                </a:solidFill>
                <a:latin typeface="Times New Roman Regular" panose="02020503050405090304" charset="0"/>
                <a:ea typeface="quote-cjk-patch"/>
                <a:cs typeface="Times New Roman Regular" panose="02020503050405090304" charset="0"/>
              </a:rPr>
              <a:t>+ </a:t>
            </a:r>
            <a:r>
              <a:rPr lang="zh-CN" altLang="en-US" b="0" i="0">
                <a:solidFill>
                  <a:srgbClr val="0F1115"/>
                </a:solidFill>
                <a:latin typeface="Times New Roman Regular" panose="02020503050405090304" charset="0"/>
                <a:ea typeface="quote-cjk-patch"/>
                <a:cs typeface="Times New Roman Regular" panose="02020503050405090304" charset="0"/>
              </a:rPr>
              <a:t>大语言模型</a:t>
            </a:r>
            <a:endParaRPr lang="zh-CN" altLang="en-US" b="0" i="0">
              <a:solidFill>
                <a:srgbClr val="0F1115"/>
              </a:solidFill>
              <a:latin typeface="Times New Roman Regular" panose="02020503050405090304" charset="0"/>
              <a:ea typeface="quote-cjk-patch"/>
              <a:cs typeface="Times New Roman Regular" panose="02020503050405090304" charset="0"/>
            </a:endParaRPr>
          </a:p>
          <a:p>
            <a:pPr marL="0" indent="0" algn="l"/>
            <a:endParaRPr lang="zh-CN" altLang="en-US" b="0" i="0">
              <a:solidFill>
                <a:srgbClr val="0F1115"/>
              </a:solidFill>
              <a:latin typeface="Times New Roman Regular" panose="02020503050405090304" charset="0"/>
              <a:ea typeface="quote-cjk-patch"/>
              <a:cs typeface="Times New Roman Regular" panose="02020503050405090304" charset="0"/>
            </a:endParaRPr>
          </a:p>
          <a:p>
            <a:pPr marL="0" indent="0" algn="l"/>
            <a:endParaRPr lang="zh-CN" altLang="en-US" b="0" i="0">
              <a:solidFill>
                <a:srgbClr val="0F1115"/>
              </a:solidFill>
              <a:latin typeface="Times New Roman Regular" panose="02020503050405090304" charset="0"/>
              <a:ea typeface="quote-cjk-patch"/>
              <a:cs typeface="Times New Roman Regular" panose="02020503050405090304" charset="0"/>
            </a:endParaRPr>
          </a:p>
          <a:p>
            <a:pPr marL="0" indent="0" algn="l"/>
            <a:endParaRPr lang="zh-CN" altLang="en-US" b="0" i="0">
              <a:solidFill>
                <a:srgbClr val="0F1115"/>
              </a:solidFill>
              <a:latin typeface="Times New Roman Regular" panose="02020503050405090304" charset="0"/>
              <a:ea typeface="quote-cjk-patch"/>
              <a:cs typeface="Times New Roman Regular" panose="02020503050405090304" charset="0"/>
            </a:endParaRPr>
          </a:p>
          <a:p>
            <a:pPr marL="0" indent="0" algn="l"/>
            <a:endParaRPr lang="zh-CN" altLang="en-US" sz="1600" b="0" i="0">
              <a:solidFill>
                <a:srgbClr val="0F1115"/>
              </a:solidFill>
              <a:latin typeface="quote-cjk-patch"/>
              <a:ea typeface="quote-cjk-patch"/>
            </a:endParaRPr>
          </a:p>
        </p:txBody>
      </p:sp>
      <p:pic>
        <p:nvPicPr>
          <p:cNvPr id="3" name="图片 2"/>
          <p:cNvPicPr>
            <a:picLocks noChangeAspect="1"/>
          </p:cNvPicPr>
          <p:nvPr/>
        </p:nvPicPr>
        <p:blipFill>
          <a:blip r:embed="rId1"/>
          <a:stretch>
            <a:fillRect/>
          </a:stretch>
        </p:blipFill>
        <p:spPr>
          <a:xfrm>
            <a:off x="985520" y="2123440"/>
            <a:ext cx="2807970" cy="1143635"/>
          </a:xfrm>
          <a:prstGeom prst="rect">
            <a:avLst/>
          </a:prstGeom>
        </p:spPr>
      </p:pic>
      <p:pic>
        <p:nvPicPr>
          <p:cNvPr id="6" name="图片 5"/>
          <p:cNvPicPr>
            <a:picLocks noChangeAspect="1"/>
          </p:cNvPicPr>
          <p:nvPr/>
        </p:nvPicPr>
        <p:blipFill>
          <a:blip r:embed="rId2"/>
          <a:srcRect l="8193" t="48309" r="66784" b="9606"/>
          <a:stretch>
            <a:fillRect/>
          </a:stretch>
        </p:blipFill>
        <p:spPr>
          <a:xfrm>
            <a:off x="3094990" y="4360545"/>
            <a:ext cx="1994535" cy="1885950"/>
          </a:xfrm>
          <a:prstGeom prst="rect">
            <a:avLst/>
          </a:prstGeom>
        </p:spPr>
      </p:pic>
      <p:sp>
        <p:nvSpPr>
          <p:cNvPr id="7" name="文本框 6"/>
          <p:cNvSpPr txBox="1"/>
          <p:nvPr/>
        </p:nvSpPr>
        <p:spPr>
          <a:xfrm>
            <a:off x="7982585" y="1667510"/>
            <a:ext cx="3919855" cy="2306955"/>
          </a:xfrm>
          <a:prstGeom prst="rect">
            <a:avLst/>
          </a:prstGeom>
        </p:spPr>
        <p:txBody>
          <a:bodyPr wrap="square">
            <a:spAutoFit/>
          </a:bodyPr>
          <a:p>
            <a:pPr marL="0" algn="l">
              <a:buClrTx/>
              <a:buSzTx/>
              <a:buFont typeface="Arial" panose="020B0604020202090204"/>
            </a:pPr>
            <a:r>
              <a:rPr lang="en-US" altLang="zh-CN" sz="1800" b="0" i="0">
                <a:solidFill>
                  <a:srgbClr val="0F1115"/>
                </a:solidFill>
                <a:latin typeface="Times New Roman Regular" panose="02020503050405090304" charset="0"/>
                <a:ea typeface="quote-cjk-patch"/>
                <a:cs typeface="Times New Roman Regular" panose="02020503050405090304" charset="0"/>
              </a:rPr>
              <a:t>Louvain 算法</a:t>
            </a:r>
            <a:endParaRPr lang="en-US" altLang="zh-CN" sz="1800" b="0" i="0">
              <a:solidFill>
                <a:srgbClr val="0F1115"/>
              </a:solidFill>
              <a:latin typeface="Times New Roman Regular" panose="02020503050405090304" charset="0"/>
              <a:ea typeface="quote-cjk-patch"/>
              <a:cs typeface="Times New Roman Regular" panose="02020503050405090304" charset="0"/>
            </a:endParaRPr>
          </a:p>
          <a:p>
            <a:pPr marL="0" algn="l">
              <a:buClrTx/>
              <a:buSzTx/>
              <a:buFont typeface="Arial" panose="020B0604020202090204"/>
            </a:pPr>
            <a:r>
              <a:rPr lang="en-US" altLang="zh-CN" sz="1800" b="0" i="0">
                <a:solidFill>
                  <a:srgbClr val="0F1115"/>
                </a:solidFill>
                <a:latin typeface="Times New Roman Regular" panose="02020503050405090304" charset="0"/>
                <a:ea typeface="quote-cjk-patch"/>
                <a:cs typeface="Times New Roman Regular" panose="02020503050405090304" charset="0"/>
              </a:rPr>
              <a:t>初始阶段：算法将每个节点视为一个独立的社区。</a:t>
            </a:r>
            <a:endParaRPr lang="en-US" altLang="zh-CN" sz="1800" b="0" i="0">
              <a:solidFill>
                <a:srgbClr val="0F1115"/>
              </a:solidFill>
              <a:latin typeface="Times New Roman Regular" panose="02020503050405090304" charset="0"/>
              <a:ea typeface="quote-cjk-patch"/>
              <a:cs typeface="Times New Roman Regular" panose="02020503050405090304" charset="0"/>
            </a:endParaRPr>
          </a:p>
          <a:p>
            <a:pPr marL="0" algn="l">
              <a:buClrTx/>
              <a:buSzTx/>
              <a:buFont typeface="Arial" panose="020B0604020202090204"/>
            </a:pPr>
            <a:r>
              <a:rPr lang="en-US" altLang="zh-CN" sz="1800" b="0" i="0">
                <a:solidFill>
                  <a:srgbClr val="0F1115"/>
                </a:solidFill>
                <a:latin typeface="Times New Roman Regular" panose="02020503050405090304" charset="0"/>
                <a:ea typeface="quote-cjk-patch"/>
                <a:cs typeface="Times New Roman Regular" panose="02020503050405090304" charset="0"/>
              </a:rPr>
              <a:t>合并阶段：它通过分析节点之间的连接强度，将具有高链接密度的节点合并为同一个社区。</a:t>
            </a:r>
            <a:endParaRPr lang="en-US" altLang="zh-CN" sz="1800" b="0" i="0">
              <a:solidFill>
                <a:srgbClr val="0F1115"/>
              </a:solidFill>
              <a:latin typeface="Times New Roman Regular" panose="02020503050405090304" charset="0"/>
              <a:ea typeface="quote-cjk-patch"/>
              <a:cs typeface="Times New Roman Regular" panose="02020503050405090304" charset="0"/>
            </a:endParaRPr>
          </a:p>
          <a:p>
            <a:pPr marL="0" algn="l">
              <a:buClrTx/>
              <a:buSzTx/>
              <a:buFont typeface="Arial" panose="020B0604020202090204"/>
            </a:pPr>
            <a:r>
              <a:rPr lang="en-US" altLang="zh-CN" sz="1800" b="0" i="0">
                <a:solidFill>
                  <a:srgbClr val="0F1115"/>
                </a:solidFill>
                <a:latin typeface="Times New Roman Regular" panose="02020503050405090304" charset="0"/>
                <a:ea typeface="quote-cjk-patch"/>
                <a:cs typeface="Times New Roman Regular" panose="02020503050405090304" charset="0"/>
              </a:rPr>
              <a:t>优化过程：重复合并的过程，直到无法再进一步优化为止。</a:t>
            </a:r>
            <a:endParaRPr lang="en-US" altLang="zh-CN" sz="1800" b="0" i="0">
              <a:solidFill>
                <a:srgbClr val="0F1115"/>
              </a:solidFill>
              <a:latin typeface="Times New Roman Regular" panose="02020503050405090304" charset="0"/>
              <a:ea typeface="quote-cjk-patch"/>
              <a:cs typeface="Times New Roman Regular" panose="02020503050405090304" charset="0"/>
            </a:endParaRPr>
          </a:p>
        </p:txBody>
      </p:sp>
      <p:sp>
        <p:nvSpPr>
          <p:cNvPr id="8" name="文本框 7"/>
          <p:cNvSpPr txBox="1"/>
          <p:nvPr/>
        </p:nvSpPr>
        <p:spPr>
          <a:xfrm>
            <a:off x="203835" y="3904615"/>
            <a:ext cx="3002915" cy="1329690"/>
          </a:xfrm>
          <a:prstGeom prst="rect">
            <a:avLst/>
          </a:prstGeom>
        </p:spPr>
        <p:txBody>
          <a:bodyPr>
            <a:noAutofit/>
          </a:bodyPr>
          <a:p>
            <a:pPr marL="0" indent="0"/>
            <a:r>
              <a:rPr lang="en-US" altLang="zh-CN" sz="1800" b="0" i="0">
                <a:solidFill>
                  <a:srgbClr val="0F1115"/>
                </a:solidFill>
                <a:latin typeface="Times New Roman Regular" panose="02020503050405090304" charset="0"/>
                <a:ea typeface="quote-cjk-patch"/>
                <a:cs typeface="Times New Roman Regular" panose="02020503050405090304" charset="0"/>
              </a:rPr>
              <a:t>图数据科学（GDS）</a:t>
            </a:r>
            <a:endParaRPr lang="en-US" altLang="zh-CN" sz="1800" b="0" i="0">
              <a:solidFill>
                <a:srgbClr val="0F1115"/>
              </a:solidFill>
              <a:latin typeface="Times New Roman Regular" panose="02020503050405090304" charset="0"/>
              <a:ea typeface="quote-cjk-patch"/>
              <a:cs typeface="Times New Roman Regular" panose="02020503050405090304" charset="0"/>
            </a:endParaRPr>
          </a:p>
          <a:p>
            <a:pPr marL="0" indent="0"/>
            <a:r>
              <a:rPr lang="en-US" altLang="zh-CN" sz="1800" b="0" i="0">
                <a:solidFill>
                  <a:srgbClr val="0F1115"/>
                </a:solidFill>
                <a:latin typeface="Times New Roman Regular" panose="02020503050405090304" charset="0"/>
                <a:ea typeface="quote-cjk-patch"/>
                <a:cs typeface="Times New Roman Regular" panose="02020503050405090304" charset="0"/>
              </a:rPr>
              <a:t>能够有效地处理和分析图形数据，在进行社区检测之前，首先需要确保我们对节点与边的构成数据有充分的理解，经过 GDS 处理的图数据更加干净和结构化，这样 Louvain 算法可以更准确地输出结果。</a:t>
            </a:r>
            <a:endParaRPr lang="en-US" altLang="zh-CN" sz="1800" b="0" i="0">
              <a:solidFill>
                <a:srgbClr val="0F1115"/>
              </a:solidFill>
              <a:latin typeface="Times New Roman Regular" panose="02020503050405090304" charset="0"/>
              <a:ea typeface="quote-cjk-patch"/>
              <a:cs typeface="Times New Roman Regular" panose="02020503050405090304" charset="0"/>
            </a:endParaRPr>
          </a:p>
        </p:txBody>
      </p:sp>
      <p:pic>
        <p:nvPicPr>
          <p:cNvPr id="9" name="图片 8"/>
          <p:cNvPicPr>
            <a:picLocks noChangeAspect="1"/>
          </p:cNvPicPr>
          <p:nvPr/>
        </p:nvPicPr>
        <p:blipFill>
          <a:blip r:embed="rId2"/>
          <a:srcRect l="38370" t="47997" r="36607" b="9918"/>
          <a:stretch>
            <a:fillRect/>
          </a:stretch>
        </p:blipFill>
        <p:spPr>
          <a:xfrm>
            <a:off x="5743575" y="1747520"/>
            <a:ext cx="1994535" cy="1885950"/>
          </a:xfrm>
          <a:prstGeom prst="rect">
            <a:avLst/>
          </a:prstGeom>
        </p:spPr>
      </p:pic>
      <p:pic>
        <p:nvPicPr>
          <p:cNvPr id="10" name="图片 9"/>
          <p:cNvPicPr>
            <a:picLocks noChangeAspect="1"/>
          </p:cNvPicPr>
          <p:nvPr/>
        </p:nvPicPr>
        <p:blipFill>
          <a:blip r:embed="rId2"/>
          <a:srcRect l="67480" t="47997" r="7497" b="9918"/>
          <a:stretch>
            <a:fillRect/>
          </a:stretch>
        </p:blipFill>
        <p:spPr>
          <a:xfrm>
            <a:off x="9309100" y="4179570"/>
            <a:ext cx="1994535" cy="1885950"/>
          </a:xfrm>
          <a:prstGeom prst="rect">
            <a:avLst/>
          </a:prstGeom>
        </p:spPr>
      </p:pic>
      <p:sp>
        <p:nvSpPr>
          <p:cNvPr id="11" name="文本框 10"/>
          <p:cNvSpPr txBox="1"/>
          <p:nvPr/>
        </p:nvSpPr>
        <p:spPr>
          <a:xfrm>
            <a:off x="6070600" y="4461510"/>
            <a:ext cx="3514090" cy="1476375"/>
          </a:xfrm>
          <a:prstGeom prst="rect">
            <a:avLst/>
          </a:prstGeom>
        </p:spPr>
        <p:txBody>
          <a:bodyPr wrap="square">
            <a:spAutoFit/>
          </a:bodyPr>
          <a:p>
            <a:pPr marL="0" algn="l">
              <a:buClrTx/>
              <a:buSzTx/>
              <a:buFont typeface="Arial" panose="020B0604020202090204"/>
              <a:buNone/>
            </a:pPr>
            <a:r>
              <a:rPr lang="en-US" altLang="zh-CN" sz="1800" b="0" i="0">
                <a:solidFill>
                  <a:srgbClr val="0F1115"/>
                </a:solidFill>
                <a:latin typeface="Times New Roman Regular" panose="02020503050405090304" charset="0"/>
                <a:ea typeface="quote-cjk-patch"/>
                <a:cs typeface="Times New Roman Regular" panose="02020503050405090304" charset="0"/>
              </a:rPr>
              <a:t>将处理后的社区数据提供给 LLM，并设置明确的prompt，LLM 会分析提供的信息，并生成简洁的文本摘要，描述该社区的特征、活动和主要讨论主题。</a:t>
            </a:r>
            <a:endParaRPr lang="en-US" altLang="zh-CN" sz="1800" b="0" i="0">
              <a:solidFill>
                <a:srgbClr val="0F1115"/>
              </a:solidFill>
              <a:latin typeface="Times New Roman Regular" panose="02020503050405090304" charset="0"/>
              <a:ea typeface="quote-cjk-patch"/>
              <a:cs typeface="Times New Roman Regular" panose="02020503050405090304" charset="0"/>
            </a:endParaRPr>
          </a:p>
        </p:txBody>
      </p:sp>
      <p:sp>
        <p:nvSpPr>
          <p:cNvPr id="12" name="圆角矩形 11"/>
          <p:cNvSpPr/>
          <p:nvPr/>
        </p:nvSpPr>
        <p:spPr>
          <a:xfrm>
            <a:off x="92710" y="3905250"/>
            <a:ext cx="4996815" cy="2628265"/>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圆角矩形 12"/>
          <p:cNvSpPr/>
          <p:nvPr/>
        </p:nvSpPr>
        <p:spPr>
          <a:xfrm>
            <a:off x="5742940" y="4021455"/>
            <a:ext cx="6159500" cy="2512060"/>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圆角矩形 13"/>
          <p:cNvSpPr/>
          <p:nvPr/>
        </p:nvSpPr>
        <p:spPr>
          <a:xfrm>
            <a:off x="5743575" y="1588135"/>
            <a:ext cx="6159500" cy="2386330"/>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圆角矩形 14"/>
          <p:cNvSpPr/>
          <p:nvPr/>
        </p:nvSpPr>
        <p:spPr>
          <a:xfrm>
            <a:off x="92710" y="1588135"/>
            <a:ext cx="4996815" cy="2264410"/>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占位符 1"/>
          <p:cNvSpPr txBox="1"/>
          <p:nvPr/>
        </p:nvSpPr>
        <p:spPr>
          <a:xfrm>
            <a:off x="608291" y="275509"/>
            <a:ext cx="6639560" cy="363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2200" b="1" u="none" strike="noStrike" kern="1200" cap="none" spc="100" normalizeH="0">
                <a:solidFill>
                  <a:srgbClr val="00489D"/>
                </a:solidFill>
                <a:uFillTx/>
                <a:latin typeface="微软雅黑" charset="-122"/>
                <a:ea typeface="微软雅黑"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r>
              <a:rPr lang="en-US" altLang="zh-CN" dirty="0"/>
              <a:t>03 </a:t>
            </a:r>
            <a:r>
              <a:rPr lang="zh-CN" altLang="en-US" dirty="0"/>
              <a:t>多智能体问答系统</a:t>
            </a:r>
            <a:r>
              <a:rPr lang="zh-CN" altLang="en-US" dirty="0">
                <a:sym typeface="+mn-ea"/>
              </a:rPr>
              <a:t>的搭建</a:t>
            </a:r>
            <a:endParaRPr lang="zh-CN" altLang="en-US" dirty="0"/>
          </a:p>
        </p:txBody>
      </p:sp>
      <p:sp>
        <p:nvSpPr>
          <p:cNvPr id="25" name="文本框 24"/>
          <p:cNvSpPr txBox="1"/>
          <p:nvPr/>
        </p:nvSpPr>
        <p:spPr>
          <a:xfrm>
            <a:off x="1181295" y="695845"/>
            <a:ext cx="6801562"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精确查询技术</a:t>
            </a:r>
            <a:endParaRPr lang="zh-CN" altLang="en-US" sz="2000" b="1" dirty="0">
              <a:latin typeface="黑体" panose="02010609060101010101" pitchFamily="49" charset="-122"/>
              <a:ea typeface="黑体" panose="02010609060101010101" pitchFamily="49" charset="-122"/>
            </a:endParaRPr>
          </a:p>
        </p:txBody>
      </p:sp>
      <p:grpSp>
        <p:nvGrpSpPr>
          <p:cNvPr id="2" name="组合 1"/>
          <p:cNvGrpSpPr/>
          <p:nvPr/>
        </p:nvGrpSpPr>
        <p:grpSpPr>
          <a:xfrm>
            <a:off x="7673975" y="2282825"/>
            <a:ext cx="4066540" cy="3350260"/>
            <a:chOff x="1139" y="4308"/>
            <a:chExt cx="2776" cy="1092"/>
          </a:xfrm>
        </p:grpSpPr>
        <p:sp>
          <p:nvSpPr>
            <p:cNvPr id="3" name="矩形 2"/>
            <p:cNvSpPr/>
            <p:nvPr/>
          </p:nvSpPr>
          <p:spPr>
            <a:xfrm>
              <a:off x="1139" y="4308"/>
              <a:ext cx="2773" cy="1092"/>
            </a:xfrm>
            <a:prstGeom prst="rect">
              <a:avLst/>
            </a:prstGeom>
            <a:solidFill>
              <a:schemeClr val="accent1">
                <a:lumMod val="20000"/>
                <a:lumOff val="80000"/>
              </a:schemeClr>
            </a:soli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1141" y="4593"/>
              <a:ext cx="2774" cy="807"/>
            </a:xfrm>
            <a:prstGeom prst="rect">
              <a:avLst/>
            </a:prstGeom>
            <a:noFill/>
          </p:spPr>
          <p:txBody>
            <a:bodyPr wrap="square" rtlCol="0">
              <a:noAutofit/>
            </a:bodyPr>
            <a:p>
              <a:pPr algn="ctr"/>
              <a:endParaRPr lang="zh-CN" altLang="en-US"/>
            </a:p>
          </p:txBody>
        </p:sp>
      </p:grpSp>
      <p:grpSp>
        <p:nvGrpSpPr>
          <p:cNvPr id="9" name="组合 8"/>
          <p:cNvGrpSpPr/>
          <p:nvPr/>
        </p:nvGrpSpPr>
        <p:grpSpPr>
          <a:xfrm>
            <a:off x="726440" y="2282190"/>
            <a:ext cx="1762760" cy="693420"/>
            <a:chOff x="1139" y="4308"/>
            <a:chExt cx="2776" cy="1092"/>
          </a:xfrm>
        </p:grpSpPr>
        <p:sp>
          <p:nvSpPr>
            <p:cNvPr id="5" name="矩形 4"/>
            <p:cNvSpPr/>
            <p:nvPr/>
          </p:nvSpPr>
          <p:spPr>
            <a:xfrm>
              <a:off x="1139" y="4308"/>
              <a:ext cx="2773" cy="1092"/>
            </a:xfrm>
            <a:prstGeom prst="rect">
              <a:avLst/>
            </a:prstGeom>
            <a:solidFill>
              <a:schemeClr val="accent1">
                <a:lumMod val="20000"/>
                <a:lumOff val="80000"/>
              </a:schemeClr>
            </a:soli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41" y="4593"/>
              <a:ext cx="2774" cy="807"/>
            </a:xfrm>
            <a:prstGeom prst="rect">
              <a:avLst/>
            </a:prstGeom>
            <a:noFill/>
          </p:spPr>
          <p:txBody>
            <a:bodyPr wrap="square" rtlCol="0">
              <a:noAutofit/>
            </a:bodyPr>
            <a:p>
              <a:pPr algn="ctr"/>
              <a:r>
                <a:rPr lang="zh-CN" altLang="en-US"/>
                <a:t>精确查询</a:t>
              </a:r>
              <a:r>
                <a:rPr lang="zh-CN" altLang="en-US"/>
                <a:t>专家</a:t>
              </a:r>
              <a:endParaRPr lang="zh-CN" altLang="en-US"/>
            </a:p>
          </p:txBody>
        </p:sp>
      </p:grpSp>
      <p:cxnSp>
        <p:nvCxnSpPr>
          <p:cNvPr id="8" name="直接箭头连接符 7"/>
          <p:cNvCxnSpPr/>
          <p:nvPr/>
        </p:nvCxnSpPr>
        <p:spPr>
          <a:xfrm>
            <a:off x="1607185" y="2975610"/>
            <a:ext cx="0" cy="617855"/>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grpSp>
        <p:nvGrpSpPr>
          <p:cNvPr id="10" name="组合 9"/>
          <p:cNvGrpSpPr/>
          <p:nvPr/>
        </p:nvGrpSpPr>
        <p:grpSpPr>
          <a:xfrm>
            <a:off x="727075" y="3610610"/>
            <a:ext cx="2061845" cy="693420"/>
            <a:chOff x="1139" y="4308"/>
            <a:chExt cx="3247" cy="1092"/>
          </a:xfrm>
        </p:grpSpPr>
        <p:sp>
          <p:nvSpPr>
            <p:cNvPr id="11" name="矩形 10"/>
            <p:cNvSpPr/>
            <p:nvPr/>
          </p:nvSpPr>
          <p:spPr>
            <a:xfrm>
              <a:off x="1139" y="4308"/>
              <a:ext cx="2773" cy="1092"/>
            </a:xfrm>
            <a:prstGeom prst="rect">
              <a:avLst/>
            </a:prstGeom>
            <a:solidFill>
              <a:schemeClr val="accent1">
                <a:lumMod val="20000"/>
                <a:lumOff val="80000"/>
              </a:schemeClr>
            </a:soli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1139" y="4593"/>
              <a:ext cx="3247" cy="580"/>
            </a:xfrm>
            <a:prstGeom prst="rect">
              <a:avLst/>
            </a:prstGeom>
            <a:noFill/>
          </p:spPr>
          <p:txBody>
            <a:bodyPr wrap="square" rtlCol="0">
              <a:spAutoFit/>
            </a:bodyPr>
            <a:p>
              <a:r>
                <a:rPr lang="zh-CN" altLang="en-US"/>
                <a:t>生成</a:t>
              </a:r>
              <a:r>
                <a:rPr lang="en-US" altLang="zh-CN"/>
                <a:t>cypher</a:t>
              </a:r>
              <a:r>
                <a:rPr lang="zh-CN" altLang="en-US"/>
                <a:t>语言</a:t>
              </a:r>
              <a:endParaRPr lang="zh-CN" altLang="en-US"/>
            </a:p>
          </p:txBody>
        </p:sp>
      </p:grpSp>
      <p:grpSp>
        <p:nvGrpSpPr>
          <p:cNvPr id="16" name="组合 15"/>
          <p:cNvGrpSpPr/>
          <p:nvPr/>
        </p:nvGrpSpPr>
        <p:grpSpPr>
          <a:xfrm>
            <a:off x="724535" y="4939030"/>
            <a:ext cx="1762760" cy="693420"/>
            <a:chOff x="1139" y="4308"/>
            <a:chExt cx="2776" cy="1092"/>
          </a:xfrm>
        </p:grpSpPr>
        <p:sp>
          <p:nvSpPr>
            <p:cNvPr id="17" name="矩形 16"/>
            <p:cNvSpPr/>
            <p:nvPr/>
          </p:nvSpPr>
          <p:spPr>
            <a:xfrm>
              <a:off x="1139" y="4308"/>
              <a:ext cx="2773" cy="1092"/>
            </a:xfrm>
            <a:prstGeom prst="rect">
              <a:avLst/>
            </a:prstGeom>
            <a:solidFill>
              <a:schemeClr val="accent1">
                <a:lumMod val="20000"/>
                <a:lumOff val="80000"/>
              </a:schemeClr>
            </a:soli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1141" y="4593"/>
              <a:ext cx="2774" cy="807"/>
            </a:xfrm>
            <a:prstGeom prst="rect">
              <a:avLst/>
            </a:prstGeom>
            <a:noFill/>
          </p:spPr>
          <p:txBody>
            <a:bodyPr wrap="square" rtlCol="0">
              <a:noAutofit/>
            </a:bodyPr>
            <a:p>
              <a:pPr algn="ctr"/>
              <a:r>
                <a:rPr lang="zh-CN" altLang="en-US"/>
                <a:t>查询</a:t>
              </a:r>
              <a:r>
                <a:rPr lang="zh-CN" altLang="en-US"/>
                <a:t>知识图谱</a:t>
              </a:r>
              <a:endParaRPr lang="zh-CN" altLang="en-US"/>
            </a:p>
          </p:txBody>
        </p:sp>
      </p:grpSp>
      <p:cxnSp>
        <p:nvCxnSpPr>
          <p:cNvPr id="19" name="直接箭头连接符 18"/>
          <p:cNvCxnSpPr/>
          <p:nvPr/>
        </p:nvCxnSpPr>
        <p:spPr>
          <a:xfrm>
            <a:off x="1607185" y="4325620"/>
            <a:ext cx="0" cy="617855"/>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sp>
        <p:nvSpPr>
          <p:cNvPr id="20" name="圆角矩形 19"/>
          <p:cNvSpPr/>
          <p:nvPr/>
        </p:nvSpPr>
        <p:spPr>
          <a:xfrm>
            <a:off x="188595" y="1928495"/>
            <a:ext cx="2836545" cy="4072255"/>
          </a:xfrm>
          <a:prstGeom prst="roundRect">
            <a:avLst/>
          </a:prstGeom>
          <a:noFill/>
          <a:ln>
            <a:prstDash val="dashDot"/>
          </a:ln>
          <a:extLst>
            <a:ext uri="{909E8E84-426E-40DD-AFC4-6F175D3DCCD1}">
              <a14:hiddenFill xmlns:a14="http://schemas.microsoft.com/office/drawing/2010/main">
                <a:solidFill>
                  <a:schemeClr val="accent1">
                    <a:lumMod val="20000"/>
                    <a:lumOff val="8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1" name="直接箭头连接符 20"/>
          <p:cNvCxnSpPr>
            <a:stCxn id="20" idx="3"/>
          </p:cNvCxnSpPr>
          <p:nvPr/>
        </p:nvCxnSpPr>
        <p:spPr>
          <a:xfrm>
            <a:off x="3025140" y="3964940"/>
            <a:ext cx="668655" cy="0"/>
          </a:xfrm>
          <a:prstGeom prst="straightConnector1">
            <a:avLst/>
          </a:prstGeom>
          <a:ln w="12700" cap="flat" cmpd="sng" algn="ctr">
            <a:solidFill>
              <a:schemeClr val="accent1"/>
            </a:solidFill>
            <a:prstDash val="dashDot"/>
            <a:miter lim="800000"/>
            <a:tailEnd type="arrow" w="med" len="med"/>
          </a:ln>
        </p:spPr>
        <p:style>
          <a:lnRef idx="0">
            <a:schemeClr val="accent1"/>
          </a:lnRef>
          <a:fillRef idx="0">
            <a:srgbClr val="FFFFFF"/>
          </a:fillRef>
          <a:effectRef idx="0">
            <a:srgbClr val="FFFFFF"/>
          </a:effectRef>
          <a:fontRef idx="minor">
            <a:schemeClr val="tx1"/>
          </a:fontRef>
        </p:style>
      </p:cxnSp>
      <p:cxnSp>
        <p:nvCxnSpPr>
          <p:cNvPr id="30" name="直接箭头连接符 29"/>
          <p:cNvCxnSpPr/>
          <p:nvPr/>
        </p:nvCxnSpPr>
        <p:spPr>
          <a:xfrm>
            <a:off x="7235190" y="3964940"/>
            <a:ext cx="410845" cy="0"/>
          </a:xfrm>
          <a:prstGeom prst="straightConnector1">
            <a:avLst/>
          </a:prstGeom>
          <a:ln w="12700" cap="flat" cmpd="sng" algn="ctr">
            <a:solidFill>
              <a:schemeClr val="accent1"/>
            </a:solidFill>
            <a:prstDash val="dashDot"/>
            <a:miter lim="800000"/>
            <a:tailEnd type="arrow" w="med" len="med"/>
          </a:ln>
        </p:spPr>
        <p:style>
          <a:lnRef idx="0">
            <a:schemeClr val="accent1"/>
          </a:lnRef>
          <a:fillRef idx="0">
            <a:srgbClr val="FFFFFF"/>
          </a:fillRef>
          <a:effectRef idx="0">
            <a:srgbClr val="FFFFFF"/>
          </a:effectRef>
          <a:fontRef idx="minor">
            <a:schemeClr val="tx1"/>
          </a:fontRef>
        </p:style>
      </p:cxnSp>
      <p:sp>
        <p:nvSpPr>
          <p:cNvPr id="33" name="文本框 32"/>
          <p:cNvSpPr txBox="1"/>
          <p:nvPr/>
        </p:nvSpPr>
        <p:spPr>
          <a:xfrm>
            <a:off x="7741920" y="2975610"/>
            <a:ext cx="4084320" cy="2475230"/>
          </a:xfrm>
          <a:prstGeom prst="rect">
            <a:avLst/>
          </a:prstGeom>
          <a:noFill/>
        </p:spPr>
        <p:txBody>
          <a:bodyPr wrap="square" rtlCol="0" anchor="t">
            <a:noAutofit/>
          </a:bodyPr>
          <a:p>
            <a:r>
              <a:rPr lang="en-US" altLang="zh-CN" sz="1600"/>
              <a:t>MATCH (n:name)-[:tap_density]-&gt;(t:tap_density)</a:t>
            </a:r>
            <a:endParaRPr lang="en-US" altLang="zh-CN" sz="1600"/>
          </a:p>
          <a:p>
            <a:r>
              <a:rPr lang="en-US" altLang="zh-CN" sz="1600"/>
              <a:t>WHERE toFloat(split(replace(t.name, 'g', ' g'), ' ')[0]) &gt; 2.5</a:t>
            </a:r>
            <a:endParaRPr lang="en-US" altLang="zh-CN" sz="1600"/>
          </a:p>
          <a:p>
            <a:r>
              <a:rPr lang="en-US" altLang="zh-CN" sz="1600"/>
              <a:t>RETURN n.name AS material_name, t.name as tap_density</a:t>
            </a:r>
            <a:endParaRPr lang="en-US" altLang="zh-CN" sz="1600"/>
          </a:p>
          <a:p>
            <a:r>
              <a:rPr lang="en-US" altLang="zh-CN" sz="1600"/>
              <a:t>ORDER BY toFloat(split(replace(t.name, 'g', ' g'), ' ')[0]) DESC</a:t>
            </a:r>
            <a:endParaRPr lang="en-US" altLang="zh-CN" sz="1600"/>
          </a:p>
        </p:txBody>
      </p:sp>
      <p:grpSp>
        <p:nvGrpSpPr>
          <p:cNvPr id="23" name="组合 22"/>
          <p:cNvGrpSpPr/>
          <p:nvPr/>
        </p:nvGrpSpPr>
        <p:grpSpPr>
          <a:xfrm>
            <a:off x="3815715" y="2927985"/>
            <a:ext cx="3257550" cy="2125345"/>
            <a:chOff x="5727" y="3856"/>
            <a:chExt cx="5130" cy="3347"/>
          </a:xfrm>
        </p:grpSpPr>
        <p:sp>
          <p:nvSpPr>
            <p:cNvPr id="15" name="文本框 14"/>
            <p:cNvSpPr txBox="1"/>
            <p:nvPr/>
          </p:nvSpPr>
          <p:spPr>
            <a:xfrm>
              <a:off x="5732" y="5796"/>
              <a:ext cx="4973" cy="1016"/>
            </a:xfrm>
            <a:prstGeom prst="rect">
              <a:avLst/>
            </a:prstGeom>
            <a:noFill/>
          </p:spPr>
          <p:txBody>
            <a:bodyPr wrap="square" rtlCol="0">
              <a:spAutoFit/>
            </a:bodyPr>
            <a:p>
              <a:pPr algn="ctr"/>
              <a:r>
                <a:rPr lang="zh-CN" altLang="en-US"/>
                <a:t>“振实密度大于</a:t>
              </a:r>
              <a:r>
                <a:rPr lang="en-US" altLang="zh-CN"/>
                <a:t>2.5</a:t>
              </a:r>
              <a:r>
                <a:rPr lang="zh-CN" altLang="en-US"/>
                <a:t>的材料有哪些</a:t>
              </a:r>
              <a:r>
                <a:rPr lang="en-US" altLang="zh-CN"/>
                <a:t>？</a:t>
              </a:r>
              <a:r>
                <a:rPr lang="zh-CN" altLang="en-US"/>
                <a:t>”</a:t>
              </a:r>
              <a:endParaRPr lang="zh-CN" altLang="en-US"/>
            </a:p>
          </p:txBody>
        </p:sp>
        <p:pic>
          <p:nvPicPr>
            <p:cNvPr id="7" name="图片 6"/>
            <p:cNvPicPr>
              <a:picLocks noChangeAspect="1"/>
            </p:cNvPicPr>
            <p:nvPr/>
          </p:nvPicPr>
          <p:blipFill>
            <a:blip r:embed="rId1"/>
            <a:stretch>
              <a:fillRect/>
            </a:stretch>
          </p:blipFill>
          <p:spPr>
            <a:xfrm>
              <a:off x="7420" y="3856"/>
              <a:ext cx="2160" cy="1940"/>
            </a:xfrm>
            <a:prstGeom prst="rect">
              <a:avLst/>
            </a:prstGeom>
          </p:spPr>
        </p:pic>
        <p:sp>
          <p:nvSpPr>
            <p:cNvPr id="22" name="圆角矩形 21"/>
            <p:cNvSpPr/>
            <p:nvPr/>
          </p:nvSpPr>
          <p:spPr>
            <a:xfrm>
              <a:off x="5727" y="3856"/>
              <a:ext cx="5130" cy="3347"/>
            </a:xfrm>
            <a:prstGeom prst="roundRect">
              <a:avLst/>
            </a:prstGeom>
            <a:noFill/>
            <a:ln>
              <a:solidFill>
                <a:schemeClr val="accent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占位符 1"/>
          <p:cNvSpPr txBox="1"/>
          <p:nvPr/>
        </p:nvSpPr>
        <p:spPr>
          <a:xfrm>
            <a:off x="608291" y="275509"/>
            <a:ext cx="6639560" cy="363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2200" b="1" u="none" strike="noStrike" kern="1200" cap="none" spc="100" normalizeH="0">
                <a:solidFill>
                  <a:srgbClr val="00489D"/>
                </a:solidFill>
                <a:uFillTx/>
                <a:latin typeface="微软雅黑" charset="-122"/>
                <a:ea typeface="微软雅黑"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r>
              <a:rPr lang="en-US" altLang="zh-CN" dirty="0"/>
              <a:t>03 </a:t>
            </a:r>
            <a:r>
              <a:rPr lang="zh-CN" altLang="en-US" dirty="0"/>
              <a:t>多智能体问答</a:t>
            </a:r>
            <a:r>
              <a:rPr lang="zh-CN" altLang="en-US" dirty="0"/>
              <a:t>系统</a:t>
            </a:r>
            <a:endParaRPr lang="zh-CN" altLang="en-US" dirty="0"/>
          </a:p>
        </p:txBody>
      </p:sp>
      <p:sp>
        <p:nvSpPr>
          <p:cNvPr id="25" name="文本框 24"/>
          <p:cNvSpPr txBox="1"/>
          <p:nvPr/>
        </p:nvSpPr>
        <p:spPr>
          <a:xfrm>
            <a:off x="1181295" y="695845"/>
            <a:ext cx="6801562"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向量化匹配技术</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微观与宏观语义</a:t>
            </a:r>
            <a:r>
              <a:rPr lang="en-US" altLang="zh-CN"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p:txBody>
      </p:sp>
      <p:grpSp>
        <p:nvGrpSpPr>
          <p:cNvPr id="7" name="组合 6"/>
          <p:cNvGrpSpPr/>
          <p:nvPr/>
        </p:nvGrpSpPr>
        <p:grpSpPr>
          <a:xfrm>
            <a:off x="726440" y="2282190"/>
            <a:ext cx="1762760" cy="693420"/>
            <a:chOff x="1139" y="4308"/>
            <a:chExt cx="2776" cy="1092"/>
          </a:xfrm>
        </p:grpSpPr>
        <p:sp>
          <p:nvSpPr>
            <p:cNvPr id="22" name="矩形 21"/>
            <p:cNvSpPr/>
            <p:nvPr/>
          </p:nvSpPr>
          <p:spPr>
            <a:xfrm>
              <a:off x="1139" y="4308"/>
              <a:ext cx="2773" cy="1092"/>
            </a:xfrm>
            <a:prstGeom prst="rect">
              <a:avLst/>
            </a:prstGeom>
            <a:solidFill>
              <a:schemeClr val="accent1">
                <a:lumMod val="20000"/>
                <a:lumOff val="80000"/>
              </a:schemeClr>
            </a:soli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1141" y="4385"/>
              <a:ext cx="2774" cy="1015"/>
            </a:xfrm>
            <a:prstGeom prst="rect">
              <a:avLst/>
            </a:prstGeom>
            <a:noFill/>
          </p:spPr>
          <p:txBody>
            <a:bodyPr wrap="square" rtlCol="0">
              <a:noAutofit/>
            </a:bodyPr>
            <a:p>
              <a:pPr algn="ctr"/>
              <a:r>
                <a:rPr lang="zh-CN" altLang="en-US"/>
                <a:t>微观</a:t>
              </a:r>
              <a:r>
                <a:rPr lang="en-US" altLang="zh-CN"/>
                <a:t>/</a:t>
              </a:r>
              <a:r>
                <a:rPr lang="zh-CN" altLang="en-US"/>
                <a:t>宏观语义专家</a:t>
              </a:r>
              <a:endParaRPr lang="zh-CN" altLang="en-US"/>
            </a:p>
          </p:txBody>
        </p:sp>
      </p:grpSp>
      <p:cxnSp>
        <p:nvCxnSpPr>
          <p:cNvPr id="26" name="直接箭头连接符 25"/>
          <p:cNvCxnSpPr/>
          <p:nvPr/>
        </p:nvCxnSpPr>
        <p:spPr>
          <a:xfrm>
            <a:off x="1607185" y="2975610"/>
            <a:ext cx="0" cy="617855"/>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grpSp>
        <p:nvGrpSpPr>
          <p:cNvPr id="27" name="组合 26"/>
          <p:cNvGrpSpPr/>
          <p:nvPr/>
        </p:nvGrpSpPr>
        <p:grpSpPr>
          <a:xfrm>
            <a:off x="727075" y="3610610"/>
            <a:ext cx="1761490" cy="693420"/>
            <a:chOff x="1139" y="4308"/>
            <a:chExt cx="2774" cy="1092"/>
          </a:xfrm>
        </p:grpSpPr>
        <p:sp>
          <p:nvSpPr>
            <p:cNvPr id="28" name="矩形 27"/>
            <p:cNvSpPr/>
            <p:nvPr/>
          </p:nvSpPr>
          <p:spPr>
            <a:xfrm>
              <a:off x="1139" y="4308"/>
              <a:ext cx="2773" cy="1092"/>
            </a:xfrm>
            <a:prstGeom prst="rect">
              <a:avLst/>
            </a:prstGeom>
            <a:solidFill>
              <a:schemeClr val="accent1">
                <a:lumMod val="20000"/>
                <a:lumOff val="80000"/>
              </a:schemeClr>
            </a:soli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文本框 28"/>
            <p:cNvSpPr txBox="1"/>
            <p:nvPr/>
          </p:nvSpPr>
          <p:spPr>
            <a:xfrm>
              <a:off x="1139" y="4593"/>
              <a:ext cx="2774" cy="580"/>
            </a:xfrm>
            <a:prstGeom prst="rect">
              <a:avLst/>
            </a:prstGeom>
            <a:noFill/>
          </p:spPr>
          <p:txBody>
            <a:bodyPr wrap="square" rtlCol="0">
              <a:spAutoFit/>
            </a:bodyPr>
            <a:p>
              <a:pPr algn="ctr"/>
              <a:r>
                <a:rPr lang="zh-CN" altLang="en-US"/>
                <a:t>问题</a:t>
              </a:r>
              <a:r>
                <a:rPr lang="zh-CN" altLang="en-US"/>
                <a:t>向量化</a:t>
              </a:r>
              <a:endParaRPr lang="zh-CN" altLang="en-US"/>
            </a:p>
          </p:txBody>
        </p:sp>
      </p:grpSp>
      <p:grpSp>
        <p:nvGrpSpPr>
          <p:cNvPr id="31" name="组合 30"/>
          <p:cNvGrpSpPr/>
          <p:nvPr/>
        </p:nvGrpSpPr>
        <p:grpSpPr>
          <a:xfrm>
            <a:off x="724535" y="4939030"/>
            <a:ext cx="1762760" cy="693420"/>
            <a:chOff x="1139" y="4308"/>
            <a:chExt cx="2776" cy="1092"/>
          </a:xfrm>
        </p:grpSpPr>
        <p:sp>
          <p:nvSpPr>
            <p:cNvPr id="32" name="矩形 31"/>
            <p:cNvSpPr/>
            <p:nvPr/>
          </p:nvSpPr>
          <p:spPr>
            <a:xfrm>
              <a:off x="1139" y="4308"/>
              <a:ext cx="2773" cy="1092"/>
            </a:xfrm>
            <a:prstGeom prst="rect">
              <a:avLst/>
            </a:prstGeom>
            <a:solidFill>
              <a:schemeClr val="accent1">
                <a:lumMod val="20000"/>
                <a:lumOff val="80000"/>
              </a:schemeClr>
            </a:soli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文本框 33"/>
            <p:cNvSpPr txBox="1"/>
            <p:nvPr/>
          </p:nvSpPr>
          <p:spPr>
            <a:xfrm>
              <a:off x="1141" y="4593"/>
              <a:ext cx="2774" cy="807"/>
            </a:xfrm>
            <a:prstGeom prst="rect">
              <a:avLst/>
            </a:prstGeom>
            <a:noFill/>
          </p:spPr>
          <p:txBody>
            <a:bodyPr wrap="square" rtlCol="0">
              <a:noAutofit/>
            </a:bodyPr>
            <a:p>
              <a:pPr algn="ctr"/>
              <a:r>
                <a:rPr lang="zh-CN" altLang="en-US"/>
                <a:t>数据库匹配</a:t>
              </a:r>
              <a:endParaRPr lang="zh-CN" altLang="en-US"/>
            </a:p>
          </p:txBody>
        </p:sp>
      </p:grpSp>
      <p:cxnSp>
        <p:nvCxnSpPr>
          <p:cNvPr id="35" name="直接箭头连接符 34"/>
          <p:cNvCxnSpPr/>
          <p:nvPr/>
        </p:nvCxnSpPr>
        <p:spPr>
          <a:xfrm>
            <a:off x="1607185" y="4325620"/>
            <a:ext cx="0" cy="617855"/>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sp>
        <p:nvSpPr>
          <p:cNvPr id="36" name="圆角矩形 35"/>
          <p:cNvSpPr/>
          <p:nvPr/>
        </p:nvSpPr>
        <p:spPr>
          <a:xfrm>
            <a:off x="188595" y="1928495"/>
            <a:ext cx="2836545" cy="4072255"/>
          </a:xfrm>
          <a:prstGeom prst="roundRect">
            <a:avLst/>
          </a:prstGeom>
          <a:noFill/>
          <a:ln>
            <a:prstDash val="dashDot"/>
          </a:ln>
          <a:extLst>
            <a:ext uri="{909E8E84-426E-40DD-AFC4-6F175D3DCCD1}">
              <a14:hiddenFill xmlns:a14="http://schemas.microsoft.com/office/drawing/2010/main">
                <a:solidFill>
                  <a:schemeClr val="accent1">
                    <a:lumMod val="20000"/>
                    <a:lumOff val="8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7" name="直接箭头连接符 36"/>
          <p:cNvCxnSpPr>
            <a:stCxn id="36" idx="3"/>
          </p:cNvCxnSpPr>
          <p:nvPr/>
        </p:nvCxnSpPr>
        <p:spPr>
          <a:xfrm>
            <a:off x="3025140" y="3964940"/>
            <a:ext cx="665480" cy="0"/>
          </a:xfrm>
          <a:prstGeom prst="straightConnector1">
            <a:avLst/>
          </a:prstGeom>
          <a:ln w="12700" cap="flat" cmpd="sng" algn="ctr">
            <a:solidFill>
              <a:schemeClr val="accent1"/>
            </a:solidFill>
            <a:prstDash val="dashDot"/>
            <a:miter lim="800000"/>
            <a:tailEnd type="arrow" w="med" len="med"/>
          </a:ln>
        </p:spPr>
        <p:style>
          <a:lnRef idx="0">
            <a:schemeClr val="accent1"/>
          </a:lnRef>
          <a:fillRef idx="0">
            <a:srgbClr val="FFFFFF"/>
          </a:fillRef>
          <a:effectRef idx="0">
            <a:srgbClr val="FFFFFF"/>
          </a:effectRef>
          <a:fontRef idx="minor">
            <a:schemeClr val="tx1"/>
          </a:fontRef>
        </p:style>
      </p:cxnSp>
      <p:grpSp>
        <p:nvGrpSpPr>
          <p:cNvPr id="38" name="组合 37"/>
          <p:cNvGrpSpPr/>
          <p:nvPr/>
        </p:nvGrpSpPr>
        <p:grpSpPr>
          <a:xfrm>
            <a:off x="3869690" y="3593465"/>
            <a:ext cx="3157855" cy="851535"/>
            <a:chOff x="1046" y="4308"/>
            <a:chExt cx="4973" cy="1341"/>
          </a:xfrm>
        </p:grpSpPr>
        <p:sp>
          <p:nvSpPr>
            <p:cNvPr id="39" name="矩形 38"/>
            <p:cNvSpPr/>
            <p:nvPr/>
          </p:nvSpPr>
          <p:spPr>
            <a:xfrm>
              <a:off x="1139" y="4308"/>
              <a:ext cx="4801" cy="1092"/>
            </a:xfrm>
            <a:prstGeom prst="rect">
              <a:avLst/>
            </a:prstGeom>
            <a:solidFill>
              <a:schemeClr val="accent1">
                <a:lumMod val="20000"/>
                <a:lumOff val="80000"/>
              </a:schemeClr>
            </a:soli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文本框 39"/>
            <p:cNvSpPr txBox="1"/>
            <p:nvPr/>
          </p:nvSpPr>
          <p:spPr>
            <a:xfrm>
              <a:off x="1046" y="4345"/>
              <a:ext cx="4973" cy="1304"/>
            </a:xfrm>
            <a:prstGeom prst="rect">
              <a:avLst/>
            </a:prstGeom>
            <a:noFill/>
          </p:spPr>
          <p:txBody>
            <a:bodyPr wrap="square" rtlCol="0">
              <a:noAutofit/>
            </a:bodyPr>
            <a:p>
              <a:pPr algn="ctr"/>
              <a:r>
                <a:rPr lang="zh-CN" altLang="en-US"/>
                <a:t>“影响磷酸铁锂相纯度的因素</a:t>
              </a:r>
              <a:r>
                <a:rPr lang="en-US" altLang="zh-CN"/>
                <a:t>？</a:t>
              </a:r>
              <a:r>
                <a:rPr lang="zh-CN" altLang="en-US"/>
                <a:t>”</a:t>
              </a:r>
              <a:endParaRPr lang="zh-CN" altLang="en-US"/>
            </a:p>
          </p:txBody>
        </p:sp>
      </p:grpSp>
      <p:cxnSp>
        <p:nvCxnSpPr>
          <p:cNvPr id="41" name="直接箭头连接符 40"/>
          <p:cNvCxnSpPr/>
          <p:nvPr/>
        </p:nvCxnSpPr>
        <p:spPr>
          <a:xfrm>
            <a:off x="7298055" y="3964940"/>
            <a:ext cx="447040" cy="0"/>
          </a:xfrm>
          <a:prstGeom prst="straightConnector1">
            <a:avLst/>
          </a:prstGeom>
          <a:ln w="12700" cap="flat" cmpd="sng" algn="ctr">
            <a:solidFill>
              <a:schemeClr val="accent1"/>
            </a:solidFill>
            <a:prstDash val="dashDot"/>
            <a:miter lim="800000"/>
            <a:tailEnd type="arrow" w="med" len="med"/>
          </a:ln>
        </p:spPr>
        <p:style>
          <a:lnRef idx="0">
            <a:schemeClr val="accent1"/>
          </a:lnRef>
          <a:fillRef idx="0">
            <a:srgbClr val="FFFFFF"/>
          </a:fillRef>
          <a:effectRef idx="0">
            <a:srgbClr val="FFFFFF"/>
          </a:effectRef>
          <a:fontRef idx="minor">
            <a:schemeClr val="tx1"/>
          </a:fontRef>
        </p:style>
      </p:cxnSp>
      <p:grpSp>
        <p:nvGrpSpPr>
          <p:cNvPr id="42" name="组合 41"/>
          <p:cNvGrpSpPr/>
          <p:nvPr/>
        </p:nvGrpSpPr>
        <p:grpSpPr>
          <a:xfrm>
            <a:off x="7816215" y="3497580"/>
            <a:ext cx="3455670" cy="827864"/>
            <a:chOff x="1046" y="4308"/>
            <a:chExt cx="4973" cy="1092"/>
          </a:xfrm>
        </p:grpSpPr>
        <p:sp>
          <p:nvSpPr>
            <p:cNvPr id="43" name="矩形 42"/>
            <p:cNvSpPr/>
            <p:nvPr/>
          </p:nvSpPr>
          <p:spPr>
            <a:xfrm>
              <a:off x="1139" y="4308"/>
              <a:ext cx="4801" cy="1092"/>
            </a:xfrm>
            <a:prstGeom prst="rect">
              <a:avLst/>
            </a:prstGeom>
            <a:solidFill>
              <a:schemeClr val="accent1">
                <a:lumMod val="20000"/>
                <a:lumOff val="80000"/>
              </a:schemeClr>
            </a:soli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文本框 43"/>
            <p:cNvSpPr txBox="1"/>
            <p:nvPr/>
          </p:nvSpPr>
          <p:spPr>
            <a:xfrm>
              <a:off x="1046" y="4498"/>
              <a:ext cx="4973" cy="851"/>
            </a:xfrm>
            <a:prstGeom prst="rect">
              <a:avLst/>
            </a:prstGeom>
            <a:noFill/>
          </p:spPr>
          <p:txBody>
            <a:bodyPr wrap="square" rtlCol="0">
              <a:spAutoFit/>
            </a:bodyPr>
            <a:p>
              <a:pPr algn="ctr"/>
              <a:r>
                <a:rPr lang="zh-CN" altLang="en-US"/>
                <a:t>将问题向量化后与数据库进行</a:t>
              </a:r>
              <a:r>
                <a:rPr lang="zh-CN" altLang="en-US"/>
                <a:t>匹配</a:t>
              </a:r>
              <a:endParaRPr lang="zh-CN" altLang="en-US"/>
            </a:p>
          </p:txBody>
        </p:sp>
      </p:grpSp>
      <p:pic>
        <p:nvPicPr>
          <p:cNvPr id="2" name="图片 1"/>
          <p:cNvPicPr>
            <a:picLocks noChangeAspect="1"/>
          </p:cNvPicPr>
          <p:nvPr/>
        </p:nvPicPr>
        <p:blipFill>
          <a:blip r:embed="rId1"/>
          <a:stretch>
            <a:fillRect/>
          </a:stretch>
        </p:blipFill>
        <p:spPr>
          <a:xfrm>
            <a:off x="4851400" y="2282190"/>
            <a:ext cx="1193800" cy="1092200"/>
          </a:xfrm>
          <a:prstGeom prst="rect">
            <a:avLst/>
          </a:prstGeom>
        </p:spPr>
      </p:pic>
      <p:sp>
        <p:nvSpPr>
          <p:cNvPr id="3" name="圆角矩形 2"/>
          <p:cNvSpPr/>
          <p:nvPr/>
        </p:nvSpPr>
        <p:spPr>
          <a:xfrm>
            <a:off x="3775075" y="2134870"/>
            <a:ext cx="3354705" cy="2978150"/>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
          <a:srcRect b="31340"/>
          <a:stretch>
            <a:fillRect/>
          </a:stretch>
        </p:blipFill>
        <p:spPr>
          <a:xfrm rot="296489">
            <a:off x="6302068" y="1715202"/>
            <a:ext cx="4953000" cy="3427596"/>
          </a:xfrm>
          <a:prstGeom prst="rect">
            <a:avLst/>
          </a:prstGeom>
          <a:effectLst>
            <a:softEdge rad="1270000"/>
          </a:effectLst>
        </p:spPr>
      </p:pic>
      <p:pic>
        <p:nvPicPr>
          <p:cNvPr id="3" name="图片 2"/>
          <p:cNvPicPr>
            <a:picLocks noChangeAspect="1"/>
          </p:cNvPicPr>
          <p:nvPr/>
        </p:nvPicPr>
        <p:blipFill>
          <a:blip r:embed="rId2"/>
          <a:stretch>
            <a:fillRect/>
          </a:stretch>
        </p:blipFill>
        <p:spPr>
          <a:xfrm rot="339004">
            <a:off x="-47653" y="2083912"/>
            <a:ext cx="4772511" cy="4244811"/>
          </a:xfrm>
          <a:prstGeom prst="rect">
            <a:avLst/>
          </a:prstGeom>
          <a:effectLst>
            <a:softEdge rad="1270000"/>
          </a:effectLst>
        </p:spPr>
      </p:pic>
      <p:sp>
        <p:nvSpPr>
          <p:cNvPr id="68615" name="矩形 14"/>
          <p:cNvSpPr>
            <a:spLocks noChangeArrowheads="1"/>
          </p:cNvSpPr>
          <p:nvPr/>
        </p:nvSpPr>
        <p:spPr bwMode="auto">
          <a:xfrm>
            <a:off x="2064549" y="977493"/>
            <a:ext cx="384429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4800" b="1" dirty="0">
                <a:solidFill>
                  <a:srgbClr val="00489D"/>
                </a:solidFill>
                <a:latin typeface="微软雅黑" charset="-122"/>
                <a:ea typeface="微软雅黑" charset="-122"/>
                <a:sym typeface="+mn-ea"/>
              </a:rPr>
              <a:t>问答系统流程</a:t>
            </a:r>
            <a:endParaRPr lang="zh-CN" altLang="en-US" sz="4800" b="1" dirty="0">
              <a:solidFill>
                <a:srgbClr val="00489D"/>
              </a:solidFill>
              <a:latin typeface="微软雅黑" charset="-122"/>
              <a:ea typeface="微软雅黑" charset="-122"/>
              <a:sym typeface="+mn-ea"/>
            </a:endParaRPr>
          </a:p>
        </p:txBody>
      </p:sp>
      <p:grpSp>
        <p:nvGrpSpPr>
          <p:cNvPr id="68616" name="组合 12"/>
          <p:cNvGrpSpPr/>
          <p:nvPr/>
        </p:nvGrpSpPr>
        <p:grpSpPr bwMode="auto">
          <a:xfrm>
            <a:off x="535135" y="731169"/>
            <a:ext cx="1450538" cy="1322377"/>
            <a:chOff x="2147" y="3559"/>
            <a:chExt cx="1712" cy="2083"/>
          </a:xfrm>
        </p:grpSpPr>
        <p:sp>
          <p:nvSpPr>
            <p:cNvPr id="68622" name="文本框 13"/>
            <p:cNvSpPr txBox="1">
              <a:spLocks noChangeArrowheads="1"/>
            </p:cNvSpPr>
            <p:nvPr/>
          </p:nvSpPr>
          <p:spPr bwMode="auto">
            <a:xfrm>
              <a:off x="2147" y="3559"/>
              <a:ext cx="1712" cy="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8000" dirty="0">
                  <a:solidFill>
                    <a:srgbClr val="8497B0"/>
                  </a:solidFill>
                  <a:latin typeface="微软雅黑" charset="-122"/>
                  <a:ea typeface="微软雅黑" charset="-122"/>
                </a:rPr>
                <a:t>04</a:t>
              </a:r>
              <a:endParaRPr lang="en-US" altLang="zh-CN" sz="8000" dirty="0">
                <a:solidFill>
                  <a:srgbClr val="8497B0"/>
                </a:solidFill>
                <a:latin typeface="微软雅黑" charset="-122"/>
                <a:ea typeface="微软雅黑" charset="-122"/>
              </a:endParaRPr>
            </a:p>
          </p:txBody>
        </p:sp>
        <p:cxnSp>
          <p:nvCxnSpPr>
            <p:cNvPr id="22" name="直接连接符 21"/>
            <p:cNvCxnSpPr/>
            <p:nvPr/>
          </p:nvCxnSpPr>
          <p:spPr>
            <a:xfrm>
              <a:off x="3784" y="3559"/>
              <a:ext cx="0" cy="1954"/>
            </a:xfrm>
            <a:prstGeom prst="line">
              <a:avLst/>
            </a:prstGeom>
            <a:ln w="63500">
              <a:solidFill>
                <a:srgbClr val="8497B0"/>
              </a:solidFill>
            </a:ln>
          </p:spPr>
          <p:style>
            <a:lnRef idx="1">
              <a:schemeClr val="accent1"/>
            </a:lnRef>
            <a:fillRef idx="0">
              <a:schemeClr val="accent1"/>
            </a:fillRef>
            <a:effectRef idx="0">
              <a:schemeClr val="accent1"/>
            </a:effectRef>
            <a:fontRef idx="minor">
              <a:schemeClr val="tx1"/>
            </a:fontRef>
          </p:style>
        </p:cxnSp>
      </p:grpSp>
      <p:pic>
        <p:nvPicPr>
          <p:cNvPr id="27" name="Picture 3" descr="C:\Users\wangxin51\Desktop\未标题-5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0791" y="-48987"/>
            <a:ext cx="3025392" cy="170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组合 7"/>
          <p:cNvGrpSpPr/>
          <p:nvPr/>
        </p:nvGrpSpPr>
        <p:grpSpPr bwMode="auto">
          <a:xfrm>
            <a:off x="3073400" y="6181183"/>
            <a:ext cx="5059363" cy="339725"/>
            <a:chOff x="3128248" y="3176495"/>
            <a:chExt cx="6746291" cy="453608"/>
          </a:xfrm>
        </p:grpSpPr>
        <p:sp>
          <p:nvSpPr>
            <p:cNvPr id="29" name="TextBox 8"/>
            <p:cNvSpPr txBox="1">
              <a:spLocks noChangeArrowheads="1"/>
            </p:cNvSpPr>
            <p:nvPr/>
          </p:nvSpPr>
          <p:spPr bwMode="auto">
            <a:xfrm>
              <a:off x="4900023" y="3178614"/>
              <a:ext cx="4974516" cy="451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eaLnBrk="1" hangingPunct="1">
                <a:defRPr/>
              </a:pPr>
              <a:r>
                <a:rPr lang="en-US" altLang="zh-CN" sz="1600" dirty="0">
                  <a:solidFill>
                    <a:srgbClr val="595959"/>
                  </a:solidFill>
                  <a:latin typeface="微软雅黑" charset="-122"/>
                  <a:ea typeface="微软雅黑" charset="-122"/>
                </a:rPr>
                <a:t>INNOVATION CREATES EXCELLENCE</a:t>
              </a:r>
              <a:endParaRPr lang="bg-BG" altLang="zh-CN" sz="1600" dirty="0">
                <a:solidFill>
                  <a:srgbClr val="595959"/>
                </a:solidFill>
                <a:latin typeface="微软雅黑" charset="-122"/>
                <a:ea typeface="微软雅黑" charset="-122"/>
              </a:endParaRPr>
            </a:p>
          </p:txBody>
        </p:sp>
        <p:sp>
          <p:nvSpPr>
            <p:cNvPr id="35" name="TextBox 9"/>
            <p:cNvSpPr txBox="1">
              <a:spLocks noChangeArrowheads="1"/>
            </p:cNvSpPr>
            <p:nvPr/>
          </p:nvSpPr>
          <p:spPr bwMode="auto">
            <a:xfrm>
              <a:off x="3128248" y="3176495"/>
              <a:ext cx="1784476" cy="43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algn="dist" eaLnBrk="1" hangingPunct="1">
                <a:defRPr/>
              </a:pPr>
              <a:r>
                <a:rPr lang="zh-CN" altLang="en-US" sz="1500">
                  <a:solidFill>
                    <a:srgbClr val="00489D"/>
                  </a:solidFill>
                  <a:latin typeface="微软雅黑" charset="-122"/>
                  <a:ea typeface="微软雅黑" charset="-122"/>
                </a:rPr>
                <a:t>创新成就卓越</a:t>
              </a:r>
              <a:endParaRPr lang="bg-BG" altLang="zh-CN" sz="1500">
                <a:solidFill>
                  <a:srgbClr val="7F7F7F"/>
                </a:solidFill>
                <a:latin typeface="微软雅黑" charset="-122"/>
                <a:ea typeface="微软雅黑" charset="-122"/>
              </a:endParaRPr>
            </a:p>
          </p:txBody>
        </p:sp>
      </p:grpSp>
      <p:pic>
        <p:nvPicPr>
          <p:cNvPr id="32" name="Picture 2" descr="C:\Users\wangxin51\Desktop\未标题-3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429000"/>
            <a:ext cx="12192001" cy="4235247"/>
          </a:xfrm>
          <a:prstGeom prst="rect">
            <a:avLst/>
          </a:prstGeom>
          <a:noFill/>
          <a:ln>
            <a:noFill/>
          </a:ln>
          <a:effectLst>
            <a:glow rad="635000">
              <a:schemeClr val="accent1">
                <a:satMod val="175000"/>
                <a:alpha val="20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3"/>
          </p:nvPr>
        </p:nvSpPr>
        <p:spPr/>
        <p:txBody>
          <a:bodyPr/>
          <a:lstStyle/>
          <a:p>
            <a:r>
              <a:rPr lang="en-US" altLang="zh-CN" dirty="0"/>
              <a:t>04 </a:t>
            </a:r>
            <a:r>
              <a:rPr lang="zh-CN" altLang="en-US" sz="2400" b="1" dirty="0">
                <a:solidFill>
                  <a:srgbClr val="00489D"/>
                </a:solidFill>
                <a:latin typeface="微软雅黑" charset="-122"/>
                <a:ea typeface="微软雅黑" charset="-122"/>
                <a:sym typeface="+mn-ea"/>
              </a:rPr>
              <a:t>问答系统流程</a:t>
            </a:r>
            <a:endParaRPr lang="zh-CN" altLang="en-US" sz="2400" b="1" dirty="0">
              <a:solidFill>
                <a:srgbClr val="00489D"/>
              </a:solidFill>
              <a:latin typeface="微软雅黑" charset="-122"/>
              <a:ea typeface="微软雅黑" charset="-122"/>
              <a:sym typeface="+mn-ea"/>
            </a:endParaRPr>
          </a:p>
        </p:txBody>
      </p:sp>
      <p:sp>
        <p:nvSpPr>
          <p:cNvPr id="41" name="文本框 40"/>
          <p:cNvSpPr txBox="1"/>
          <p:nvPr/>
        </p:nvSpPr>
        <p:spPr>
          <a:xfrm>
            <a:off x="1181100" y="731520"/>
            <a:ext cx="6752590"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通过</a:t>
            </a:r>
            <a:r>
              <a:rPr lang="en-US" altLang="zh-CN" sz="2000" b="1" dirty="0">
                <a:latin typeface="黑体" panose="02010609060101010101" pitchFamily="49" charset="-122"/>
                <a:ea typeface="黑体" panose="02010609060101010101" pitchFamily="49" charset="-122"/>
              </a:rPr>
              <a:t>DOI</a:t>
            </a:r>
            <a:r>
              <a:rPr lang="zh-CN" altLang="en-US" sz="2000" b="1" dirty="0">
                <a:latin typeface="黑体" panose="02010609060101010101" pitchFamily="49" charset="-122"/>
                <a:ea typeface="黑体" panose="02010609060101010101" pitchFamily="49" charset="-122"/>
              </a:rPr>
              <a:t>连接：</a:t>
            </a:r>
            <a:r>
              <a:rPr lang="zh-CN" altLang="en-US" sz="2000" b="1" dirty="0">
                <a:latin typeface="黑体" panose="02010609060101010101" pitchFamily="49" charset="-122"/>
                <a:ea typeface="黑体" panose="02010609060101010101" pitchFamily="49" charset="-122"/>
              </a:rPr>
              <a:t>文献原文与摘要的智能匹配</a:t>
            </a:r>
            <a:endParaRPr lang="zh-CN" altLang="en-US" sz="2000" b="1" dirty="0">
              <a:latin typeface="黑体" panose="02010609060101010101" pitchFamily="49" charset="-122"/>
              <a:ea typeface="黑体" panose="02010609060101010101" pitchFamily="49" charset="-122"/>
            </a:endParaRPr>
          </a:p>
        </p:txBody>
      </p:sp>
      <p:grpSp>
        <p:nvGrpSpPr>
          <p:cNvPr id="71" name="组合 70"/>
          <p:cNvGrpSpPr/>
          <p:nvPr/>
        </p:nvGrpSpPr>
        <p:grpSpPr>
          <a:xfrm>
            <a:off x="2472055" y="1452880"/>
            <a:ext cx="1409065" cy="2108200"/>
            <a:chOff x="5825" y="5246"/>
            <a:chExt cx="3055" cy="4389"/>
          </a:xfrm>
        </p:grpSpPr>
        <p:sp>
          <p:nvSpPr>
            <p:cNvPr id="65" name="矩形 64"/>
            <p:cNvSpPr/>
            <p:nvPr/>
          </p:nvSpPr>
          <p:spPr>
            <a:xfrm>
              <a:off x="5825" y="5246"/>
              <a:ext cx="3035" cy="4389"/>
            </a:xfrm>
            <a:prstGeom prst="rect">
              <a:avLst/>
            </a:prstGeom>
            <a:solidFill>
              <a:schemeClr val="accent2">
                <a:lumMod val="20000"/>
                <a:lumOff val="80000"/>
              </a:schemeClr>
            </a:solidFill>
            <a:ln>
              <a:solidFill>
                <a:schemeClr val="accent2">
                  <a:lumMod val="20000"/>
                  <a:lumOff val="80000"/>
                </a:schemeClr>
              </a:solidFill>
            </a:ln>
            <a:effectLst>
              <a:outerShdw blurRad="50800" dist="38100" dir="18900000" algn="b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effectLst>
                  <a:outerShdw blurRad="50800" dist="38100" dir="2700000" algn="tl" rotWithShape="0">
                    <a:prstClr val="black">
                      <a:alpha val="40000"/>
                    </a:prstClr>
                  </a:outerShdw>
                </a:effectLst>
              </a:endParaRPr>
            </a:p>
          </p:txBody>
        </p:sp>
        <p:pic>
          <p:nvPicPr>
            <p:cNvPr id="21" name="图片 20" descr="设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5" y="5594"/>
              <a:ext cx="2088" cy="2088"/>
            </a:xfrm>
            <a:prstGeom prst="rect">
              <a:avLst/>
            </a:prstGeom>
          </p:spPr>
        </p:pic>
        <p:sp>
          <p:nvSpPr>
            <p:cNvPr id="26" name="圆角矩形 25"/>
            <p:cNvSpPr/>
            <p:nvPr/>
          </p:nvSpPr>
          <p:spPr>
            <a:xfrm>
              <a:off x="6001" y="5381"/>
              <a:ext cx="2648" cy="4120"/>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文本框 26"/>
            <p:cNvSpPr txBox="1"/>
            <p:nvPr/>
          </p:nvSpPr>
          <p:spPr>
            <a:xfrm>
              <a:off x="5924" y="8223"/>
              <a:ext cx="2956" cy="1343"/>
            </a:xfrm>
            <a:prstGeom prst="rect">
              <a:avLst/>
            </a:prstGeom>
            <a:noFill/>
          </p:spPr>
          <p:txBody>
            <a:bodyPr wrap="square" rtlCol="0">
              <a:spAutoFit/>
            </a:bodyPr>
            <a:p>
              <a:pPr algn="ctr"/>
              <a:r>
                <a:rPr lang="en-US" altLang="zh-CN">
                  <a:latin typeface="娃娃体-简" panose="040B0500000000000000" charset="-122"/>
                  <a:ea typeface="娃娃体-简" panose="040B0500000000000000" charset="-122"/>
                </a:rPr>
                <a:t>Embedding</a:t>
              </a:r>
              <a:endParaRPr lang="en-US" altLang="zh-CN">
                <a:latin typeface="娃娃体-简" panose="040B0500000000000000" charset="-122"/>
                <a:ea typeface="娃娃体-简" panose="040B0500000000000000" charset="-122"/>
              </a:endParaRPr>
            </a:p>
            <a:p>
              <a:pPr algn="ctr"/>
              <a:r>
                <a:rPr lang="en-US" altLang="zh-CN">
                  <a:latin typeface="娃娃体-简" panose="040B0500000000000000" charset="-122"/>
                  <a:ea typeface="娃娃体-简" panose="040B0500000000000000" charset="-122"/>
                </a:rPr>
                <a:t>model</a:t>
              </a:r>
              <a:endParaRPr lang="en-US" altLang="zh-CN">
                <a:latin typeface="娃娃体-简" panose="040B0500000000000000" charset="-122"/>
                <a:ea typeface="娃娃体-简" panose="040B0500000000000000" charset="-122"/>
              </a:endParaRPr>
            </a:p>
          </p:txBody>
        </p:sp>
      </p:grpSp>
      <p:cxnSp>
        <p:nvCxnSpPr>
          <p:cNvPr id="28" name="直接箭头连接符 27"/>
          <p:cNvCxnSpPr/>
          <p:nvPr/>
        </p:nvCxnSpPr>
        <p:spPr>
          <a:xfrm>
            <a:off x="1665605" y="2773045"/>
            <a:ext cx="654685" cy="0"/>
          </a:xfrm>
          <a:prstGeom prst="straightConnector1">
            <a:avLst/>
          </a:prstGeom>
          <a:ln w="19050" cap="flat" cmpd="sng" algn="ctr">
            <a:solidFill>
              <a:schemeClr val="tx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grpSp>
        <p:nvGrpSpPr>
          <p:cNvPr id="78" name="组合 77"/>
          <p:cNvGrpSpPr/>
          <p:nvPr/>
        </p:nvGrpSpPr>
        <p:grpSpPr>
          <a:xfrm>
            <a:off x="6261735" y="2027555"/>
            <a:ext cx="2434590" cy="1203960"/>
            <a:chOff x="10182" y="1576"/>
            <a:chExt cx="4771" cy="2072"/>
          </a:xfrm>
        </p:grpSpPr>
        <p:sp>
          <p:nvSpPr>
            <p:cNvPr id="29" name="矩形 28"/>
            <p:cNvSpPr/>
            <p:nvPr/>
          </p:nvSpPr>
          <p:spPr>
            <a:xfrm>
              <a:off x="10182" y="1576"/>
              <a:ext cx="4771" cy="2072"/>
            </a:xfrm>
            <a:prstGeom prst="rect">
              <a:avLst/>
            </a:prstGeom>
            <a:solidFill>
              <a:schemeClr val="accent2">
                <a:lumMod val="20000"/>
                <a:lumOff val="80000"/>
              </a:schemeClr>
            </a:solidFill>
            <a:ln>
              <a:solidFill>
                <a:schemeClr val="accent6">
                  <a:lumMod val="20000"/>
                  <a:lumOff val="80000"/>
                </a:schemeClr>
              </a:solidFill>
            </a:ln>
            <a:effectLst>
              <a:outerShdw blurRad="50800" dist="38100" dir="18900000" algn="b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0" name="图片 29" descr="面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70" y="1715"/>
              <a:ext cx="1440" cy="1440"/>
            </a:xfrm>
            <a:prstGeom prst="rect">
              <a:avLst/>
            </a:prstGeom>
          </p:spPr>
        </p:pic>
        <p:sp>
          <p:nvSpPr>
            <p:cNvPr id="31" name="圆角矩形 30"/>
            <p:cNvSpPr/>
            <p:nvPr/>
          </p:nvSpPr>
          <p:spPr>
            <a:xfrm>
              <a:off x="10408" y="1715"/>
              <a:ext cx="4354" cy="1825"/>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文本框 31"/>
            <p:cNvSpPr txBox="1"/>
            <p:nvPr/>
          </p:nvSpPr>
          <p:spPr>
            <a:xfrm>
              <a:off x="12310" y="2145"/>
              <a:ext cx="2289" cy="634"/>
            </a:xfrm>
            <a:prstGeom prst="rect">
              <a:avLst/>
            </a:prstGeom>
            <a:noFill/>
          </p:spPr>
          <p:txBody>
            <a:bodyPr wrap="square" rtlCol="0">
              <a:spAutoFit/>
            </a:bodyPr>
            <a:p>
              <a:pPr algn="ctr"/>
              <a:r>
                <a:rPr lang="en-US" altLang="zh-CN">
                  <a:latin typeface="娃娃体-简" panose="040B0500000000000000" charset="-122"/>
                  <a:ea typeface="娃娃体-简" panose="040B0500000000000000" charset="-122"/>
                </a:rPr>
                <a:t>Database</a:t>
              </a:r>
              <a:endParaRPr lang="en-US" altLang="zh-CN">
                <a:latin typeface="娃娃体-简" panose="040B0500000000000000" charset="-122"/>
                <a:ea typeface="娃娃体-简" panose="040B0500000000000000" charset="-122"/>
              </a:endParaRPr>
            </a:p>
          </p:txBody>
        </p:sp>
      </p:grpSp>
      <p:sp>
        <p:nvSpPr>
          <p:cNvPr id="33" name="文本框 32"/>
          <p:cNvSpPr txBox="1"/>
          <p:nvPr/>
        </p:nvSpPr>
        <p:spPr>
          <a:xfrm>
            <a:off x="1524635" y="2287905"/>
            <a:ext cx="1224280" cy="384810"/>
          </a:xfrm>
          <a:prstGeom prst="rect">
            <a:avLst/>
          </a:prstGeom>
          <a:noFill/>
        </p:spPr>
        <p:txBody>
          <a:bodyPr wrap="square" rtlCol="0">
            <a:noAutofit/>
          </a:bodyPr>
          <a:p>
            <a:r>
              <a:rPr lang="en-US" altLang="zh-CN">
                <a:latin typeface="娃娃体-简" panose="040B0500000000000000" charset="-122"/>
                <a:ea typeface="娃娃体-简" panose="040B0500000000000000" charset="-122"/>
              </a:rPr>
              <a:t>Encode</a:t>
            </a:r>
            <a:endParaRPr lang="en-US" altLang="zh-CN">
              <a:latin typeface="娃娃体-简" panose="040B0500000000000000" charset="-122"/>
              <a:ea typeface="娃娃体-简" panose="040B0500000000000000" charset="-122"/>
            </a:endParaRPr>
          </a:p>
        </p:txBody>
      </p:sp>
      <p:grpSp>
        <p:nvGrpSpPr>
          <p:cNvPr id="66" name="组合 65"/>
          <p:cNvGrpSpPr/>
          <p:nvPr/>
        </p:nvGrpSpPr>
        <p:grpSpPr>
          <a:xfrm>
            <a:off x="9453880" y="1125220"/>
            <a:ext cx="1619250" cy="2499995"/>
            <a:chOff x="5825" y="506"/>
            <a:chExt cx="3035" cy="4389"/>
          </a:xfrm>
        </p:grpSpPr>
        <p:sp>
          <p:nvSpPr>
            <p:cNvPr id="63" name="矩形 62"/>
            <p:cNvSpPr/>
            <p:nvPr/>
          </p:nvSpPr>
          <p:spPr>
            <a:xfrm>
              <a:off x="5825" y="506"/>
              <a:ext cx="3035" cy="4389"/>
            </a:xfrm>
            <a:prstGeom prst="rect">
              <a:avLst/>
            </a:prstGeom>
            <a:solidFill>
              <a:schemeClr val="accent2">
                <a:lumMod val="20000"/>
                <a:lumOff val="80000"/>
              </a:schemeClr>
            </a:solidFill>
            <a:ln>
              <a:solidFill>
                <a:schemeClr val="accent4">
                  <a:lumMod val="20000"/>
                  <a:lumOff val="80000"/>
                </a:schemeClr>
              </a:solidFill>
            </a:ln>
            <a:effectLst>
              <a:outerShdw blurRad="50800" dist="38100" dir="18900000" algn="b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effectLst>
                  <a:outerShdw blurRad="50800" dist="38100" dir="2700000" algn="tl" rotWithShape="0">
                    <a:prstClr val="black">
                      <a:alpha val="40000"/>
                    </a:prstClr>
                  </a:outerShdw>
                </a:effectLst>
              </a:endParaRPr>
            </a:p>
          </p:txBody>
        </p:sp>
        <p:pic>
          <p:nvPicPr>
            <p:cNvPr id="35" name="图片 34" descr="大脑"/>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05" y="1521"/>
              <a:ext cx="1440" cy="1440"/>
            </a:xfrm>
            <a:prstGeom prst="rect">
              <a:avLst/>
            </a:prstGeom>
          </p:spPr>
        </p:pic>
        <p:sp>
          <p:nvSpPr>
            <p:cNvPr id="36" name="圆角矩形 35"/>
            <p:cNvSpPr/>
            <p:nvPr/>
          </p:nvSpPr>
          <p:spPr>
            <a:xfrm>
              <a:off x="6001" y="633"/>
              <a:ext cx="2648" cy="4120"/>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6714" y="3397"/>
              <a:ext cx="1332" cy="647"/>
            </a:xfrm>
            <a:prstGeom prst="rect">
              <a:avLst/>
            </a:prstGeom>
            <a:noFill/>
          </p:spPr>
          <p:txBody>
            <a:bodyPr wrap="square" rtlCol="0">
              <a:spAutoFit/>
            </a:bodyPr>
            <a:p>
              <a:r>
                <a:rPr lang="en-US" altLang="zh-CN">
                  <a:latin typeface="娃娃体-简" panose="040B0500000000000000" charset="-122"/>
                  <a:ea typeface="娃娃体-简" panose="040B0500000000000000" charset="-122"/>
                </a:rPr>
                <a:t>LLM</a:t>
              </a:r>
              <a:endParaRPr lang="en-US" altLang="zh-CN">
                <a:latin typeface="娃娃体-简" panose="040B0500000000000000" charset="-122"/>
                <a:ea typeface="娃娃体-简" panose="040B0500000000000000" charset="-122"/>
              </a:endParaRPr>
            </a:p>
          </p:txBody>
        </p:sp>
      </p:grpSp>
      <p:sp>
        <p:nvSpPr>
          <p:cNvPr id="38" name="文本框 37"/>
          <p:cNvSpPr txBox="1"/>
          <p:nvPr/>
        </p:nvSpPr>
        <p:spPr>
          <a:xfrm>
            <a:off x="4454525" y="2027555"/>
            <a:ext cx="1224280" cy="645160"/>
          </a:xfrm>
          <a:prstGeom prst="rect">
            <a:avLst/>
          </a:prstGeom>
          <a:noFill/>
        </p:spPr>
        <p:txBody>
          <a:bodyPr wrap="square" rtlCol="0">
            <a:spAutoFit/>
          </a:bodyPr>
          <a:p>
            <a:pPr algn="ctr"/>
            <a:r>
              <a:rPr lang="en-US" altLang="zh-CN">
                <a:latin typeface="娃娃体-简" panose="040B0500000000000000" charset="-122"/>
                <a:ea typeface="娃娃体-简" panose="040B0500000000000000" charset="-122"/>
              </a:rPr>
              <a:t>Similarity</a:t>
            </a:r>
            <a:endParaRPr lang="en-US" altLang="zh-CN">
              <a:latin typeface="娃娃体-简" panose="040B0500000000000000" charset="-122"/>
              <a:ea typeface="娃娃体-简" panose="040B0500000000000000" charset="-122"/>
            </a:endParaRPr>
          </a:p>
          <a:p>
            <a:pPr algn="ctr"/>
            <a:r>
              <a:rPr lang="en-US" altLang="zh-CN">
                <a:latin typeface="娃娃体-简" panose="040B0500000000000000" charset="-122"/>
                <a:ea typeface="娃娃体-简" panose="040B0500000000000000" charset="-122"/>
              </a:rPr>
              <a:t>search</a:t>
            </a:r>
            <a:endParaRPr lang="en-US" altLang="zh-CN">
              <a:latin typeface="娃娃体-简" panose="040B0500000000000000" charset="-122"/>
              <a:ea typeface="娃娃体-简" panose="040B0500000000000000" charset="-122"/>
            </a:endParaRPr>
          </a:p>
        </p:txBody>
      </p:sp>
      <p:grpSp>
        <p:nvGrpSpPr>
          <p:cNvPr id="58" name="组合 57"/>
          <p:cNvGrpSpPr/>
          <p:nvPr/>
        </p:nvGrpSpPr>
        <p:grpSpPr>
          <a:xfrm>
            <a:off x="409575" y="1706245"/>
            <a:ext cx="1101090" cy="1434465"/>
            <a:chOff x="882" y="8444"/>
            <a:chExt cx="2316" cy="2587"/>
          </a:xfrm>
        </p:grpSpPr>
        <p:grpSp>
          <p:nvGrpSpPr>
            <p:cNvPr id="47" name="组合 46"/>
            <p:cNvGrpSpPr/>
            <p:nvPr/>
          </p:nvGrpSpPr>
          <p:grpSpPr>
            <a:xfrm>
              <a:off x="882" y="8444"/>
              <a:ext cx="2316" cy="2587"/>
              <a:chOff x="882" y="8444"/>
              <a:chExt cx="2316" cy="2587"/>
            </a:xfrm>
          </p:grpSpPr>
          <p:sp>
            <p:nvSpPr>
              <p:cNvPr id="72" name="矩形 71"/>
              <p:cNvSpPr/>
              <p:nvPr/>
            </p:nvSpPr>
            <p:spPr>
              <a:xfrm>
                <a:off x="882" y="8444"/>
                <a:ext cx="2241" cy="2587"/>
              </a:xfrm>
              <a:prstGeom prst="rect">
                <a:avLst/>
              </a:prstGeom>
              <a:solidFill>
                <a:schemeClr val="accent5">
                  <a:lumMod val="20000"/>
                  <a:lumOff val="80000"/>
                </a:schemeClr>
              </a:solidFill>
              <a:ln>
                <a:solidFill>
                  <a:schemeClr val="accent5">
                    <a:lumMod val="20000"/>
                    <a:lumOff val="80000"/>
                  </a:schemeClr>
                </a:solidFill>
              </a:ln>
              <a:effectLst>
                <a:outerShdw blurRad="508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9" name="图形 21" descr="男性形象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71" y="8763"/>
                <a:ext cx="1440" cy="1440"/>
              </a:xfrm>
              <a:prstGeom prst="rect">
                <a:avLst/>
              </a:prstGeom>
            </p:spPr>
          </p:pic>
          <p:sp>
            <p:nvSpPr>
              <p:cNvPr id="40" name="文本框 39"/>
              <p:cNvSpPr txBox="1"/>
              <p:nvPr/>
            </p:nvSpPr>
            <p:spPr>
              <a:xfrm>
                <a:off x="1270" y="10136"/>
                <a:ext cx="1928" cy="606"/>
              </a:xfrm>
              <a:prstGeom prst="rect">
                <a:avLst/>
              </a:prstGeom>
              <a:noFill/>
            </p:spPr>
            <p:txBody>
              <a:bodyPr wrap="square" rtlCol="0">
                <a:noAutofit/>
              </a:bodyPr>
              <a:p>
                <a:r>
                  <a:rPr lang="en-US" altLang="zh-CN">
                    <a:latin typeface="娃娃体-简" panose="040B0500000000000000" charset="-122"/>
                    <a:ea typeface="娃娃体-简" panose="040B0500000000000000" charset="-122"/>
                  </a:rPr>
                  <a:t>Query</a:t>
                </a:r>
                <a:endParaRPr lang="en-US" altLang="zh-CN">
                  <a:latin typeface="娃娃体-简" panose="040B0500000000000000" charset="-122"/>
                  <a:ea typeface="娃娃体-简" panose="040B0500000000000000" charset="-122"/>
                </a:endParaRPr>
              </a:p>
            </p:txBody>
          </p:sp>
        </p:grpSp>
        <p:sp>
          <p:nvSpPr>
            <p:cNvPr id="69" name="圆角矩形 68"/>
            <p:cNvSpPr/>
            <p:nvPr/>
          </p:nvSpPr>
          <p:spPr>
            <a:xfrm>
              <a:off x="1034" y="8683"/>
              <a:ext cx="1928" cy="2165"/>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cxnSp>
        <p:nvCxnSpPr>
          <p:cNvPr id="77" name="直接箭头连接符 76"/>
          <p:cNvCxnSpPr/>
          <p:nvPr/>
        </p:nvCxnSpPr>
        <p:spPr>
          <a:xfrm>
            <a:off x="3942080" y="2756535"/>
            <a:ext cx="2319655" cy="0"/>
          </a:xfrm>
          <a:prstGeom prst="straightConnector1">
            <a:avLst/>
          </a:prstGeom>
          <a:ln w="19050" cap="flat" cmpd="sng" algn="ctr">
            <a:solidFill>
              <a:schemeClr val="tx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cxnSp>
        <p:nvCxnSpPr>
          <p:cNvPr id="79" name="直接箭头连接符 78"/>
          <p:cNvCxnSpPr/>
          <p:nvPr/>
        </p:nvCxnSpPr>
        <p:spPr>
          <a:xfrm>
            <a:off x="8791575" y="2672715"/>
            <a:ext cx="662305" cy="0"/>
          </a:xfrm>
          <a:prstGeom prst="straightConnector1">
            <a:avLst/>
          </a:prstGeom>
          <a:ln w="19050" cap="flat" cmpd="sng" algn="ctr">
            <a:solidFill>
              <a:schemeClr val="tx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cxnSp>
        <p:nvCxnSpPr>
          <p:cNvPr id="80" name="直接箭头连接符 79"/>
          <p:cNvCxnSpPr/>
          <p:nvPr/>
        </p:nvCxnSpPr>
        <p:spPr>
          <a:xfrm>
            <a:off x="7347585" y="3264535"/>
            <a:ext cx="0" cy="961390"/>
          </a:xfrm>
          <a:prstGeom prst="straightConnector1">
            <a:avLst/>
          </a:prstGeom>
          <a:ln w="19050" cap="flat" cmpd="sng" algn="ctr">
            <a:solidFill>
              <a:schemeClr val="tx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grpSp>
        <p:nvGrpSpPr>
          <p:cNvPr id="87" name="组合 86"/>
          <p:cNvGrpSpPr/>
          <p:nvPr/>
        </p:nvGrpSpPr>
        <p:grpSpPr>
          <a:xfrm>
            <a:off x="6511290" y="4285615"/>
            <a:ext cx="1422400" cy="2078990"/>
            <a:chOff x="7983" y="4736"/>
            <a:chExt cx="2240" cy="3274"/>
          </a:xfrm>
        </p:grpSpPr>
        <p:sp>
          <p:nvSpPr>
            <p:cNvPr id="81" name="矩形 80"/>
            <p:cNvSpPr/>
            <p:nvPr/>
          </p:nvSpPr>
          <p:spPr>
            <a:xfrm>
              <a:off x="7983" y="4736"/>
              <a:ext cx="2241" cy="3275"/>
            </a:xfrm>
            <a:prstGeom prst="rect">
              <a:avLst/>
            </a:prstGeom>
            <a:solidFill>
              <a:schemeClr val="accent5">
                <a:lumMod val="20000"/>
                <a:lumOff val="80000"/>
              </a:schemeClr>
            </a:solidFill>
            <a:ln>
              <a:solidFill>
                <a:schemeClr val="accent5">
                  <a:lumMod val="20000"/>
                  <a:lumOff val="80000"/>
                </a:schemeClr>
              </a:solidFill>
            </a:ln>
            <a:effectLst>
              <a:outerShdw blurRad="508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2" name="图片 81" descr="文档"/>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372" y="5435"/>
              <a:ext cx="1440" cy="1440"/>
            </a:xfrm>
            <a:prstGeom prst="rect">
              <a:avLst/>
            </a:prstGeom>
          </p:spPr>
        </p:pic>
        <p:sp>
          <p:nvSpPr>
            <p:cNvPr id="83" name="文本框 82"/>
            <p:cNvSpPr txBox="1"/>
            <p:nvPr/>
          </p:nvSpPr>
          <p:spPr>
            <a:xfrm>
              <a:off x="8134" y="7055"/>
              <a:ext cx="2034" cy="607"/>
            </a:xfrm>
            <a:prstGeom prst="rect">
              <a:avLst/>
            </a:prstGeom>
            <a:noFill/>
          </p:spPr>
          <p:txBody>
            <a:bodyPr wrap="square" rtlCol="0">
              <a:noAutofit/>
            </a:bodyPr>
            <a:p>
              <a:r>
                <a:rPr lang="en-US" altLang="zh-CN">
                  <a:latin typeface="娃娃体-简" panose="040B0500000000000000" charset="-122"/>
                  <a:ea typeface="娃娃体-简" panose="040B0500000000000000" charset="-122"/>
                </a:rPr>
                <a:t>Documents</a:t>
              </a:r>
              <a:endParaRPr lang="en-US" altLang="zh-CN">
                <a:latin typeface="娃娃体-简" panose="040B0500000000000000" charset="-122"/>
                <a:ea typeface="娃娃体-简" panose="040B0500000000000000" charset="-122"/>
              </a:endParaRPr>
            </a:p>
          </p:txBody>
        </p:sp>
        <p:sp>
          <p:nvSpPr>
            <p:cNvPr id="85" name="圆角矩形 84"/>
            <p:cNvSpPr/>
            <p:nvPr/>
          </p:nvSpPr>
          <p:spPr>
            <a:xfrm>
              <a:off x="8134" y="4895"/>
              <a:ext cx="1928" cy="2919"/>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cxnSp>
        <p:nvCxnSpPr>
          <p:cNvPr id="88" name="肘形连接符 87"/>
          <p:cNvCxnSpPr/>
          <p:nvPr/>
        </p:nvCxnSpPr>
        <p:spPr>
          <a:xfrm flipV="1">
            <a:off x="8046085" y="3636645"/>
            <a:ext cx="1823720" cy="1725930"/>
          </a:xfrm>
          <a:prstGeom prst="bentConnector2">
            <a:avLst/>
          </a:prstGeom>
          <a:ln w="19050" cap="rnd">
            <a:solidFill>
              <a:schemeClr val="tx1"/>
            </a:solidFill>
            <a:prstDash val="dash"/>
            <a:round/>
            <a:tailEnd type="arrow" w="med" len="med"/>
          </a:ln>
        </p:spPr>
        <p:style>
          <a:lnRef idx="0">
            <a:srgbClr val="FFFFFF"/>
          </a:lnRef>
          <a:fillRef idx="0">
            <a:srgbClr val="FFFFFF"/>
          </a:fillRef>
          <a:effectRef idx="0">
            <a:srgbClr val="FFFFFF"/>
          </a:effectRef>
          <a:fontRef idx="minor">
            <a:schemeClr val="tx1"/>
          </a:fontRef>
        </p:style>
      </p:cxnSp>
      <p:cxnSp>
        <p:nvCxnSpPr>
          <p:cNvPr id="89" name="直接箭头连接符 88"/>
          <p:cNvCxnSpPr/>
          <p:nvPr/>
        </p:nvCxnSpPr>
        <p:spPr>
          <a:xfrm>
            <a:off x="873760" y="3221990"/>
            <a:ext cx="0" cy="1038225"/>
          </a:xfrm>
          <a:prstGeom prst="straightConnector1">
            <a:avLst/>
          </a:prstGeom>
          <a:ln w="19050" cap="flat" cmpd="sng" algn="ctr">
            <a:solidFill>
              <a:schemeClr val="tx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grpSp>
        <p:nvGrpSpPr>
          <p:cNvPr id="90" name="组合 89"/>
          <p:cNvGrpSpPr/>
          <p:nvPr/>
        </p:nvGrpSpPr>
        <p:grpSpPr>
          <a:xfrm>
            <a:off x="230505" y="4286885"/>
            <a:ext cx="1399540" cy="2173605"/>
            <a:chOff x="5825" y="506"/>
            <a:chExt cx="3035" cy="4389"/>
          </a:xfrm>
        </p:grpSpPr>
        <p:sp>
          <p:nvSpPr>
            <p:cNvPr id="91" name="矩形 90"/>
            <p:cNvSpPr/>
            <p:nvPr/>
          </p:nvSpPr>
          <p:spPr>
            <a:xfrm>
              <a:off x="5825" y="506"/>
              <a:ext cx="3035" cy="4389"/>
            </a:xfrm>
            <a:prstGeom prst="rect">
              <a:avLst/>
            </a:prstGeom>
            <a:solidFill>
              <a:schemeClr val="accent2">
                <a:lumMod val="20000"/>
                <a:lumOff val="80000"/>
              </a:schemeClr>
            </a:solidFill>
            <a:ln>
              <a:solidFill>
                <a:schemeClr val="accent4">
                  <a:lumMod val="20000"/>
                  <a:lumOff val="80000"/>
                </a:schemeClr>
              </a:solidFill>
            </a:ln>
            <a:effectLst>
              <a:outerShdw blurRad="50800" dist="38100" dir="18900000" algn="b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effectLst>
                  <a:outerShdw blurRad="50800" dist="38100" dir="2700000" algn="tl" rotWithShape="0">
                    <a:prstClr val="black">
                      <a:alpha val="40000"/>
                    </a:prstClr>
                  </a:outerShdw>
                </a:effectLst>
              </a:endParaRPr>
            </a:p>
          </p:txBody>
        </p:sp>
        <p:pic>
          <p:nvPicPr>
            <p:cNvPr id="92" name="图片 91" descr="大脑"/>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05" y="1521"/>
              <a:ext cx="1440" cy="1440"/>
            </a:xfrm>
            <a:prstGeom prst="rect">
              <a:avLst/>
            </a:prstGeom>
          </p:spPr>
        </p:pic>
        <p:sp>
          <p:nvSpPr>
            <p:cNvPr id="93" name="圆角矩形 92"/>
            <p:cNvSpPr/>
            <p:nvPr/>
          </p:nvSpPr>
          <p:spPr>
            <a:xfrm>
              <a:off x="6001" y="633"/>
              <a:ext cx="2648" cy="4120"/>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4" name="文本框 93"/>
            <p:cNvSpPr txBox="1"/>
            <p:nvPr/>
          </p:nvSpPr>
          <p:spPr>
            <a:xfrm>
              <a:off x="6606" y="3396"/>
              <a:ext cx="1438" cy="744"/>
            </a:xfrm>
            <a:prstGeom prst="rect">
              <a:avLst/>
            </a:prstGeom>
            <a:noFill/>
          </p:spPr>
          <p:txBody>
            <a:bodyPr wrap="square" rtlCol="0">
              <a:spAutoFit/>
            </a:bodyPr>
            <a:p>
              <a:r>
                <a:rPr lang="en-US" altLang="zh-CN">
                  <a:latin typeface="娃娃体-简" panose="040B0500000000000000" charset="-122"/>
                  <a:ea typeface="娃娃体-简" panose="040B0500000000000000" charset="-122"/>
                </a:rPr>
                <a:t>LLM</a:t>
              </a:r>
              <a:endParaRPr lang="en-US" altLang="zh-CN">
                <a:latin typeface="娃娃体-简" panose="040B0500000000000000" charset="-122"/>
                <a:ea typeface="娃娃体-简" panose="040B0500000000000000" charset="-122"/>
              </a:endParaRPr>
            </a:p>
          </p:txBody>
        </p:sp>
      </p:grpSp>
      <p:cxnSp>
        <p:nvCxnSpPr>
          <p:cNvPr id="95" name="肘形连接符 94"/>
          <p:cNvCxnSpPr/>
          <p:nvPr/>
        </p:nvCxnSpPr>
        <p:spPr>
          <a:xfrm rot="16200000">
            <a:off x="1708785" y="3822700"/>
            <a:ext cx="1859915" cy="1336040"/>
          </a:xfrm>
          <a:prstGeom prst="bentConnector3">
            <a:avLst>
              <a:gd name="adj1" fmla="val -392"/>
            </a:avLst>
          </a:prstGeom>
          <a:ln w="19050" cap="rnd">
            <a:solidFill>
              <a:schemeClr val="tx1"/>
            </a:solidFill>
            <a:prstDash val="dash"/>
            <a:round/>
            <a:tailEnd type="arrow" w="med" len="med"/>
          </a:ln>
        </p:spPr>
        <p:style>
          <a:lnRef idx="0">
            <a:srgbClr val="FFFFFF"/>
          </a:lnRef>
          <a:fillRef idx="0">
            <a:srgbClr val="FFFFFF"/>
          </a:fillRef>
          <a:effectRef idx="0">
            <a:srgbClr val="FFFFFF"/>
          </a:effectRef>
          <a:fontRef idx="minor">
            <a:schemeClr val="tx1"/>
          </a:fontRef>
        </p:style>
      </p:cxnSp>
      <p:sp>
        <p:nvSpPr>
          <p:cNvPr id="96" name="文本框 95"/>
          <p:cNvSpPr txBox="1"/>
          <p:nvPr/>
        </p:nvSpPr>
        <p:spPr>
          <a:xfrm>
            <a:off x="1005205" y="3702685"/>
            <a:ext cx="1224280" cy="384810"/>
          </a:xfrm>
          <a:prstGeom prst="rect">
            <a:avLst/>
          </a:prstGeom>
          <a:noFill/>
        </p:spPr>
        <p:txBody>
          <a:bodyPr wrap="square" rtlCol="0">
            <a:noAutofit/>
          </a:bodyPr>
          <a:p>
            <a:r>
              <a:rPr lang="en-US" altLang="zh-CN">
                <a:latin typeface="娃娃体-简" panose="040B0500000000000000" charset="-122"/>
                <a:ea typeface="娃娃体-简" panose="040B0500000000000000" charset="-122"/>
              </a:rPr>
              <a:t>Analyse</a:t>
            </a:r>
            <a:endParaRPr lang="en-US" altLang="zh-CN">
              <a:latin typeface="娃娃体-简" panose="040B0500000000000000" charset="-122"/>
              <a:ea typeface="娃娃体-简" panose="040B0500000000000000" charset="-122"/>
            </a:endParaRPr>
          </a:p>
        </p:txBody>
      </p:sp>
      <p:sp>
        <p:nvSpPr>
          <p:cNvPr id="97" name="文本框 96"/>
          <p:cNvSpPr txBox="1"/>
          <p:nvPr/>
        </p:nvSpPr>
        <p:spPr>
          <a:xfrm>
            <a:off x="2229485" y="5039360"/>
            <a:ext cx="1224280" cy="384810"/>
          </a:xfrm>
          <a:prstGeom prst="rect">
            <a:avLst/>
          </a:prstGeom>
          <a:noFill/>
        </p:spPr>
        <p:txBody>
          <a:bodyPr wrap="square" rtlCol="0">
            <a:noAutofit/>
          </a:bodyPr>
          <a:p>
            <a:r>
              <a:rPr lang="en-US" altLang="zh-CN">
                <a:latin typeface="娃娃体-简" panose="040B0500000000000000" charset="-122"/>
                <a:ea typeface="娃娃体-简" panose="040B0500000000000000" charset="-122"/>
              </a:rPr>
              <a:t>Encode</a:t>
            </a:r>
            <a:endParaRPr lang="en-US" altLang="zh-CN">
              <a:latin typeface="娃娃体-简" panose="040B0500000000000000" charset="-122"/>
              <a:ea typeface="娃娃体-简" panose="040B0500000000000000" charset="-122"/>
            </a:endParaRPr>
          </a:p>
        </p:txBody>
      </p:sp>
      <p:sp>
        <p:nvSpPr>
          <p:cNvPr id="98" name="文本框 97"/>
          <p:cNvSpPr txBox="1"/>
          <p:nvPr/>
        </p:nvSpPr>
        <p:spPr>
          <a:xfrm>
            <a:off x="7374890" y="3719195"/>
            <a:ext cx="1224280" cy="368300"/>
          </a:xfrm>
          <a:prstGeom prst="rect">
            <a:avLst/>
          </a:prstGeom>
          <a:noFill/>
        </p:spPr>
        <p:txBody>
          <a:bodyPr wrap="square" rtlCol="0">
            <a:spAutoFit/>
          </a:bodyPr>
          <a:p>
            <a:pPr algn="ctr"/>
            <a:r>
              <a:rPr lang="en-US" altLang="zh-CN">
                <a:latin typeface="娃娃体-简" panose="040B0500000000000000" charset="-122"/>
                <a:ea typeface="娃娃体-简" panose="040B0500000000000000" charset="-122"/>
              </a:rPr>
              <a:t>Matching</a:t>
            </a:r>
            <a:endParaRPr lang="en-US" altLang="zh-CN">
              <a:latin typeface="娃娃体-简" panose="040B0500000000000000" charset="-122"/>
              <a:ea typeface="娃娃体-简" panose="040B0500000000000000" charset="-122"/>
            </a:endParaRPr>
          </a:p>
        </p:txBody>
      </p:sp>
      <p:sp>
        <p:nvSpPr>
          <p:cNvPr id="99" name="圆角矩形 98"/>
          <p:cNvSpPr/>
          <p:nvPr/>
        </p:nvSpPr>
        <p:spPr>
          <a:xfrm>
            <a:off x="97790" y="3636645"/>
            <a:ext cx="5233670" cy="3099435"/>
          </a:xfrm>
          <a:prstGeom prst="roundRect">
            <a:avLst/>
          </a:prstGeom>
          <a:noFill/>
          <a:ln>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文本框 42"/>
          <p:cNvSpPr txBox="1"/>
          <p:nvPr/>
        </p:nvSpPr>
        <p:spPr>
          <a:xfrm>
            <a:off x="3307080" y="4225925"/>
            <a:ext cx="2063115" cy="2174240"/>
          </a:xfrm>
          <a:prstGeom prst="rect">
            <a:avLst/>
          </a:prstGeom>
          <a:noFill/>
        </p:spPr>
        <p:txBody>
          <a:bodyPr wrap="square" rtlCol="0">
            <a:noAutofit/>
          </a:bodyPr>
          <a:p>
            <a:r>
              <a:rPr lang="zh-CN" altLang="en-US"/>
              <a:t>新流程一</a:t>
            </a:r>
            <a:r>
              <a:rPr lang="en-US" altLang="zh-CN"/>
              <a:t>：</a:t>
            </a:r>
            <a:r>
              <a:rPr lang="zh-CN" altLang="en-US"/>
              <a:t>利用大语言模型进行用户意图分析，以实现更精准的向量匹配，从而确保获取最符合用户需求的相关数据。</a:t>
            </a:r>
            <a:endParaRPr lang="zh-CN" altLang="en-US"/>
          </a:p>
        </p:txBody>
      </p:sp>
      <p:sp>
        <p:nvSpPr>
          <p:cNvPr id="46" name="圆角矩形 45"/>
          <p:cNvSpPr/>
          <p:nvPr/>
        </p:nvSpPr>
        <p:spPr>
          <a:xfrm>
            <a:off x="6125210" y="3636645"/>
            <a:ext cx="5903595" cy="3099435"/>
          </a:xfrm>
          <a:prstGeom prst="roundRect">
            <a:avLst/>
          </a:prstGeom>
          <a:noFill/>
          <a:ln>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文本框 47"/>
          <p:cNvSpPr txBox="1"/>
          <p:nvPr/>
        </p:nvSpPr>
        <p:spPr>
          <a:xfrm>
            <a:off x="9869805" y="3719195"/>
            <a:ext cx="2063115" cy="2174240"/>
          </a:xfrm>
          <a:prstGeom prst="rect">
            <a:avLst/>
          </a:prstGeom>
          <a:noFill/>
        </p:spPr>
        <p:txBody>
          <a:bodyPr wrap="square" rtlCol="0">
            <a:noAutofit/>
          </a:bodyPr>
          <a:p>
            <a:r>
              <a:rPr lang="zh-CN" altLang="en-US"/>
              <a:t>新流程二</a:t>
            </a:r>
            <a:r>
              <a:rPr lang="en-US" altLang="zh-CN"/>
              <a:t>：</a:t>
            </a:r>
            <a:r>
              <a:rPr lang="zh-CN" altLang="en-US"/>
              <a:t>在通过向量匹配获得摘要数据库中最相关的数据后，系统将根据每个数据的唯一</a:t>
            </a:r>
            <a:r>
              <a:rPr lang="en-US" altLang="zh-CN"/>
              <a:t> DOI </a:t>
            </a:r>
            <a:r>
              <a:rPr lang="zh-CN" altLang="en-US"/>
              <a:t>标识进行原文匹配，再将这些信息一并提供给大模型，以实现更加准确和专业的回答。</a:t>
            </a:r>
            <a:endParaRPr lang="zh-CN" altLang="en-US"/>
          </a:p>
        </p:txBody>
      </p:sp>
      <p:sp>
        <p:nvSpPr>
          <p:cNvPr id="49" name="圆角矩形 48"/>
          <p:cNvSpPr/>
          <p:nvPr/>
        </p:nvSpPr>
        <p:spPr>
          <a:xfrm>
            <a:off x="81915" y="1124585"/>
            <a:ext cx="11946890" cy="2436495"/>
          </a:xfrm>
          <a:prstGeom prst="round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文本框 49"/>
          <p:cNvSpPr txBox="1"/>
          <p:nvPr/>
        </p:nvSpPr>
        <p:spPr>
          <a:xfrm>
            <a:off x="81280" y="1234440"/>
            <a:ext cx="230505" cy="2030095"/>
          </a:xfrm>
          <a:prstGeom prst="rect">
            <a:avLst/>
          </a:prstGeom>
          <a:noFill/>
        </p:spPr>
        <p:txBody>
          <a:bodyPr wrap="square" rtlCol="0">
            <a:spAutoFit/>
          </a:bodyPr>
          <a:p>
            <a:r>
              <a:rPr lang="zh-CN" altLang="en-US"/>
              <a:t>原系统简要</a:t>
            </a:r>
            <a:r>
              <a:rPr lang="zh-CN" altLang="en-US"/>
              <a:t>流程</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3"/>
          </p:nvPr>
        </p:nvSpPr>
        <p:spPr/>
        <p:txBody>
          <a:bodyPr/>
          <a:lstStyle/>
          <a:p>
            <a:r>
              <a:rPr lang="en-US" altLang="zh-CN" dirty="0"/>
              <a:t>04 </a:t>
            </a:r>
            <a:r>
              <a:rPr lang="zh-CN" altLang="en-US" sz="2400" b="1" dirty="0">
                <a:solidFill>
                  <a:srgbClr val="00489D"/>
                </a:solidFill>
                <a:latin typeface="微软雅黑" charset="-122"/>
                <a:ea typeface="微软雅黑" charset="-122"/>
                <a:sym typeface="+mn-ea"/>
              </a:rPr>
              <a:t>问答系统流程</a:t>
            </a:r>
            <a:endParaRPr lang="zh-CN" altLang="en-US" sz="2400" b="1" dirty="0">
              <a:solidFill>
                <a:srgbClr val="00489D"/>
              </a:solidFill>
              <a:latin typeface="微软雅黑" charset="-122"/>
              <a:ea typeface="微软雅黑" charset="-122"/>
              <a:sym typeface="+mn-ea"/>
            </a:endParaRPr>
          </a:p>
        </p:txBody>
      </p:sp>
      <p:sp>
        <p:nvSpPr>
          <p:cNvPr id="41" name="文本框 40"/>
          <p:cNvSpPr txBox="1"/>
          <p:nvPr/>
        </p:nvSpPr>
        <p:spPr>
          <a:xfrm>
            <a:off x="1181100" y="731520"/>
            <a:ext cx="6752590"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完整技术</a:t>
            </a:r>
            <a:r>
              <a:rPr lang="zh-CN" altLang="en-US" sz="2000" b="1" dirty="0">
                <a:latin typeface="黑体" panose="02010609060101010101" pitchFamily="49" charset="-122"/>
                <a:ea typeface="黑体" panose="02010609060101010101" pitchFamily="49" charset="-122"/>
              </a:rPr>
              <a:t>路线</a:t>
            </a:r>
            <a:endParaRPr lang="zh-CN" altLang="en-US" sz="2000" b="1" dirty="0">
              <a:latin typeface="黑体" panose="02010609060101010101" pitchFamily="49" charset="-122"/>
              <a:ea typeface="黑体" panose="02010609060101010101" pitchFamily="49" charset="-122"/>
            </a:endParaRPr>
          </a:p>
        </p:txBody>
      </p:sp>
      <p:grpSp>
        <p:nvGrpSpPr>
          <p:cNvPr id="102" name="组合 101"/>
          <p:cNvGrpSpPr/>
          <p:nvPr/>
        </p:nvGrpSpPr>
        <p:grpSpPr>
          <a:xfrm>
            <a:off x="102870" y="2949575"/>
            <a:ext cx="1078230" cy="1155700"/>
            <a:chOff x="369" y="4610"/>
            <a:chExt cx="1698" cy="1820"/>
          </a:xfrm>
        </p:grpSpPr>
        <p:pic>
          <p:nvPicPr>
            <p:cNvPr id="54" name="图片 53"/>
            <p:cNvPicPr>
              <a:picLocks noChangeAspect="1"/>
            </p:cNvPicPr>
            <p:nvPr/>
          </p:nvPicPr>
          <p:blipFill>
            <a:blip r:embed="rId1"/>
            <a:stretch>
              <a:fillRect/>
            </a:stretch>
          </p:blipFill>
          <p:spPr>
            <a:xfrm>
              <a:off x="369" y="4645"/>
              <a:ext cx="1699" cy="1413"/>
            </a:xfrm>
            <a:prstGeom prst="rect">
              <a:avLst/>
            </a:prstGeom>
          </p:spPr>
        </p:pic>
        <p:sp>
          <p:nvSpPr>
            <p:cNvPr id="56" name="文本框 55"/>
            <p:cNvSpPr txBox="1"/>
            <p:nvPr/>
          </p:nvSpPr>
          <p:spPr>
            <a:xfrm>
              <a:off x="408" y="5996"/>
              <a:ext cx="1320" cy="434"/>
            </a:xfrm>
            <a:prstGeom prst="rect">
              <a:avLst/>
            </a:prstGeom>
            <a:noFill/>
          </p:spPr>
          <p:txBody>
            <a:bodyPr wrap="square" rtlCol="0">
              <a:spAutoFit/>
            </a:bodyPr>
            <a:p>
              <a:r>
                <a:rPr lang="zh-CN" altLang="en-US" sz="1200"/>
                <a:t>用户提问</a:t>
              </a:r>
              <a:endParaRPr lang="zh-CN" altLang="en-US" sz="1200"/>
            </a:p>
          </p:txBody>
        </p:sp>
        <p:sp>
          <p:nvSpPr>
            <p:cNvPr id="100" name="圆角矩形 99"/>
            <p:cNvSpPr/>
            <p:nvPr/>
          </p:nvSpPr>
          <p:spPr>
            <a:xfrm>
              <a:off x="373" y="4610"/>
              <a:ext cx="1300" cy="1820"/>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03" name="组合 102"/>
          <p:cNvGrpSpPr/>
          <p:nvPr/>
        </p:nvGrpSpPr>
        <p:grpSpPr>
          <a:xfrm>
            <a:off x="1389380" y="2949575"/>
            <a:ext cx="1117600" cy="1155700"/>
            <a:chOff x="2228" y="4680"/>
            <a:chExt cx="1760" cy="1820"/>
          </a:xfrm>
        </p:grpSpPr>
        <p:pic>
          <p:nvPicPr>
            <p:cNvPr id="57" name="图片 56"/>
            <p:cNvPicPr>
              <a:picLocks noChangeAspect="1"/>
            </p:cNvPicPr>
            <p:nvPr/>
          </p:nvPicPr>
          <p:blipFill>
            <a:blip r:embed="rId2"/>
            <a:stretch>
              <a:fillRect/>
            </a:stretch>
          </p:blipFill>
          <p:spPr>
            <a:xfrm>
              <a:off x="2512" y="4856"/>
              <a:ext cx="1126" cy="920"/>
            </a:xfrm>
            <a:prstGeom prst="rect">
              <a:avLst/>
            </a:prstGeom>
          </p:spPr>
        </p:pic>
        <p:sp>
          <p:nvSpPr>
            <p:cNvPr id="59" name="文本框 58"/>
            <p:cNvSpPr txBox="1"/>
            <p:nvPr/>
          </p:nvSpPr>
          <p:spPr>
            <a:xfrm>
              <a:off x="2228" y="5775"/>
              <a:ext cx="1761" cy="725"/>
            </a:xfrm>
            <a:prstGeom prst="rect">
              <a:avLst/>
            </a:prstGeom>
            <a:noFill/>
          </p:spPr>
          <p:txBody>
            <a:bodyPr wrap="square" rtlCol="0">
              <a:spAutoFit/>
            </a:bodyPr>
            <a:p>
              <a:pPr algn="ctr"/>
              <a:r>
                <a:rPr lang="en-US" altLang="zh-CN" sz="1200"/>
                <a:t>agent</a:t>
              </a:r>
              <a:r>
                <a:rPr lang="zh-CN" altLang="en-US" sz="1200"/>
                <a:t>分析问题与</a:t>
              </a:r>
              <a:r>
                <a:rPr lang="zh-CN" altLang="en-US" sz="1200"/>
                <a:t>路由</a:t>
              </a:r>
              <a:endParaRPr lang="zh-CN" altLang="en-US" sz="1200"/>
            </a:p>
          </p:txBody>
        </p:sp>
        <p:sp>
          <p:nvSpPr>
            <p:cNvPr id="101" name="圆角矩形 100"/>
            <p:cNvSpPr/>
            <p:nvPr/>
          </p:nvSpPr>
          <p:spPr>
            <a:xfrm>
              <a:off x="2392" y="4680"/>
              <a:ext cx="1454" cy="1820"/>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12" name="组合 111"/>
          <p:cNvGrpSpPr/>
          <p:nvPr/>
        </p:nvGrpSpPr>
        <p:grpSpPr>
          <a:xfrm>
            <a:off x="5951220" y="1219835"/>
            <a:ext cx="1127760" cy="1450975"/>
            <a:chOff x="7333" y="2259"/>
            <a:chExt cx="1776" cy="2285"/>
          </a:xfrm>
        </p:grpSpPr>
        <p:pic>
          <p:nvPicPr>
            <p:cNvPr id="19" name="图片 18"/>
            <p:cNvPicPr>
              <a:picLocks noChangeAspect="1"/>
            </p:cNvPicPr>
            <p:nvPr/>
          </p:nvPicPr>
          <p:blipFill>
            <a:blip r:embed="rId3"/>
            <a:stretch>
              <a:fillRect/>
            </a:stretch>
          </p:blipFill>
          <p:spPr>
            <a:xfrm>
              <a:off x="7333" y="2299"/>
              <a:ext cx="1777" cy="1521"/>
            </a:xfrm>
            <a:prstGeom prst="rect">
              <a:avLst/>
            </a:prstGeom>
          </p:spPr>
        </p:pic>
        <p:sp>
          <p:nvSpPr>
            <p:cNvPr id="73" name="文本框 72"/>
            <p:cNvSpPr txBox="1"/>
            <p:nvPr/>
          </p:nvSpPr>
          <p:spPr>
            <a:xfrm>
              <a:off x="7393" y="3820"/>
              <a:ext cx="1699" cy="725"/>
            </a:xfrm>
            <a:prstGeom prst="rect">
              <a:avLst/>
            </a:prstGeom>
            <a:noFill/>
          </p:spPr>
          <p:txBody>
            <a:bodyPr wrap="square" rtlCol="0">
              <a:spAutoFit/>
            </a:bodyPr>
            <a:p>
              <a:pPr algn="ctr"/>
              <a:r>
                <a:rPr lang="zh-CN" altLang="en-US" sz="1200"/>
                <a:t>查询</a:t>
              </a:r>
              <a:r>
                <a:rPr lang="en-US" altLang="zh-CN" sz="1200"/>
                <a:t>neo4j</a:t>
              </a:r>
              <a:r>
                <a:rPr lang="zh-CN" altLang="en-US" sz="1200"/>
                <a:t>数据</a:t>
              </a:r>
              <a:r>
                <a:rPr lang="zh-CN" altLang="en-US" sz="1200"/>
                <a:t>库</a:t>
              </a:r>
              <a:endParaRPr lang="zh-CN" altLang="en-US" sz="1200"/>
            </a:p>
          </p:txBody>
        </p:sp>
        <p:sp>
          <p:nvSpPr>
            <p:cNvPr id="111" name="圆角矩形 110"/>
            <p:cNvSpPr/>
            <p:nvPr/>
          </p:nvSpPr>
          <p:spPr>
            <a:xfrm>
              <a:off x="7393" y="2259"/>
              <a:ext cx="1699" cy="2254"/>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14" name="组合 113"/>
          <p:cNvGrpSpPr/>
          <p:nvPr/>
        </p:nvGrpSpPr>
        <p:grpSpPr>
          <a:xfrm>
            <a:off x="5907405" y="2971800"/>
            <a:ext cx="1309370" cy="1295400"/>
            <a:chOff x="7349" y="5196"/>
            <a:chExt cx="2062" cy="2040"/>
          </a:xfrm>
        </p:grpSpPr>
        <p:pic>
          <p:nvPicPr>
            <p:cNvPr id="74" name="图片 73"/>
            <p:cNvPicPr>
              <a:picLocks noChangeAspect="1"/>
            </p:cNvPicPr>
            <p:nvPr/>
          </p:nvPicPr>
          <p:blipFill>
            <a:blip r:embed="rId4"/>
            <a:stretch>
              <a:fillRect/>
            </a:stretch>
          </p:blipFill>
          <p:spPr>
            <a:xfrm>
              <a:off x="7917" y="5314"/>
              <a:ext cx="1140" cy="1080"/>
            </a:xfrm>
            <a:prstGeom prst="rect">
              <a:avLst/>
            </a:prstGeom>
          </p:spPr>
        </p:pic>
        <p:sp>
          <p:nvSpPr>
            <p:cNvPr id="75" name="文本框 74"/>
            <p:cNvSpPr txBox="1"/>
            <p:nvPr/>
          </p:nvSpPr>
          <p:spPr>
            <a:xfrm>
              <a:off x="7349" y="6394"/>
              <a:ext cx="2062" cy="725"/>
            </a:xfrm>
            <a:prstGeom prst="rect">
              <a:avLst/>
            </a:prstGeom>
            <a:noFill/>
          </p:spPr>
          <p:txBody>
            <a:bodyPr wrap="square" rtlCol="0">
              <a:spAutoFit/>
            </a:bodyPr>
            <a:p>
              <a:pPr algn="ctr"/>
              <a:r>
                <a:rPr lang="zh-CN" altLang="en-US" sz="1200"/>
                <a:t>查询</a:t>
              </a:r>
              <a:r>
                <a:rPr lang="zh-CN" altLang="en-US" sz="1200"/>
                <a:t>文档摘要向量</a:t>
              </a:r>
              <a:r>
                <a:rPr lang="zh-CN" altLang="en-US" sz="1200"/>
                <a:t>数据库</a:t>
              </a:r>
              <a:endParaRPr lang="zh-CN" altLang="en-US" sz="1200"/>
            </a:p>
          </p:txBody>
        </p:sp>
        <p:sp>
          <p:nvSpPr>
            <p:cNvPr id="113" name="圆角矩形 112"/>
            <p:cNvSpPr/>
            <p:nvPr/>
          </p:nvSpPr>
          <p:spPr>
            <a:xfrm>
              <a:off x="7478" y="5196"/>
              <a:ext cx="1776" cy="2040"/>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16" name="组合 115"/>
          <p:cNvGrpSpPr/>
          <p:nvPr/>
        </p:nvGrpSpPr>
        <p:grpSpPr>
          <a:xfrm>
            <a:off x="5999480" y="4663440"/>
            <a:ext cx="1165225" cy="1431290"/>
            <a:chOff x="7233" y="7408"/>
            <a:chExt cx="1835" cy="2254"/>
          </a:xfrm>
        </p:grpSpPr>
        <p:pic>
          <p:nvPicPr>
            <p:cNvPr id="25" name="图片 24"/>
            <p:cNvPicPr>
              <a:picLocks noChangeAspect="1"/>
            </p:cNvPicPr>
            <p:nvPr/>
          </p:nvPicPr>
          <p:blipFill>
            <a:blip r:embed="rId5"/>
            <a:stretch>
              <a:fillRect/>
            </a:stretch>
          </p:blipFill>
          <p:spPr>
            <a:xfrm>
              <a:off x="7308" y="7536"/>
              <a:ext cx="1760" cy="1168"/>
            </a:xfrm>
            <a:prstGeom prst="rect">
              <a:avLst/>
            </a:prstGeom>
          </p:spPr>
        </p:pic>
        <p:sp>
          <p:nvSpPr>
            <p:cNvPr id="70" name="文本框 69"/>
            <p:cNvSpPr txBox="1"/>
            <p:nvPr/>
          </p:nvSpPr>
          <p:spPr>
            <a:xfrm>
              <a:off x="7233" y="8905"/>
              <a:ext cx="1759" cy="725"/>
            </a:xfrm>
            <a:prstGeom prst="rect">
              <a:avLst/>
            </a:prstGeom>
            <a:noFill/>
          </p:spPr>
          <p:txBody>
            <a:bodyPr wrap="square" rtlCol="0">
              <a:spAutoFit/>
            </a:bodyPr>
            <a:p>
              <a:pPr algn="ctr"/>
              <a:r>
                <a:rPr lang="zh-CN" altLang="en-US" sz="1200"/>
                <a:t>查询社区摘要</a:t>
              </a:r>
              <a:r>
                <a:rPr lang="zh-CN" altLang="en-US" sz="1200"/>
                <a:t>向量数据</a:t>
              </a:r>
              <a:r>
                <a:rPr lang="zh-CN" altLang="en-US" sz="1200"/>
                <a:t>库</a:t>
              </a:r>
              <a:endParaRPr lang="zh-CN" altLang="en-US" sz="1200"/>
            </a:p>
          </p:txBody>
        </p:sp>
        <p:sp>
          <p:nvSpPr>
            <p:cNvPr id="115" name="圆角矩形 114"/>
            <p:cNvSpPr/>
            <p:nvPr/>
          </p:nvSpPr>
          <p:spPr>
            <a:xfrm>
              <a:off x="7234" y="7408"/>
              <a:ext cx="1776" cy="2254"/>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18" name="组合 117"/>
          <p:cNvGrpSpPr/>
          <p:nvPr/>
        </p:nvGrpSpPr>
        <p:grpSpPr>
          <a:xfrm>
            <a:off x="8267700" y="1287145"/>
            <a:ext cx="864870" cy="1183005"/>
            <a:chOff x="10551" y="2513"/>
            <a:chExt cx="1362" cy="1863"/>
          </a:xfrm>
        </p:grpSpPr>
        <p:pic>
          <p:nvPicPr>
            <p:cNvPr id="23" name="图片 22"/>
            <p:cNvPicPr>
              <a:picLocks noChangeAspect="1"/>
            </p:cNvPicPr>
            <p:nvPr/>
          </p:nvPicPr>
          <p:blipFill>
            <a:blip r:embed="rId6"/>
            <a:stretch>
              <a:fillRect/>
            </a:stretch>
          </p:blipFill>
          <p:spPr>
            <a:xfrm>
              <a:off x="10551" y="2662"/>
              <a:ext cx="1360" cy="860"/>
            </a:xfrm>
            <a:prstGeom prst="rect">
              <a:avLst/>
            </a:prstGeom>
          </p:spPr>
        </p:pic>
        <p:sp>
          <p:nvSpPr>
            <p:cNvPr id="64" name="文本框 63"/>
            <p:cNvSpPr txBox="1"/>
            <p:nvPr/>
          </p:nvSpPr>
          <p:spPr>
            <a:xfrm>
              <a:off x="10591" y="3544"/>
              <a:ext cx="1320" cy="832"/>
            </a:xfrm>
            <a:prstGeom prst="rect">
              <a:avLst/>
            </a:prstGeom>
            <a:noFill/>
          </p:spPr>
          <p:txBody>
            <a:bodyPr wrap="square" rtlCol="0">
              <a:noAutofit/>
            </a:bodyPr>
            <a:p>
              <a:pPr algn="ctr"/>
              <a:r>
                <a:rPr lang="zh-CN" altLang="en-US" sz="1200"/>
                <a:t>获取三元组</a:t>
              </a:r>
              <a:r>
                <a:rPr lang="zh-CN" altLang="en-US" sz="1200"/>
                <a:t>信息</a:t>
              </a:r>
              <a:endParaRPr lang="zh-CN" altLang="en-US" sz="1200"/>
            </a:p>
          </p:txBody>
        </p:sp>
        <p:sp>
          <p:nvSpPr>
            <p:cNvPr id="117" name="圆角矩形 116"/>
            <p:cNvSpPr/>
            <p:nvPr/>
          </p:nvSpPr>
          <p:spPr>
            <a:xfrm>
              <a:off x="10613" y="2513"/>
              <a:ext cx="1300" cy="1820"/>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20" name="组合 119"/>
          <p:cNvGrpSpPr/>
          <p:nvPr/>
        </p:nvGrpSpPr>
        <p:grpSpPr>
          <a:xfrm>
            <a:off x="7678420" y="3058795"/>
            <a:ext cx="1016635" cy="1181735"/>
            <a:chOff x="9814" y="5150"/>
            <a:chExt cx="1601" cy="1880"/>
          </a:xfrm>
        </p:grpSpPr>
        <p:pic>
          <p:nvPicPr>
            <p:cNvPr id="22" name="图片 21"/>
            <p:cNvPicPr>
              <a:picLocks noChangeAspect="1"/>
            </p:cNvPicPr>
            <p:nvPr/>
          </p:nvPicPr>
          <p:blipFill>
            <a:blip r:embed="rId7"/>
            <a:stretch>
              <a:fillRect/>
            </a:stretch>
          </p:blipFill>
          <p:spPr>
            <a:xfrm>
              <a:off x="10091" y="5196"/>
              <a:ext cx="1200" cy="1100"/>
            </a:xfrm>
            <a:prstGeom prst="rect">
              <a:avLst/>
            </a:prstGeom>
          </p:spPr>
        </p:pic>
        <p:sp>
          <p:nvSpPr>
            <p:cNvPr id="67" name="文本框 66"/>
            <p:cNvSpPr txBox="1"/>
            <p:nvPr/>
          </p:nvSpPr>
          <p:spPr>
            <a:xfrm>
              <a:off x="9814" y="6260"/>
              <a:ext cx="1600" cy="724"/>
            </a:xfrm>
            <a:prstGeom prst="rect">
              <a:avLst/>
            </a:prstGeom>
            <a:noFill/>
          </p:spPr>
          <p:txBody>
            <a:bodyPr wrap="square" rtlCol="0">
              <a:noAutofit/>
            </a:bodyPr>
            <a:p>
              <a:pPr algn="ctr"/>
              <a:r>
                <a:rPr lang="zh-CN" altLang="en-US" sz="1200"/>
                <a:t>匹配摘要信息和</a:t>
              </a:r>
              <a:r>
                <a:rPr lang="en-US" altLang="zh-CN" sz="1200"/>
                <a:t>doi</a:t>
              </a:r>
              <a:r>
                <a:rPr lang="zh-CN" altLang="en-US" sz="1200"/>
                <a:t>标识</a:t>
              </a:r>
              <a:endParaRPr lang="zh-CN" altLang="en-US" sz="1200"/>
            </a:p>
          </p:txBody>
        </p:sp>
        <p:sp>
          <p:nvSpPr>
            <p:cNvPr id="119" name="圆角矩形 118"/>
            <p:cNvSpPr/>
            <p:nvPr/>
          </p:nvSpPr>
          <p:spPr>
            <a:xfrm>
              <a:off x="9837" y="5150"/>
              <a:ext cx="1578" cy="1880"/>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22" name="组合 121"/>
          <p:cNvGrpSpPr/>
          <p:nvPr/>
        </p:nvGrpSpPr>
        <p:grpSpPr>
          <a:xfrm>
            <a:off x="8873490" y="3028315"/>
            <a:ext cx="1016000" cy="1217930"/>
            <a:chOff x="11800" y="5115"/>
            <a:chExt cx="1600" cy="1918"/>
          </a:xfrm>
        </p:grpSpPr>
        <p:pic>
          <p:nvPicPr>
            <p:cNvPr id="18" name="图片 17"/>
            <p:cNvPicPr>
              <a:picLocks noChangeAspect="1"/>
            </p:cNvPicPr>
            <p:nvPr/>
          </p:nvPicPr>
          <p:blipFill>
            <a:blip r:embed="rId8"/>
            <a:stretch>
              <a:fillRect/>
            </a:stretch>
          </p:blipFill>
          <p:spPr>
            <a:xfrm>
              <a:off x="11800" y="5340"/>
              <a:ext cx="1600" cy="920"/>
            </a:xfrm>
            <a:prstGeom prst="rect">
              <a:avLst/>
            </a:prstGeom>
          </p:spPr>
        </p:pic>
        <p:sp>
          <p:nvSpPr>
            <p:cNvPr id="68" name="文本框 67"/>
            <p:cNvSpPr txBox="1"/>
            <p:nvPr/>
          </p:nvSpPr>
          <p:spPr>
            <a:xfrm>
              <a:off x="11910" y="6259"/>
              <a:ext cx="1320" cy="725"/>
            </a:xfrm>
            <a:prstGeom prst="rect">
              <a:avLst/>
            </a:prstGeom>
            <a:noFill/>
          </p:spPr>
          <p:txBody>
            <a:bodyPr wrap="square" rtlCol="0">
              <a:spAutoFit/>
            </a:bodyPr>
            <a:p>
              <a:pPr algn="ctr"/>
              <a:r>
                <a:rPr lang="zh-CN" altLang="en-US" sz="1200"/>
                <a:t>通过</a:t>
              </a:r>
              <a:r>
                <a:rPr lang="en-US" altLang="zh-CN" sz="1200"/>
                <a:t>doi</a:t>
              </a:r>
              <a:r>
                <a:rPr lang="zh-CN" altLang="en-US" sz="1200"/>
                <a:t>溯源</a:t>
              </a:r>
              <a:r>
                <a:rPr lang="zh-CN" altLang="en-US" sz="1200"/>
                <a:t>原文</a:t>
              </a:r>
              <a:endParaRPr lang="zh-CN" altLang="en-US" sz="1200"/>
            </a:p>
          </p:txBody>
        </p:sp>
        <p:sp>
          <p:nvSpPr>
            <p:cNvPr id="121" name="圆角矩形 120"/>
            <p:cNvSpPr/>
            <p:nvPr/>
          </p:nvSpPr>
          <p:spPr>
            <a:xfrm>
              <a:off x="11800" y="5115"/>
              <a:ext cx="1478" cy="1918"/>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24" name="组合 123"/>
          <p:cNvGrpSpPr/>
          <p:nvPr/>
        </p:nvGrpSpPr>
        <p:grpSpPr>
          <a:xfrm>
            <a:off x="8267700" y="4852670"/>
            <a:ext cx="923290" cy="1155700"/>
            <a:chOff x="10870" y="7536"/>
            <a:chExt cx="1454" cy="1820"/>
          </a:xfrm>
        </p:grpSpPr>
        <p:sp>
          <p:nvSpPr>
            <p:cNvPr id="84" name="文本框 83"/>
            <p:cNvSpPr txBox="1"/>
            <p:nvPr/>
          </p:nvSpPr>
          <p:spPr>
            <a:xfrm>
              <a:off x="11004" y="8631"/>
              <a:ext cx="1320" cy="725"/>
            </a:xfrm>
            <a:prstGeom prst="rect">
              <a:avLst/>
            </a:prstGeom>
            <a:noFill/>
          </p:spPr>
          <p:txBody>
            <a:bodyPr wrap="square" rtlCol="0">
              <a:spAutoFit/>
            </a:bodyPr>
            <a:p>
              <a:pPr algn="ctr"/>
              <a:r>
                <a:rPr lang="zh-CN" altLang="en-US" sz="1200"/>
                <a:t>获取社区</a:t>
              </a:r>
              <a:r>
                <a:rPr lang="zh-CN" altLang="en-US" sz="1200"/>
                <a:t>摘要</a:t>
              </a:r>
              <a:endParaRPr lang="zh-CN" altLang="en-US" sz="1200"/>
            </a:p>
          </p:txBody>
        </p:sp>
        <p:pic>
          <p:nvPicPr>
            <p:cNvPr id="86" name="图片 85"/>
            <p:cNvPicPr>
              <a:picLocks noChangeAspect="1"/>
            </p:cNvPicPr>
            <p:nvPr/>
          </p:nvPicPr>
          <p:blipFill>
            <a:blip r:embed="rId9"/>
            <a:srcRect r="6557" b="-2041"/>
            <a:stretch>
              <a:fillRect/>
            </a:stretch>
          </p:blipFill>
          <p:spPr>
            <a:xfrm>
              <a:off x="11030" y="7704"/>
              <a:ext cx="1140" cy="1000"/>
            </a:xfrm>
            <a:prstGeom prst="rect">
              <a:avLst/>
            </a:prstGeom>
          </p:spPr>
        </p:pic>
        <p:sp>
          <p:nvSpPr>
            <p:cNvPr id="123" name="圆角矩形 122"/>
            <p:cNvSpPr/>
            <p:nvPr/>
          </p:nvSpPr>
          <p:spPr>
            <a:xfrm>
              <a:off x="10870" y="7536"/>
              <a:ext cx="1454" cy="1820"/>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33" name="组合 132"/>
          <p:cNvGrpSpPr/>
          <p:nvPr/>
        </p:nvGrpSpPr>
        <p:grpSpPr>
          <a:xfrm>
            <a:off x="3035935" y="1434465"/>
            <a:ext cx="2245360" cy="1155700"/>
            <a:chOff x="4781" y="2259"/>
            <a:chExt cx="3536" cy="1820"/>
          </a:xfrm>
        </p:grpSpPr>
        <p:grpSp>
          <p:nvGrpSpPr>
            <p:cNvPr id="105" name="组合 104"/>
            <p:cNvGrpSpPr/>
            <p:nvPr/>
          </p:nvGrpSpPr>
          <p:grpSpPr>
            <a:xfrm>
              <a:off x="4781" y="2259"/>
              <a:ext cx="3537" cy="1820"/>
              <a:chOff x="4375" y="2513"/>
              <a:chExt cx="3537" cy="1820"/>
            </a:xfrm>
          </p:grpSpPr>
          <p:pic>
            <p:nvPicPr>
              <p:cNvPr id="15" name="图片 14"/>
              <p:cNvPicPr>
                <a:picLocks noChangeAspect="1"/>
              </p:cNvPicPr>
              <p:nvPr/>
            </p:nvPicPr>
            <p:blipFill>
              <a:blip r:embed="rId10"/>
              <a:stretch>
                <a:fillRect/>
              </a:stretch>
            </p:blipFill>
            <p:spPr>
              <a:xfrm>
                <a:off x="5291" y="2576"/>
                <a:ext cx="1760" cy="1020"/>
              </a:xfrm>
              <a:prstGeom prst="rect">
                <a:avLst/>
              </a:prstGeom>
            </p:spPr>
          </p:pic>
          <p:sp>
            <p:nvSpPr>
              <p:cNvPr id="60" name="文本框 59"/>
              <p:cNvSpPr txBox="1"/>
              <p:nvPr/>
            </p:nvSpPr>
            <p:spPr>
              <a:xfrm>
                <a:off x="4375" y="3522"/>
                <a:ext cx="1360" cy="725"/>
              </a:xfrm>
              <a:prstGeom prst="rect">
                <a:avLst/>
              </a:prstGeom>
              <a:noFill/>
            </p:spPr>
            <p:txBody>
              <a:bodyPr wrap="square" rtlCol="0">
                <a:spAutoFit/>
              </a:bodyPr>
              <a:p>
                <a:pPr algn="ctr"/>
                <a:r>
                  <a:rPr lang="zh-CN" altLang="en-US" sz="1200"/>
                  <a:t>精确语义</a:t>
                </a:r>
                <a:r>
                  <a:rPr lang="en-US" altLang="zh-CN" sz="1200"/>
                  <a:t>agent</a:t>
                </a:r>
                <a:endParaRPr lang="en-US" altLang="zh-CN" sz="1200"/>
              </a:p>
            </p:txBody>
          </p:sp>
          <p:sp>
            <p:nvSpPr>
              <p:cNvPr id="104" name="圆角矩形 103"/>
              <p:cNvSpPr/>
              <p:nvPr/>
            </p:nvSpPr>
            <p:spPr>
              <a:xfrm>
                <a:off x="4429" y="2513"/>
                <a:ext cx="3483" cy="1820"/>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25" name="文本框 124"/>
            <p:cNvSpPr txBox="1"/>
            <p:nvPr/>
          </p:nvSpPr>
          <p:spPr>
            <a:xfrm>
              <a:off x="6541" y="3268"/>
              <a:ext cx="1777" cy="725"/>
            </a:xfrm>
            <a:prstGeom prst="rect">
              <a:avLst/>
            </a:prstGeom>
            <a:noFill/>
          </p:spPr>
          <p:txBody>
            <a:bodyPr wrap="square" rtlCol="0">
              <a:spAutoFit/>
            </a:bodyPr>
            <a:p>
              <a:r>
                <a:rPr lang="zh-CN" altLang="en-US" sz="1200"/>
                <a:t>将问题处理成</a:t>
              </a:r>
              <a:r>
                <a:rPr lang="en-US" altLang="zh-CN" sz="1200"/>
                <a:t>cypher</a:t>
              </a:r>
              <a:r>
                <a:rPr lang="zh-CN" altLang="en-US" sz="1200"/>
                <a:t>语言</a:t>
              </a:r>
              <a:endParaRPr lang="zh-CN" altLang="en-US" sz="1200"/>
            </a:p>
          </p:txBody>
        </p:sp>
        <p:cxnSp>
          <p:nvCxnSpPr>
            <p:cNvPr id="126" name="直接箭头连接符 125"/>
            <p:cNvCxnSpPr>
              <a:stCxn id="60" idx="3"/>
              <a:endCxn id="125" idx="1"/>
            </p:cNvCxnSpPr>
            <p:nvPr/>
          </p:nvCxnSpPr>
          <p:spPr>
            <a:xfrm>
              <a:off x="6141" y="3631"/>
              <a:ext cx="40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grpSp>
      <p:grpSp>
        <p:nvGrpSpPr>
          <p:cNvPr id="132" name="组合 131"/>
          <p:cNvGrpSpPr/>
          <p:nvPr/>
        </p:nvGrpSpPr>
        <p:grpSpPr>
          <a:xfrm>
            <a:off x="3044825" y="2949575"/>
            <a:ext cx="2240280" cy="1155700"/>
            <a:chOff x="4795" y="4645"/>
            <a:chExt cx="3528" cy="1820"/>
          </a:xfrm>
        </p:grpSpPr>
        <p:grpSp>
          <p:nvGrpSpPr>
            <p:cNvPr id="107" name="组合 106"/>
            <p:cNvGrpSpPr/>
            <p:nvPr/>
          </p:nvGrpSpPr>
          <p:grpSpPr>
            <a:xfrm>
              <a:off x="4795" y="4645"/>
              <a:ext cx="3489" cy="1820"/>
              <a:chOff x="4429" y="4950"/>
              <a:chExt cx="3489" cy="1820"/>
            </a:xfrm>
          </p:grpSpPr>
          <p:pic>
            <p:nvPicPr>
              <p:cNvPr id="20" name="图片 19"/>
              <p:cNvPicPr>
                <a:picLocks noChangeAspect="1"/>
              </p:cNvPicPr>
              <p:nvPr/>
            </p:nvPicPr>
            <p:blipFill>
              <a:blip r:embed="rId11"/>
              <a:stretch>
                <a:fillRect/>
              </a:stretch>
            </p:blipFill>
            <p:spPr>
              <a:xfrm>
                <a:off x="5516" y="5074"/>
                <a:ext cx="1320" cy="780"/>
              </a:xfrm>
              <a:prstGeom prst="rect">
                <a:avLst/>
              </a:prstGeom>
            </p:spPr>
          </p:pic>
          <p:sp>
            <p:nvSpPr>
              <p:cNvPr id="61" name="文本框 60"/>
              <p:cNvSpPr txBox="1"/>
              <p:nvPr/>
            </p:nvSpPr>
            <p:spPr>
              <a:xfrm>
                <a:off x="4429" y="6040"/>
                <a:ext cx="1320" cy="725"/>
              </a:xfrm>
              <a:prstGeom prst="rect">
                <a:avLst/>
              </a:prstGeom>
              <a:noFill/>
            </p:spPr>
            <p:txBody>
              <a:bodyPr wrap="square" rtlCol="0">
                <a:spAutoFit/>
              </a:bodyPr>
              <a:p>
                <a:pPr algn="ctr"/>
                <a:r>
                  <a:rPr lang="zh-CN" altLang="en-US" sz="1200"/>
                  <a:t>微观语义</a:t>
                </a:r>
                <a:r>
                  <a:rPr lang="en-US" altLang="zh-CN" sz="1200"/>
                  <a:t>agent</a:t>
                </a:r>
                <a:endParaRPr lang="en-US" altLang="zh-CN" sz="1200"/>
              </a:p>
            </p:txBody>
          </p:sp>
          <p:sp>
            <p:nvSpPr>
              <p:cNvPr id="106" name="圆角矩形 105"/>
              <p:cNvSpPr/>
              <p:nvPr/>
            </p:nvSpPr>
            <p:spPr>
              <a:xfrm>
                <a:off x="4435" y="4950"/>
                <a:ext cx="3483" cy="1820"/>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cxnSp>
          <p:nvCxnSpPr>
            <p:cNvPr id="127" name="直接箭头连接符 126"/>
            <p:cNvCxnSpPr/>
            <p:nvPr/>
          </p:nvCxnSpPr>
          <p:spPr>
            <a:xfrm>
              <a:off x="6141" y="6093"/>
              <a:ext cx="40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sp>
          <p:nvSpPr>
            <p:cNvPr id="128" name="文本框 127"/>
            <p:cNvSpPr txBox="1"/>
            <p:nvPr/>
          </p:nvSpPr>
          <p:spPr>
            <a:xfrm>
              <a:off x="6547" y="5449"/>
              <a:ext cx="1777" cy="1016"/>
            </a:xfrm>
            <a:prstGeom prst="rect">
              <a:avLst/>
            </a:prstGeom>
            <a:noFill/>
          </p:spPr>
          <p:txBody>
            <a:bodyPr wrap="square" rtlCol="0">
              <a:spAutoFit/>
            </a:bodyPr>
            <a:p>
              <a:r>
                <a:rPr lang="zh-CN" altLang="en-US" sz="1200"/>
                <a:t>将问题向量化与数据库进行</a:t>
              </a:r>
              <a:r>
                <a:rPr lang="zh-CN" altLang="en-US" sz="1200"/>
                <a:t>相似度</a:t>
              </a:r>
              <a:r>
                <a:rPr lang="zh-CN" altLang="en-US" sz="1200"/>
                <a:t>匹配</a:t>
              </a:r>
              <a:endParaRPr lang="zh-CN" altLang="en-US" sz="1200"/>
            </a:p>
          </p:txBody>
        </p:sp>
      </p:grpSp>
      <p:grpSp>
        <p:nvGrpSpPr>
          <p:cNvPr id="131" name="组合 130"/>
          <p:cNvGrpSpPr/>
          <p:nvPr/>
        </p:nvGrpSpPr>
        <p:grpSpPr>
          <a:xfrm>
            <a:off x="3094990" y="4764405"/>
            <a:ext cx="2169795" cy="1155700"/>
            <a:chOff x="4874" y="7503"/>
            <a:chExt cx="3417" cy="1820"/>
          </a:xfrm>
        </p:grpSpPr>
        <p:grpSp>
          <p:nvGrpSpPr>
            <p:cNvPr id="110" name="组合 109"/>
            <p:cNvGrpSpPr/>
            <p:nvPr/>
          </p:nvGrpSpPr>
          <p:grpSpPr>
            <a:xfrm>
              <a:off x="4874" y="7503"/>
              <a:ext cx="3410" cy="1820"/>
              <a:chOff x="4469" y="7430"/>
              <a:chExt cx="3410" cy="1820"/>
            </a:xfrm>
          </p:grpSpPr>
          <p:grpSp>
            <p:nvGrpSpPr>
              <p:cNvPr id="109" name="组合 108"/>
              <p:cNvGrpSpPr/>
              <p:nvPr/>
            </p:nvGrpSpPr>
            <p:grpSpPr>
              <a:xfrm>
                <a:off x="4469" y="7431"/>
                <a:ext cx="2368" cy="1786"/>
                <a:chOff x="4469" y="7431"/>
                <a:chExt cx="2368" cy="1786"/>
              </a:xfrm>
            </p:grpSpPr>
            <p:pic>
              <p:nvPicPr>
                <p:cNvPr id="24" name="图片 23"/>
                <p:cNvPicPr>
                  <a:picLocks noChangeAspect="1"/>
                </p:cNvPicPr>
                <p:nvPr/>
              </p:nvPicPr>
              <p:blipFill>
                <a:blip r:embed="rId12"/>
                <a:stretch>
                  <a:fillRect/>
                </a:stretch>
              </p:blipFill>
              <p:spPr>
                <a:xfrm>
                  <a:off x="5477" y="7431"/>
                  <a:ext cx="1360" cy="856"/>
                </a:xfrm>
                <a:prstGeom prst="rect">
                  <a:avLst/>
                </a:prstGeom>
              </p:spPr>
            </p:pic>
            <p:sp>
              <p:nvSpPr>
                <p:cNvPr id="62" name="文本框 61"/>
                <p:cNvSpPr txBox="1"/>
                <p:nvPr/>
              </p:nvSpPr>
              <p:spPr>
                <a:xfrm>
                  <a:off x="4469" y="8492"/>
                  <a:ext cx="1320" cy="725"/>
                </a:xfrm>
                <a:prstGeom prst="rect">
                  <a:avLst/>
                </a:prstGeom>
                <a:noFill/>
              </p:spPr>
              <p:txBody>
                <a:bodyPr wrap="square" rtlCol="0">
                  <a:spAutoFit/>
                </a:bodyPr>
                <a:p>
                  <a:pPr algn="ctr"/>
                  <a:r>
                    <a:rPr lang="zh-CN" altLang="en-US" sz="1200"/>
                    <a:t>宏观语义</a:t>
                  </a:r>
                  <a:r>
                    <a:rPr lang="en-US" altLang="zh-CN" sz="1200"/>
                    <a:t>agent</a:t>
                  </a:r>
                  <a:endParaRPr lang="en-US" altLang="zh-CN" sz="1200"/>
                </a:p>
              </p:txBody>
            </p:sp>
          </p:grpSp>
          <p:sp>
            <p:nvSpPr>
              <p:cNvPr id="108" name="圆角矩形 107"/>
              <p:cNvSpPr/>
              <p:nvPr/>
            </p:nvSpPr>
            <p:spPr>
              <a:xfrm>
                <a:off x="4489" y="7430"/>
                <a:ext cx="3390" cy="1820"/>
              </a:xfrm>
              <a:prstGeom prst="roundRect">
                <a:avLst/>
              </a:prstGeom>
              <a:noFill/>
              <a:ln>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cxnSp>
          <p:nvCxnSpPr>
            <p:cNvPr id="129" name="直接箭头连接符 128"/>
            <p:cNvCxnSpPr/>
            <p:nvPr/>
          </p:nvCxnSpPr>
          <p:spPr>
            <a:xfrm>
              <a:off x="6115" y="8961"/>
              <a:ext cx="40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sp>
          <p:nvSpPr>
            <p:cNvPr id="130" name="文本框 129"/>
            <p:cNvSpPr txBox="1"/>
            <p:nvPr/>
          </p:nvSpPr>
          <p:spPr>
            <a:xfrm>
              <a:off x="6515" y="8307"/>
              <a:ext cx="1777" cy="1016"/>
            </a:xfrm>
            <a:prstGeom prst="rect">
              <a:avLst/>
            </a:prstGeom>
            <a:noFill/>
          </p:spPr>
          <p:txBody>
            <a:bodyPr wrap="square" rtlCol="0">
              <a:spAutoFit/>
            </a:bodyPr>
            <a:p>
              <a:r>
                <a:rPr lang="zh-CN" altLang="en-US" sz="1200"/>
                <a:t>将问题向量化与数据库进行</a:t>
              </a:r>
              <a:r>
                <a:rPr lang="zh-CN" altLang="en-US" sz="1200"/>
                <a:t>相似度</a:t>
              </a:r>
              <a:r>
                <a:rPr lang="zh-CN" altLang="en-US" sz="1200"/>
                <a:t>匹配</a:t>
              </a:r>
              <a:endParaRPr lang="zh-CN" altLang="en-US" sz="1200"/>
            </a:p>
          </p:txBody>
        </p:sp>
      </p:grpSp>
      <p:cxnSp>
        <p:nvCxnSpPr>
          <p:cNvPr id="134" name="直接箭头连接符 133"/>
          <p:cNvCxnSpPr/>
          <p:nvPr/>
        </p:nvCxnSpPr>
        <p:spPr>
          <a:xfrm>
            <a:off x="965835" y="3523615"/>
            <a:ext cx="45212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35" name="直接箭头连接符 134"/>
          <p:cNvCxnSpPr/>
          <p:nvPr/>
        </p:nvCxnSpPr>
        <p:spPr>
          <a:xfrm>
            <a:off x="5422900" y="2075180"/>
            <a:ext cx="45212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36" name="直接箭头连接符 135"/>
          <p:cNvCxnSpPr/>
          <p:nvPr/>
        </p:nvCxnSpPr>
        <p:spPr>
          <a:xfrm>
            <a:off x="5422900" y="3523615"/>
            <a:ext cx="45212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37" name="直接箭头连接符 136"/>
          <p:cNvCxnSpPr/>
          <p:nvPr/>
        </p:nvCxnSpPr>
        <p:spPr>
          <a:xfrm>
            <a:off x="5422900" y="5308600"/>
            <a:ext cx="45212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38" name="直接箭头连接符 137"/>
          <p:cNvCxnSpPr/>
          <p:nvPr/>
        </p:nvCxnSpPr>
        <p:spPr>
          <a:xfrm>
            <a:off x="7216775" y="2075180"/>
            <a:ext cx="90551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39" name="直接箭头连接符 138"/>
          <p:cNvCxnSpPr/>
          <p:nvPr/>
        </p:nvCxnSpPr>
        <p:spPr>
          <a:xfrm>
            <a:off x="7216775" y="5308600"/>
            <a:ext cx="90551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40" name="直接箭头连接符 139"/>
          <p:cNvCxnSpPr/>
          <p:nvPr/>
        </p:nvCxnSpPr>
        <p:spPr>
          <a:xfrm>
            <a:off x="7216775" y="3523615"/>
            <a:ext cx="38608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grpSp>
        <p:nvGrpSpPr>
          <p:cNvPr id="143" name="组合 142"/>
          <p:cNvGrpSpPr/>
          <p:nvPr/>
        </p:nvGrpSpPr>
        <p:grpSpPr>
          <a:xfrm>
            <a:off x="10020935" y="2687955"/>
            <a:ext cx="2003425" cy="1866900"/>
            <a:chOff x="15781" y="4360"/>
            <a:chExt cx="3155" cy="2940"/>
          </a:xfrm>
        </p:grpSpPr>
        <p:grpSp>
          <p:nvGrpSpPr>
            <p:cNvPr id="53" name="组合 52"/>
            <p:cNvGrpSpPr/>
            <p:nvPr/>
          </p:nvGrpSpPr>
          <p:grpSpPr>
            <a:xfrm>
              <a:off x="15781" y="4360"/>
              <a:ext cx="3074" cy="1932"/>
              <a:chOff x="11199" y="7491"/>
              <a:chExt cx="3074" cy="1932"/>
            </a:xfrm>
          </p:grpSpPr>
          <p:grpSp>
            <p:nvGrpSpPr>
              <p:cNvPr id="51" name="组合 50"/>
              <p:cNvGrpSpPr/>
              <p:nvPr/>
            </p:nvGrpSpPr>
            <p:grpSpPr>
              <a:xfrm>
                <a:off x="11199" y="7543"/>
                <a:ext cx="3075" cy="1880"/>
                <a:chOff x="11199" y="7543"/>
                <a:chExt cx="3075" cy="1880"/>
              </a:xfrm>
            </p:grpSpPr>
            <p:pic>
              <p:nvPicPr>
                <p:cNvPr id="44" name="图片 43"/>
                <p:cNvPicPr>
                  <a:picLocks noChangeAspect="1"/>
                </p:cNvPicPr>
                <p:nvPr/>
              </p:nvPicPr>
              <p:blipFill>
                <a:blip r:embed="rId13"/>
                <a:stretch>
                  <a:fillRect/>
                </a:stretch>
              </p:blipFill>
              <p:spPr>
                <a:xfrm>
                  <a:off x="11414" y="7543"/>
                  <a:ext cx="2860" cy="1880"/>
                </a:xfrm>
                <a:prstGeom prst="rect">
                  <a:avLst/>
                </a:prstGeom>
              </p:spPr>
            </p:pic>
            <p:sp>
              <p:nvSpPr>
                <p:cNvPr id="45" name="椭圆 44"/>
                <p:cNvSpPr/>
                <p:nvPr/>
              </p:nvSpPr>
              <p:spPr>
                <a:xfrm>
                  <a:off x="11199" y="8360"/>
                  <a:ext cx="418" cy="353"/>
                </a:xfrm>
                <a:prstGeom prst="ellipse">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52" name="椭圆 51"/>
              <p:cNvSpPr/>
              <p:nvPr/>
            </p:nvSpPr>
            <p:spPr>
              <a:xfrm>
                <a:off x="12635" y="7491"/>
                <a:ext cx="550" cy="208"/>
              </a:xfrm>
              <a:prstGeom prst="ellipse">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41" name="圆角矩形 140"/>
            <p:cNvSpPr/>
            <p:nvPr/>
          </p:nvSpPr>
          <p:spPr>
            <a:xfrm>
              <a:off x="15996" y="4360"/>
              <a:ext cx="2940" cy="2940"/>
            </a:xfrm>
            <a:prstGeom prst="roundRect">
              <a:avLst/>
            </a:prstGeom>
            <a:noFill/>
            <a:ln>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42" name="文本框 141"/>
          <p:cNvSpPr txBox="1"/>
          <p:nvPr/>
        </p:nvSpPr>
        <p:spPr>
          <a:xfrm>
            <a:off x="10157460" y="4215130"/>
            <a:ext cx="1866900" cy="306705"/>
          </a:xfrm>
          <a:prstGeom prst="rect">
            <a:avLst/>
          </a:prstGeom>
          <a:noFill/>
        </p:spPr>
        <p:txBody>
          <a:bodyPr wrap="square" rtlCol="0">
            <a:spAutoFit/>
          </a:bodyPr>
          <a:p>
            <a:pPr algn="ctr"/>
            <a:r>
              <a:rPr lang="zh-CN" altLang="en-US" sz="1400"/>
              <a:t>调用</a:t>
            </a:r>
            <a:r>
              <a:rPr lang="en-US" altLang="zh-CN" sz="1400"/>
              <a:t>llm</a:t>
            </a:r>
            <a:r>
              <a:rPr lang="zh-CN" altLang="en-US" sz="1400"/>
              <a:t>生成最终答案</a:t>
            </a:r>
            <a:endParaRPr lang="zh-CN" altLang="en-US" sz="1400"/>
          </a:p>
        </p:txBody>
      </p:sp>
      <p:cxnSp>
        <p:nvCxnSpPr>
          <p:cNvPr id="144" name="直接箭头连接符 143"/>
          <p:cNvCxnSpPr/>
          <p:nvPr/>
        </p:nvCxnSpPr>
        <p:spPr>
          <a:xfrm>
            <a:off x="9865360" y="3523615"/>
            <a:ext cx="292100" cy="0"/>
          </a:xfrm>
          <a:prstGeom prst="straightConnector1">
            <a:avLst/>
          </a:prstGeom>
          <a:ln>
            <a:solidFill>
              <a:schemeClr val="accent1">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46" name="肘形连接符 145"/>
          <p:cNvCxnSpPr/>
          <p:nvPr/>
        </p:nvCxnSpPr>
        <p:spPr>
          <a:xfrm rot="16200000">
            <a:off x="2027555" y="2488565"/>
            <a:ext cx="1518285" cy="56578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47" name="直接箭头连接符 146"/>
          <p:cNvCxnSpPr/>
          <p:nvPr/>
        </p:nvCxnSpPr>
        <p:spPr>
          <a:xfrm>
            <a:off x="2416810" y="3527425"/>
            <a:ext cx="63182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48" name="肘形连接符 147"/>
          <p:cNvCxnSpPr/>
          <p:nvPr/>
        </p:nvCxnSpPr>
        <p:spPr>
          <a:xfrm rot="5400000" flipV="1">
            <a:off x="1900555" y="4134485"/>
            <a:ext cx="1811655" cy="60325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49" name="肘形连接符 148"/>
          <p:cNvCxnSpPr/>
          <p:nvPr/>
        </p:nvCxnSpPr>
        <p:spPr>
          <a:xfrm>
            <a:off x="9159240" y="2032000"/>
            <a:ext cx="1931670" cy="65595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50" name="肘形连接符 149"/>
          <p:cNvCxnSpPr>
            <a:endCxn id="142" idx="2"/>
          </p:cNvCxnSpPr>
          <p:nvPr/>
        </p:nvCxnSpPr>
        <p:spPr>
          <a:xfrm flipV="1">
            <a:off x="9248140" y="4521835"/>
            <a:ext cx="1842770" cy="82486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3"/>
          </p:nvPr>
        </p:nvSpPr>
        <p:spPr/>
        <p:txBody>
          <a:bodyPr/>
          <a:lstStyle/>
          <a:p>
            <a:r>
              <a:rPr lang="en-US" altLang="zh-CN" dirty="0"/>
              <a:t>04 </a:t>
            </a:r>
            <a:r>
              <a:rPr lang="zh-CN" altLang="en-US" sz="2400" b="1" dirty="0">
                <a:solidFill>
                  <a:srgbClr val="00489D"/>
                </a:solidFill>
                <a:latin typeface="微软雅黑" charset="-122"/>
                <a:ea typeface="微软雅黑" charset="-122"/>
                <a:sym typeface="+mn-ea"/>
              </a:rPr>
              <a:t>问答系统流程</a:t>
            </a:r>
            <a:endParaRPr lang="zh-CN" altLang="en-US" sz="2400" b="1" dirty="0">
              <a:solidFill>
                <a:srgbClr val="00489D"/>
              </a:solidFill>
              <a:latin typeface="微软雅黑" charset="-122"/>
              <a:ea typeface="微软雅黑" charset="-122"/>
              <a:sym typeface="+mn-ea"/>
            </a:endParaRPr>
          </a:p>
          <a:p>
            <a:endParaRPr lang="zh-CN" altLang="en-US" sz="2400" b="1" dirty="0">
              <a:solidFill>
                <a:srgbClr val="00489D"/>
              </a:solidFill>
              <a:latin typeface="微软雅黑" charset="-122"/>
              <a:ea typeface="微软雅黑" charset="-122"/>
              <a:sym typeface="+mn-ea"/>
            </a:endParaRPr>
          </a:p>
        </p:txBody>
      </p:sp>
      <p:sp>
        <p:nvSpPr>
          <p:cNvPr id="41" name="文本框 40"/>
          <p:cNvSpPr txBox="1"/>
          <p:nvPr/>
        </p:nvSpPr>
        <p:spPr>
          <a:xfrm>
            <a:off x="1181100" y="731520"/>
            <a:ext cx="7134860"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功能升级：文献溯源</a:t>
            </a:r>
            <a:r>
              <a:rPr lang="ja-JP" altLang="en-US"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流式呈现</a:t>
            </a:r>
            <a:r>
              <a:rPr lang="ja-JP" altLang="en-US"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多轮对话</a:t>
            </a:r>
            <a:r>
              <a:rPr lang="ja-JP" altLang="en-US"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历史回顾</a:t>
            </a:r>
            <a:endParaRPr lang="zh-CN" altLang="en-US" sz="2000" b="1" dirty="0">
              <a:latin typeface="黑体" panose="02010609060101010101" pitchFamily="49" charset="-122"/>
              <a:ea typeface="黑体" panose="02010609060101010101" pitchFamily="49" charset="-122"/>
            </a:endParaRPr>
          </a:p>
        </p:txBody>
      </p:sp>
      <p:sp>
        <p:nvSpPr>
          <p:cNvPr id="3" name="文本框 2"/>
          <p:cNvSpPr txBox="1"/>
          <p:nvPr/>
        </p:nvSpPr>
        <p:spPr>
          <a:xfrm>
            <a:off x="3157220" y="1858645"/>
            <a:ext cx="6298565" cy="3476625"/>
          </a:xfrm>
          <a:prstGeom prst="rect">
            <a:avLst/>
          </a:prstGeom>
        </p:spPr>
        <p:txBody>
          <a:bodyPr wrap="square">
            <a:spAutoFit/>
          </a:bodyPr>
          <a:p>
            <a:pPr marL="0" indent="0"/>
            <a:r>
              <a:rPr lang="zh-CN" altLang="en-US" sz="2000" b="0" i="0">
                <a:latin typeface="Times New Roman Regular" panose="02020503050405090304" charset="0"/>
                <a:cs typeface="Times New Roman Regular" panose="02020503050405090304" charset="0"/>
              </a:rPr>
              <a:t>根据后续测试反馈，已新增以下功能：</a:t>
            </a:r>
            <a:endParaRPr lang="zh-CN" altLang="en-US" sz="2000" b="0" i="0">
              <a:latin typeface="Times New Roman Regular" panose="02020503050405090304" charset="0"/>
              <a:cs typeface="Times New Roman Regular" panose="02020503050405090304" charset="0"/>
            </a:endParaRPr>
          </a:p>
          <a:p>
            <a:pPr marL="0" indent="0"/>
            <a:endParaRPr lang="zh-CN" altLang="en-US" sz="2000" b="0" i="0">
              <a:latin typeface="Times New Roman Regular" panose="02020503050405090304" charset="0"/>
              <a:cs typeface="Times New Roman Regular" panose="02020503050405090304" charset="0"/>
            </a:endParaRPr>
          </a:p>
          <a:p>
            <a:pPr marL="0" indent="0"/>
            <a:r>
              <a:rPr lang="zh-CN" altLang="en-US" sz="2000" b="0" i="0">
                <a:latin typeface="Times New Roman Regular" panose="02020503050405090304" charset="0"/>
                <a:cs typeface="Times New Roman Regular" panose="02020503050405090304" charset="0"/>
              </a:rPr>
              <a:t>1.查看生成答案的原文文献</a:t>
            </a:r>
            <a:endParaRPr lang="zh-CN" altLang="en-US" sz="2000" b="0" i="0">
              <a:latin typeface="Times New Roman Regular" panose="02020503050405090304" charset="0"/>
              <a:cs typeface="Times New Roman Regular" panose="02020503050405090304" charset="0"/>
            </a:endParaRPr>
          </a:p>
          <a:p>
            <a:pPr marL="0" indent="0"/>
            <a:r>
              <a:rPr lang="zh-CN" altLang="en-US" sz="2000" b="0" i="0">
                <a:latin typeface="Times New Roman Regular" panose="02020503050405090304" charset="0"/>
                <a:cs typeface="Times New Roman Regular" panose="02020503050405090304" charset="0"/>
              </a:rPr>
              <a:t>2.流式输出回答功能（即无需等待全部答案</a:t>
            </a:r>
            <a:endParaRPr lang="zh-CN" altLang="en-US" sz="2000" b="0" i="0">
              <a:latin typeface="Times New Roman Regular" panose="02020503050405090304" charset="0"/>
              <a:cs typeface="Times New Roman Regular" panose="02020503050405090304" charset="0"/>
            </a:endParaRPr>
          </a:p>
          <a:p>
            <a:pPr marL="0" indent="0"/>
            <a:r>
              <a:rPr lang="zh-CN" altLang="en-US" sz="2000" b="0" i="0">
                <a:latin typeface="Times New Roman Regular" panose="02020503050405090304" charset="0"/>
                <a:cs typeface="Times New Roman Regular" panose="02020503050405090304" charset="0"/>
              </a:rPr>
              <a:t>生成，用户可实时看到内容逐句 / 逐段呈现的过程）以提升用户体验、</a:t>
            </a:r>
            <a:endParaRPr lang="zh-CN" altLang="en-US" sz="2000" b="0" i="0">
              <a:latin typeface="Times New Roman Regular" panose="02020503050405090304" charset="0"/>
              <a:cs typeface="Times New Roman Regular" panose="02020503050405090304" charset="0"/>
            </a:endParaRPr>
          </a:p>
          <a:p>
            <a:pPr marL="0" indent="0"/>
            <a:r>
              <a:rPr lang="en-US" altLang="zh-CN" sz="2000" b="0" i="0">
                <a:latin typeface="Times New Roman Regular" panose="02020503050405090304" charset="0"/>
                <a:cs typeface="Times New Roman Regular" panose="02020503050405090304" charset="0"/>
              </a:rPr>
              <a:t>3.</a:t>
            </a:r>
            <a:r>
              <a:rPr lang="zh-CN" altLang="en-US" sz="2000" b="0" i="0">
                <a:latin typeface="Times New Roman Regular" panose="02020503050405090304" charset="0"/>
                <a:cs typeface="Times New Roman Regular" panose="02020503050405090304" charset="0"/>
              </a:rPr>
              <a:t>具备多轮对话能力（可记忆历史沟通内容），助力更深入的沟通，</a:t>
            </a:r>
            <a:endParaRPr lang="zh-CN" altLang="en-US" sz="2000" b="0" i="0">
              <a:latin typeface="Times New Roman Regular" panose="02020503050405090304" charset="0"/>
              <a:cs typeface="Times New Roman Regular" panose="02020503050405090304" charset="0"/>
            </a:endParaRPr>
          </a:p>
          <a:p>
            <a:pPr marL="0" indent="0"/>
            <a:r>
              <a:rPr lang="en-US" altLang="zh-CN" sz="2000" b="0" i="0">
                <a:latin typeface="Times New Roman Regular" panose="02020503050405090304" charset="0"/>
                <a:cs typeface="Times New Roman Regular" panose="02020503050405090304" charset="0"/>
              </a:rPr>
              <a:t>4</a:t>
            </a:r>
            <a:r>
              <a:rPr lang="zh-CN" altLang="en-US" sz="2000" b="0" i="0">
                <a:latin typeface="Times New Roman Regular" panose="02020503050405090304" charset="0"/>
                <a:cs typeface="Times New Roman Regular" panose="02020503050405090304" charset="0"/>
              </a:rPr>
              <a:t>.历史记录查看功能以便用户回顾之前的对话内容。</a:t>
            </a:r>
            <a:endParaRPr lang="zh-CN" altLang="en-US" sz="2000" b="0" i="0">
              <a:latin typeface="Times New Roman Regular" panose="02020503050405090304" charset="0"/>
              <a:cs typeface="Times New Roman Regular" panose="02020503050405090304" charset="0"/>
            </a:endParaRPr>
          </a:p>
          <a:p>
            <a:pPr marL="0" indent="0"/>
            <a:r>
              <a:rPr lang="en-US" altLang="zh-CN" sz="2000" b="0" i="0">
                <a:latin typeface="Times New Roman Regular" panose="02020503050405090304" charset="0"/>
                <a:cs typeface="Times New Roman Regular" panose="02020503050405090304" charset="0"/>
              </a:rPr>
              <a:t>5.</a:t>
            </a:r>
            <a:r>
              <a:rPr lang="zh-CN" altLang="en-US" sz="2000" b="0" i="0">
                <a:latin typeface="Times New Roman Regular" panose="02020503050405090304" charset="0"/>
                <a:cs typeface="Times New Roman Regular" panose="02020503050405090304" charset="0"/>
              </a:rPr>
              <a:t>选中文献段落</a:t>
            </a:r>
            <a:r>
              <a:rPr lang="en-US" altLang="zh-CN" sz="2000" b="0" i="0">
                <a:latin typeface="Times New Roman Regular" panose="02020503050405090304" charset="0"/>
                <a:cs typeface="Times New Roman Regular" panose="02020503050405090304" charset="0"/>
              </a:rPr>
              <a:t>，</a:t>
            </a:r>
            <a:r>
              <a:rPr lang="zh-CN" altLang="en-US" sz="2000" b="0" i="0">
                <a:latin typeface="Times New Roman Regular" panose="02020503050405090304" charset="0"/>
                <a:cs typeface="Times New Roman Regular" panose="02020503050405090304" charset="0"/>
              </a:rPr>
              <a:t>精准翻译</a:t>
            </a:r>
            <a:r>
              <a:rPr lang="zh-CN" altLang="en-US" sz="2000" b="0" i="0">
                <a:latin typeface="Times New Roman Regular" panose="02020503050405090304" charset="0"/>
                <a:cs typeface="Times New Roman Regular" panose="02020503050405090304" charset="0"/>
              </a:rPr>
              <a:t>功能</a:t>
            </a:r>
            <a:endParaRPr lang="zh-CN" altLang="en-US" sz="2000" b="0" i="0">
              <a:latin typeface="Times New Roman Regular" panose="02020503050405090304" charset="0"/>
              <a:cs typeface="Times New Roman Regular" panose="02020503050405090304" charset="0"/>
            </a:endParaRPr>
          </a:p>
          <a:p>
            <a:pPr marL="0" indent="0"/>
            <a:endParaRPr lang="zh-CN" altLang="en-US" sz="2000" b="0" i="0">
              <a:latin typeface="Times New Roman Regular" panose="02020503050405090304" charset="0"/>
              <a:cs typeface="Times New Roman Regular" panose="0202050305040509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625600" y="1373505"/>
            <a:ext cx="9698990" cy="5118735"/>
          </a:xfrm>
          <a:prstGeom prst="rect">
            <a:avLst/>
          </a:prstGeom>
        </p:spPr>
      </p:pic>
      <p:sp>
        <p:nvSpPr>
          <p:cNvPr id="6" name="文本占位符 5"/>
          <p:cNvSpPr>
            <a:spLocks noGrp="1"/>
          </p:cNvSpPr>
          <p:nvPr>
            <p:ph type="body" idx="13"/>
          </p:nvPr>
        </p:nvSpPr>
        <p:spPr/>
        <p:txBody>
          <a:bodyPr/>
          <a:lstStyle/>
          <a:p>
            <a:r>
              <a:rPr lang="en-US" altLang="zh-CN" dirty="0"/>
              <a:t>04 </a:t>
            </a:r>
            <a:r>
              <a:rPr lang="zh-CN" altLang="en-US" sz="2400" b="1" dirty="0">
                <a:solidFill>
                  <a:srgbClr val="00489D"/>
                </a:solidFill>
                <a:latin typeface="微软雅黑" charset="-122"/>
                <a:ea typeface="微软雅黑" charset="-122"/>
                <a:sym typeface="+mn-ea"/>
              </a:rPr>
              <a:t>问答系统流程</a:t>
            </a:r>
            <a:endParaRPr lang="zh-CN" altLang="en-US" sz="2400" b="1" dirty="0">
              <a:solidFill>
                <a:srgbClr val="00489D"/>
              </a:solidFill>
              <a:latin typeface="微软雅黑" charset="-122"/>
              <a:ea typeface="微软雅黑" charset="-122"/>
              <a:sym typeface="+mn-ea"/>
            </a:endParaRPr>
          </a:p>
          <a:p>
            <a:endParaRPr lang="zh-CN" altLang="en-US" sz="2400" b="1" dirty="0">
              <a:solidFill>
                <a:srgbClr val="00489D"/>
              </a:solidFill>
              <a:latin typeface="微软雅黑" charset="-122"/>
              <a:ea typeface="微软雅黑" charset="-122"/>
              <a:sym typeface="+mn-ea"/>
            </a:endParaRPr>
          </a:p>
        </p:txBody>
      </p:sp>
      <p:sp>
        <p:nvSpPr>
          <p:cNvPr id="41" name="文本框 40"/>
          <p:cNvSpPr txBox="1"/>
          <p:nvPr/>
        </p:nvSpPr>
        <p:spPr>
          <a:xfrm>
            <a:off x="1181100" y="731520"/>
            <a:ext cx="7134860" cy="398780"/>
          </a:xfrm>
          <a:prstGeom prst="rect">
            <a:avLst/>
          </a:prstGeom>
          <a:noFill/>
        </p:spPr>
        <p:txBody>
          <a:bodyPr wrap="square">
            <a:spAutoFit/>
          </a:bodyPr>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功能升级：翻译功能</a:t>
            </a:r>
            <a:r>
              <a:rPr lang="zh-CN" altLang="en-US" sz="2000" b="1" dirty="0">
                <a:latin typeface="黑体" panose="02010609060101010101" pitchFamily="49" charset="-122"/>
                <a:ea typeface="黑体" panose="02010609060101010101" pitchFamily="49" charset="-122"/>
              </a:rPr>
              <a:t>展示</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alphaModFix amt="62000"/>
          </a:blip>
          <a:stretch>
            <a:fillRect/>
          </a:stretch>
        </p:blipFill>
        <p:spPr>
          <a:xfrm>
            <a:off x="5652285" y="965046"/>
            <a:ext cx="7312635" cy="4724864"/>
          </a:xfrm>
          <a:prstGeom prst="rect">
            <a:avLst/>
          </a:prstGeom>
          <a:effectLst>
            <a:softEdge rad="1270000"/>
          </a:effectLst>
        </p:spPr>
      </p:pic>
      <p:sp>
        <p:nvSpPr>
          <p:cNvPr id="68615" name="矩形 14"/>
          <p:cNvSpPr>
            <a:spLocks noChangeArrowheads="1"/>
          </p:cNvSpPr>
          <p:nvPr/>
        </p:nvSpPr>
        <p:spPr bwMode="auto">
          <a:xfrm>
            <a:off x="2064549" y="977493"/>
            <a:ext cx="262382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4800" b="1" dirty="0">
                <a:solidFill>
                  <a:srgbClr val="00489D"/>
                </a:solidFill>
                <a:latin typeface="微软雅黑" charset="-122"/>
                <a:ea typeface="微软雅黑" charset="-122"/>
                <a:sym typeface="+mn-ea"/>
              </a:rPr>
              <a:t>后续</a:t>
            </a:r>
            <a:r>
              <a:rPr lang="zh-CN" altLang="en-US" sz="4800" b="1" dirty="0">
                <a:solidFill>
                  <a:srgbClr val="00489D"/>
                </a:solidFill>
                <a:latin typeface="微软雅黑" charset="-122"/>
                <a:ea typeface="微软雅黑" charset="-122"/>
                <a:sym typeface="+mn-ea"/>
              </a:rPr>
              <a:t>计划</a:t>
            </a:r>
            <a:endParaRPr lang="zh-CN" altLang="en-US" sz="4800" b="1" dirty="0">
              <a:solidFill>
                <a:srgbClr val="00489D"/>
              </a:solidFill>
              <a:latin typeface="微软雅黑" charset="-122"/>
              <a:ea typeface="微软雅黑" charset="-122"/>
              <a:sym typeface="+mn-ea"/>
            </a:endParaRPr>
          </a:p>
        </p:txBody>
      </p:sp>
      <p:grpSp>
        <p:nvGrpSpPr>
          <p:cNvPr id="68616" name="组合 12"/>
          <p:cNvGrpSpPr/>
          <p:nvPr/>
        </p:nvGrpSpPr>
        <p:grpSpPr bwMode="auto">
          <a:xfrm>
            <a:off x="535135" y="731169"/>
            <a:ext cx="1450538" cy="1322377"/>
            <a:chOff x="2147" y="3559"/>
            <a:chExt cx="1712" cy="2083"/>
          </a:xfrm>
        </p:grpSpPr>
        <p:sp>
          <p:nvSpPr>
            <p:cNvPr id="68622" name="文本框 13"/>
            <p:cNvSpPr txBox="1">
              <a:spLocks noChangeArrowheads="1"/>
            </p:cNvSpPr>
            <p:nvPr/>
          </p:nvSpPr>
          <p:spPr bwMode="auto">
            <a:xfrm>
              <a:off x="2147" y="3559"/>
              <a:ext cx="1712" cy="2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90204" pitchFamily="34" charset="0"/>
                <a:buChar char="•"/>
                <a:defRPr sz="21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375"/>
                </a:spcBef>
                <a:buFont typeface="Arial" panose="020B0604020202090204" pitchFamily="34" charset="0"/>
                <a:buChar char="•"/>
                <a:defRPr>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375"/>
                </a:spcBef>
                <a:buFont typeface="Arial" panose="020B0604020202090204" pitchFamily="34" charset="0"/>
                <a:buChar char="•"/>
                <a:defRPr sz="15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375"/>
                </a:spcBef>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5pPr>
              <a:lvl6pPr marL="25146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6pPr>
              <a:lvl7pPr marL="29718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7pPr>
              <a:lvl8pPr marL="34290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8pPr>
              <a:lvl9pPr marL="3886200" indent="-228600" defTabSz="913130" eaLnBrk="0" fontAlgn="base" hangingPunct="0">
                <a:lnSpc>
                  <a:spcPct val="90000"/>
                </a:lnSpc>
                <a:spcBef>
                  <a:spcPts val="375"/>
                </a:spcBef>
                <a:spcAft>
                  <a:spcPct val="0"/>
                </a:spcAft>
                <a:buFont typeface="Arial" panose="020B0604020202090204" pitchFamily="34" charset="0"/>
                <a:buChar char="•"/>
                <a:defRPr sz="1400">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8000" dirty="0">
                  <a:solidFill>
                    <a:srgbClr val="8497B0"/>
                  </a:solidFill>
                  <a:latin typeface="微软雅黑" charset="-122"/>
                  <a:ea typeface="微软雅黑" charset="-122"/>
                </a:rPr>
                <a:t>05</a:t>
              </a:r>
              <a:endParaRPr lang="en-US" altLang="zh-CN" sz="8000" dirty="0">
                <a:solidFill>
                  <a:srgbClr val="8497B0"/>
                </a:solidFill>
                <a:latin typeface="微软雅黑" charset="-122"/>
                <a:ea typeface="微软雅黑" charset="-122"/>
              </a:endParaRPr>
            </a:p>
          </p:txBody>
        </p:sp>
        <p:cxnSp>
          <p:nvCxnSpPr>
            <p:cNvPr id="22" name="直接连接符 21"/>
            <p:cNvCxnSpPr/>
            <p:nvPr/>
          </p:nvCxnSpPr>
          <p:spPr>
            <a:xfrm>
              <a:off x="3784" y="3559"/>
              <a:ext cx="0" cy="1954"/>
            </a:xfrm>
            <a:prstGeom prst="line">
              <a:avLst/>
            </a:prstGeom>
            <a:ln w="63500">
              <a:solidFill>
                <a:srgbClr val="8497B0"/>
              </a:solidFill>
            </a:ln>
          </p:spPr>
          <p:style>
            <a:lnRef idx="1">
              <a:schemeClr val="accent1"/>
            </a:lnRef>
            <a:fillRef idx="0">
              <a:schemeClr val="accent1"/>
            </a:fillRef>
            <a:effectRef idx="0">
              <a:schemeClr val="accent1"/>
            </a:effectRef>
            <a:fontRef idx="minor">
              <a:schemeClr val="tx1"/>
            </a:fontRef>
          </p:style>
        </p:cxnSp>
      </p:grpSp>
      <p:pic>
        <p:nvPicPr>
          <p:cNvPr id="27" name="Picture 3" descr="C:\Users\wangxin51\Desktop\未标题-5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0791" y="-48987"/>
            <a:ext cx="3025392" cy="170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组合 7"/>
          <p:cNvGrpSpPr/>
          <p:nvPr/>
        </p:nvGrpSpPr>
        <p:grpSpPr bwMode="auto">
          <a:xfrm>
            <a:off x="3073400" y="6181183"/>
            <a:ext cx="5059363" cy="339725"/>
            <a:chOff x="3128248" y="3176495"/>
            <a:chExt cx="6746291" cy="453608"/>
          </a:xfrm>
        </p:grpSpPr>
        <p:sp>
          <p:nvSpPr>
            <p:cNvPr id="29" name="TextBox 8"/>
            <p:cNvSpPr txBox="1">
              <a:spLocks noChangeArrowheads="1"/>
            </p:cNvSpPr>
            <p:nvPr/>
          </p:nvSpPr>
          <p:spPr bwMode="auto">
            <a:xfrm>
              <a:off x="4900023" y="3178614"/>
              <a:ext cx="4974516" cy="451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eaLnBrk="1" hangingPunct="1">
                <a:defRPr/>
              </a:pPr>
              <a:r>
                <a:rPr lang="en-US" altLang="zh-CN" sz="1600" dirty="0">
                  <a:solidFill>
                    <a:srgbClr val="595959"/>
                  </a:solidFill>
                  <a:latin typeface="微软雅黑" charset="-122"/>
                  <a:ea typeface="微软雅黑" charset="-122"/>
                </a:rPr>
                <a:t>INNOVATION CREATES EXCELLENCE</a:t>
              </a:r>
              <a:endParaRPr lang="bg-BG" altLang="zh-CN" sz="1600" dirty="0">
                <a:solidFill>
                  <a:srgbClr val="595959"/>
                </a:solidFill>
                <a:latin typeface="微软雅黑" charset="-122"/>
                <a:ea typeface="微软雅黑" charset="-122"/>
              </a:endParaRPr>
            </a:p>
          </p:txBody>
        </p:sp>
        <p:sp>
          <p:nvSpPr>
            <p:cNvPr id="35" name="TextBox 9"/>
            <p:cNvSpPr txBox="1">
              <a:spLocks noChangeArrowheads="1"/>
            </p:cNvSpPr>
            <p:nvPr/>
          </p:nvSpPr>
          <p:spPr bwMode="auto">
            <a:xfrm>
              <a:off x="3128248" y="3176495"/>
              <a:ext cx="1784476" cy="43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1pPr>
              <a:lvl2pPr marL="742950" indent="-28575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2pPr>
              <a:lvl3pPr marL="11430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3pPr>
              <a:lvl4pPr marL="16002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4pPr>
              <a:lvl5pPr marL="2057400" indent="-228600" defTabSz="341630">
                <a:defRPr>
                  <a:solidFill>
                    <a:schemeClr val="tx1"/>
                  </a:solidFill>
                  <a:latin typeface="Calibri" panose="020F0502020204030204" pitchFamily="34" charset="0"/>
                  <a:ea typeface="等线" panose="02010600030101010101" pitchFamily="2" charset="-122"/>
                  <a:cs typeface="等线" panose="02010600030101010101" pitchFamily="2" charset="-122"/>
                </a:defRPr>
              </a:lvl5pPr>
              <a:lvl6pPr marL="25146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6pPr>
              <a:lvl7pPr marL="29718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7pPr>
              <a:lvl8pPr marL="34290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8pPr>
              <a:lvl9pPr marL="3886200" indent="-228600" defTabSz="341630" fontAlgn="base">
                <a:spcBef>
                  <a:spcPct val="0"/>
                </a:spcBef>
                <a:spcAft>
                  <a:spcPct val="0"/>
                </a:spcAft>
                <a:defRPr>
                  <a:solidFill>
                    <a:schemeClr val="tx1"/>
                  </a:solidFill>
                  <a:latin typeface="Calibri" panose="020F0502020204030204" pitchFamily="34" charset="0"/>
                  <a:ea typeface="等线" panose="02010600030101010101" pitchFamily="2" charset="-122"/>
                  <a:cs typeface="等线" panose="02010600030101010101" pitchFamily="2" charset="-122"/>
                </a:defRPr>
              </a:lvl9pPr>
            </a:lstStyle>
            <a:p>
              <a:pPr algn="dist" eaLnBrk="1" hangingPunct="1">
                <a:defRPr/>
              </a:pPr>
              <a:r>
                <a:rPr lang="zh-CN" altLang="en-US" sz="1500">
                  <a:solidFill>
                    <a:srgbClr val="00489D"/>
                  </a:solidFill>
                  <a:latin typeface="微软雅黑" charset="-122"/>
                  <a:ea typeface="微软雅黑" charset="-122"/>
                </a:rPr>
                <a:t>创新成就卓越</a:t>
              </a:r>
              <a:endParaRPr lang="bg-BG" altLang="zh-CN" sz="1500">
                <a:solidFill>
                  <a:srgbClr val="7F7F7F"/>
                </a:solidFill>
                <a:latin typeface="微软雅黑" charset="-122"/>
                <a:ea typeface="微软雅黑" charset="-122"/>
              </a:endParaRPr>
            </a:p>
          </p:txBody>
        </p:sp>
      </p:grpSp>
      <p:pic>
        <p:nvPicPr>
          <p:cNvPr id="32" name="Picture 2" descr="C:\Users\wangxin51\Desktop\未标题-3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3572287"/>
            <a:ext cx="12192001" cy="4235247"/>
          </a:xfrm>
          <a:prstGeom prst="rect">
            <a:avLst/>
          </a:prstGeom>
          <a:noFill/>
          <a:ln>
            <a:noFill/>
          </a:ln>
          <a:effectLst>
            <a:glow rad="635000">
              <a:schemeClr val="accent1">
                <a:satMod val="175000"/>
                <a:alpha val="20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p:cNvPicPr>
            <a:picLocks noChangeAspect="1"/>
          </p:cNvPicPr>
          <p:nvPr/>
        </p:nvPicPr>
        <p:blipFill>
          <a:blip r:embed="rId4"/>
          <a:stretch>
            <a:fillRect/>
          </a:stretch>
        </p:blipFill>
        <p:spPr>
          <a:xfrm>
            <a:off x="261143" y="1811325"/>
            <a:ext cx="6962775" cy="4152900"/>
          </a:xfrm>
          <a:prstGeom prst="rect">
            <a:avLst/>
          </a:prstGeom>
          <a:effectLst>
            <a:softEdge rad="1270000"/>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占位符 1"/>
          <p:cNvSpPr txBox="1"/>
          <p:nvPr/>
        </p:nvSpPr>
        <p:spPr>
          <a:xfrm>
            <a:off x="608291" y="275509"/>
            <a:ext cx="6639560" cy="3634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90204" pitchFamily="34" charset="0"/>
              <a:buNone/>
              <a:defRPr sz="2200" b="1" u="none" strike="noStrike" kern="1200" cap="none" spc="100" normalizeH="0">
                <a:solidFill>
                  <a:srgbClr val="00489D"/>
                </a:solidFill>
                <a:uFillTx/>
                <a:latin typeface="微软雅黑" charset="-122"/>
                <a:ea typeface="微软雅黑"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r>
              <a:rPr lang="en-US" altLang="zh-CN" dirty="0"/>
              <a:t>05 </a:t>
            </a:r>
            <a:r>
              <a:rPr lang="zh-CN" altLang="en-US" dirty="0"/>
              <a:t>后续计划</a:t>
            </a:r>
            <a:endParaRPr lang="zh-CN" altLang="en-US" dirty="0"/>
          </a:p>
        </p:txBody>
      </p:sp>
      <p:sp>
        <p:nvSpPr>
          <p:cNvPr id="25" name="文本框 24"/>
          <p:cNvSpPr txBox="1"/>
          <p:nvPr/>
        </p:nvSpPr>
        <p:spPr>
          <a:xfrm>
            <a:off x="1181295" y="695845"/>
            <a:ext cx="6801562" cy="398780"/>
          </a:xfrm>
          <a:prstGeom prst="rect">
            <a:avLst/>
          </a:prstGeom>
          <a:noFill/>
        </p:spPr>
        <p:txBody>
          <a:bodyPr wrap="square">
            <a:spAutoFit/>
          </a:bodyPr>
          <a:lstStyle/>
          <a:p>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现已完成节点及后续</a:t>
            </a:r>
            <a:r>
              <a:rPr lang="zh-CN" altLang="en-US" sz="2000" b="1" dirty="0">
                <a:latin typeface="黑体" panose="02010609060101010101" pitchFamily="49" charset="-122"/>
                <a:ea typeface="黑体" panose="02010609060101010101" pitchFamily="49" charset="-122"/>
              </a:rPr>
              <a:t>工作</a:t>
            </a:r>
            <a:endParaRPr lang="zh-CN" altLang="en-US" sz="2000" b="1"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0" y="1536065"/>
            <a:ext cx="12192000" cy="3785235"/>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3859</Words>
  <Application>WPS 演示</Application>
  <PresentationFormat>宽屏</PresentationFormat>
  <Paragraphs>316</Paragraphs>
  <Slides>21</Slides>
  <Notes>4</Notes>
  <HiddenSlides>0</HiddenSlides>
  <MMClips>0</MMClips>
  <ScaleCrop>false</ScaleCrop>
  <HeadingPairs>
    <vt:vector size="6" baseType="variant">
      <vt:variant>
        <vt:lpstr>已用的字体</vt:lpstr>
      </vt:variant>
      <vt:variant>
        <vt:i4>33</vt:i4>
      </vt:variant>
      <vt:variant>
        <vt:lpstr>主题</vt:lpstr>
      </vt:variant>
      <vt:variant>
        <vt:i4>1</vt:i4>
      </vt:variant>
      <vt:variant>
        <vt:lpstr>幻灯片标题</vt:lpstr>
      </vt:variant>
      <vt:variant>
        <vt:i4>21</vt:i4>
      </vt:variant>
    </vt:vector>
  </HeadingPairs>
  <TitlesOfParts>
    <vt:vector size="55" baseType="lpstr">
      <vt:lpstr>Arial</vt:lpstr>
      <vt:lpstr>宋体</vt:lpstr>
      <vt:lpstr>Wingdings</vt:lpstr>
      <vt:lpstr>Wingdings</vt:lpstr>
      <vt:lpstr>微软雅黑</vt:lpstr>
      <vt:lpstr>汉仪旗黑</vt:lpstr>
      <vt:lpstr>Open Sans</vt:lpstr>
      <vt:lpstr>Calibri</vt:lpstr>
      <vt:lpstr>Helvetica Neue</vt:lpstr>
      <vt:lpstr>等线</vt:lpstr>
      <vt:lpstr>汉仪中等线KW</vt:lpstr>
      <vt:lpstr>黑体</vt:lpstr>
      <vt:lpstr>Ubuntu</vt:lpstr>
      <vt:lpstr>黑体</vt:lpstr>
      <vt:lpstr>Times New Roman Regular</vt:lpstr>
      <vt:lpstr>Times New Roman Italic</vt:lpstr>
      <vt:lpstr>汉仪中黑KW</vt:lpstr>
      <vt:lpstr>宋体</vt:lpstr>
      <vt:lpstr>Arial Unicode MS</vt:lpstr>
      <vt:lpstr>苹方-简</vt:lpstr>
      <vt:lpstr>quote-cjk-patch</vt:lpstr>
      <vt:lpstr>Arial</vt:lpstr>
      <vt:lpstr>Times New Roman</vt:lpstr>
      <vt:lpstr>娃娃体-简</vt:lpstr>
      <vt:lpstr>Thonburi</vt:lpstr>
      <vt:lpstr>汉仪书宋二KW</vt:lpstr>
      <vt:lpstr>Ubuntu</vt:lpstr>
      <vt:lpstr>quote-cjk-patch</vt:lpstr>
      <vt:lpstr>微软雅黑</vt:lpstr>
      <vt:lpstr>等线</vt:lpstr>
      <vt:lpstr>Apple Color Emoji</vt:lpstr>
      <vt:lpstr>宋体-简</vt:lpstr>
      <vt:lpstr>MS PGothic</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qychen</cp:lastModifiedBy>
  <cp:revision>172</cp:revision>
  <dcterms:created xsi:type="dcterms:W3CDTF">2025-12-03T03:56:05Z</dcterms:created>
  <dcterms:modified xsi:type="dcterms:W3CDTF">2025-12-03T03:56:05Z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2052-7.3.1.8967</vt:lpwstr>
  </property>
  <property fmtid="{D5CDD505-2E9C-101B-9397-08002B2CF9AE}" pid="3" name="ICV">
    <vt:lpwstr>3F2988CC940F913ED45EFB68FF60B498_41</vt:lpwstr>
  </property>
</Properties>
</file>